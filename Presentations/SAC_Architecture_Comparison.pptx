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ac_architecture_cost_chart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02920" y="50292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en-US" sz="3600" b="1">
                <a:solidFill>
                  <a:srgbClr val="0F172A"/>
                </a:solidFill>
              </a:rPr>
              <a:t>SAC Neural Network Architecture Comparison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114300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en-US" sz="1550">
                <a:solidFill>
                  <a:srgbClr val="64748B"/>
                </a:solidFill>
              </a:rPr>
              <a:t>Battery arbitrage case study | 1000 random 24-hour evaluation windows per architecture</a:t>
            </a:r>
          </a:p>
        </p:txBody>
      </p:sp>
      <p:sp>
        <p:nvSpPr>
          <p:cNvPr id="5" name="Card Best Architecture"/>
          <p:cNvSpPr txBox="1"/>
          <p:nvPr/>
        </p:nvSpPr>
        <p:spPr>
          <a:xfrm>
            <a:off x="548640" y="1874519"/>
            <a:ext cx="260604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8016" rIns="128016" tIns="128016" bIns="128016"/>
          <a:lstStyle/>
          <a:p>
            <a:pPr algn="l"/>
            <a:r>
              <a:rPr lang="en-US" sz="1350">
                <a:solidFill>
                  <a:srgbClr val="64748B"/>
                </a:solidFill>
              </a:rPr>
              <a:t>Best Architecture</a:t>
            </a:r>
          </a:p>
          <a:p>
            <a:pPr algn="l"/>
            <a:r>
              <a:rPr lang="en-US" sz="2450" b="1">
                <a:solidFill>
                  <a:srgbClr val="059669"/>
                </a:solidFill>
              </a:rPr>
              <a:t>[256,256,256]</a:t>
            </a:r>
          </a:p>
        </p:txBody>
      </p:sp>
      <p:sp>
        <p:nvSpPr>
          <p:cNvPr id="6" name="Card Mean RL Cost"/>
          <p:cNvSpPr txBox="1"/>
          <p:nvPr/>
        </p:nvSpPr>
        <p:spPr>
          <a:xfrm>
            <a:off x="3364992" y="1874519"/>
            <a:ext cx="260604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8016" rIns="128016" tIns="128016" bIns="128016"/>
          <a:lstStyle/>
          <a:p>
            <a:pPr algn="l"/>
            <a:r>
              <a:rPr lang="en-US" sz="1350">
                <a:solidFill>
                  <a:srgbClr val="64748B"/>
                </a:solidFill>
              </a:rPr>
              <a:t>Mean RL Cost</a:t>
            </a:r>
          </a:p>
          <a:p>
            <a:pPr algn="l"/>
            <a:r>
              <a:rPr lang="en-US" sz="2450" b="1">
                <a:solidFill>
                  <a:srgbClr val="2563EB"/>
                </a:solidFill>
              </a:rPr>
              <a:t>-11.13 EUR</a:t>
            </a:r>
          </a:p>
        </p:txBody>
      </p:sp>
      <p:sp>
        <p:nvSpPr>
          <p:cNvPr id="7" name="Card RL - Pyomo"/>
          <p:cNvSpPr txBox="1"/>
          <p:nvPr/>
        </p:nvSpPr>
        <p:spPr>
          <a:xfrm>
            <a:off x="6181344" y="1874519"/>
            <a:ext cx="260604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8016" rIns="128016" tIns="128016" bIns="128016"/>
          <a:lstStyle/>
          <a:p>
            <a:pPr algn="l"/>
            <a:r>
              <a:rPr lang="en-US" sz="1350">
                <a:solidFill>
                  <a:srgbClr val="64748B"/>
                </a:solidFill>
              </a:rPr>
              <a:t>RL - Pyomo</a:t>
            </a:r>
          </a:p>
          <a:p>
            <a:pPr algn="l"/>
            <a:r>
              <a:rPr lang="en-US" sz="2450" b="1">
                <a:solidFill>
                  <a:srgbClr val="EA580C"/>
                </a:solidFill>
              </a:rPr>
              <a:t>-2.85 EUR</a:t>
            </a:r>
          </a:p>
        </p:txBody>
      </p:sp>
      <p:sp>
        <p:nvSpPr>
          <p:cNvPr id="8" name="Card Speedup"/>
          <p:cNvSpPr txBox="1"/>
          <p:nvPr/>
        </p:nvSpPr>
        <p:spPr>
          <a:xfrm>
            <a:off x="8997696" y="1874519"/>
            <a:ext cx="260604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8016" rIns="128016" tIns="128016" bIns="128016"/>
          <a:lstStyle/>
          <a:p>
            <a:pPr algn="l"/>
            <a:r>
              <a:rPr lang="en-US" sz="1350">
                <a:solidFill>
                  <a:srgbClr val="64748B"/>
                </a:solidFill>
              </a:rPr>
              <a:t>Speedup</a:t>
            </a:r>
          </a:p>
          <a:p>
            <a:pPr algn="l"/>
            <a:r>
              <a:rPr lang="en-US" sz="2450" b="1">
                <a:solidFill>
                  <a:srgbClr val="0F172A"/>
                </a:solidFill>
              </a:rPr>
              <a:t>41.9x</a:t>
            </a:r>
          </a:p>
        </p:txBody>
      </p:sp>
      <p:sp>
        <p:nvSpPr>
          <p:cNvPr id="9" name="Key takeaway"/>
          <p:cNvSpPr txBox="1"/>
          <p:nvPr/>
        </p:nvSpPr>
        <p:spPr>
          <a:xfrm>
            <a:off x="777240" y="3703320"/>
            <a:ext cx="10698480" cy="107899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146304" rIns="146304" tIns="146304" bIns="146304"/>
          <a:lstStyle/>
          <a:p>
            <a:pPr algn="l"/>
            <a:r>
              <a:rPr lang="en-US" sz="1800" b="1">
                <a:solidFill>
                  <a:srgbClr val="059669"/>
                </a:solidFill>
              </a:rPr>
              <a:t>Key takeaway</a:t>
            </a:r>
          </a:p>
          <a:p>
            <a:pPr algn="l"/>
            <a:r>
              <a:rPr lang="en-US" sz="2100">
                <a:solidFill>
                  <a:srgbClr val="1F2937"/>
                </a:solidFill>
              </a:rPr>
              <a:t>Moderate depth performed best: the three-layer [256,256,256] SAC policy achieved the lowest mean evaluation cost among the six tested architectures.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2636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en-US" sz="1050">
                <a:solidFill>
                  <a:srgbClr val="64748B"/>
                </a:solidFill>
              </a:rPr>
              <a:t>Source: model_comparison.txt snapshots from the last 6 architecture commits.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p band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itle"/>
          <p:cNvSpPr txBox="1"/>
          <p:nvPr/>
        </p:nvSpPr>
        <p:spPr>
          <a:xfrm>
            <a:off x="411480" y="34747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en-US" sz="3000" b="1">
                <a:solidFill>
                  <a:srgbClr val="0F172A"/>
                </a:solidFill>
              </a:rPr>
              <a:t>Architecture Ranking</a:t>
            </a:r>
          </a:p>
        </p:txBody>
      </p:sp>
      <p:sp>
        <p:nvSpPr>
          <p:cNvPr id="13" name="Note"/>
          <p:cNvSpPr txBox="1"/>
          <p:nvPr/>
        </p:nvSpPr>
        <p:spPr>
          <a:xfrm>
            <a:off x="438912" y="868680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en-US" sz="1350">
                <a:solidFill>
                  <a:srgbClr val="64748B"/>
                </a:solidFill>
              </a:rPr>
              <a:t>Ranked by mean RL cost. Lower / more negative cost is better.</a:t>
            </a:r>
          </a:p>
        </p:txBody>
      </p:sp>
      <p:sp>
        <p:nvSpPr>
          <p:cNvPr id="14" name="Header Rank"/>
          <p:cNvSpPr txBox="1"/>
          <p:nvPr/>
        </p:nvSpPr>
        <p:spPr>
          <a:xfrm>
            <a:off x="411480" y="1417320"/>
            <a:ext cx="658368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50" b="1">
                <a:solidFill>
                  <a:srgbClr val="FFFFFF"/>
                </a:solidFill>
              </a:rPr>
              <a:t>Rank</a:t>
            </a:r>
          </a:p>
        </p:txBody>
      </p:sp>
      <p:sp>
        <p:nvSpPr>
          <p:cNvPr id="15" name="Header Architecture"/>
          <p:cNvSpPr txBox="1"/>
          <p:nvPr/>
        </p:nvSpPr>
        <p:spPr>
          <a:xfrm>
            <a:off x="1143000" y="1417320"/>
            <a:ext cx="196596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5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6" name="Header RL cost mean +/- std"/>
          <p:cNvSpPr txBox="1"/>
          <p:nvPr/>
        </p:nvSpPr>
        <p:spPr>
          <a:xfrm>
            <a:off x="3246120" y="1417320"/>
            <a:ext cx="237744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50" b="1">
                <a:solidFill>
                  <a:srgbClr val="FFFFFF"/>
                </a:solidFill>
              </a:rPr>
              <a:t>RL cost mean +/- std</a:t>
            </a:r>
          </a:p>
        </p:txBody>
      </p:sp>
      <p:sp>
        <p:nvSpPr>
          <p:cNvPr id="17" name="Header RL - Pyomo"/>
          <p:cNvSpPr txBox="1"/>
          <p:nvPr/>
        </p:nvSpPr>
        <p:spPr>
          <a:xfrm>
            <a:off x="5806440" y="1417320"/>
            <a:ext cx="16002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50" b="1">
                <a:solidFill>
                  <a:srgbClr val="FFFFFF"/>
                </a:solidFill>
              </a:rPr>
              <a:t>RL - Pyomo</a:t>
            </a:r>
          </a:p>
        </p:txBody>
      </p:sp>
      <p:sp>
        <p:nvSpPr>
          <p:cNvPr id="18" name="Header Abs. gap"/>
          <p:cNvSpPr txBox="1"/>
          <p:nvPr/>
        </p:nvSpPr>
        <p:spPr>
          <a:xfrm>
            <a:off x="7543800" y="1417320"/>
            <a:ext cx="141732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50" b="1">
                <a:solidFill>
                  <a:srgbClr val="FFFFFF"/>
                </a:solidFill>
              </a:rPr>
              <a:t>Abs. gap</a:t>
            </a:r>
          </a:p>
        </p:txBody>
      </p:sp>
      <p:sp>
        <p:nvSpPr>
          <p:cNvPr id="19" name="Header Speedup"/>
          <p:cNvSpPr txBox="1"/>
          <p:nvPr/>
        </p:nvSpPr>
        <p:spPr>
          <a:xfrm>
            <a:off x="9144000" y="1417320"/>
            <a:ext cx="155448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50" b="1">
                <a:solidFill>
                  <a:srgbClr val="FFFFFF"/>
                </a:solidFill>
              </a:rPr>
              <a:t>Speedup</a:t>
            </a:r>
          </a:p>
        </p:txBody>
      </p:sp>
      <p:sp>
        <p:nvSpPr>
          <p:cNvPr id="20" name="Cell 0-0"/>
          <p:cNvSpPr txBox="1"/>
          <p:nvPr/>
        </p:nvSpPr>
        <p:spPr>
          <a:xfrm>
            <a:off x="411480" y="1984248"/>
            <a:ext cx="658368" cy="566928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 b="1">
                <a:solidFill>
                  <a:srgbClr val="059669"/>
                </a:solidFill>
              </a:rPr>
              <a:t>1</a:t>
            </a:r>
          </a:p>
        </p:txBody>
      </p:sp>
      <p:sp>
        <p:nvSpPr>
          <p:cNvPr id="21" name="Cell 0-1"/>
          <p:cNvSpPr txBox="1"/>
          <p:nvPr/>
        </p:nvSpPr>
        <p:spPr>
          <a:xfrm>
            <a:off x="1143000" y="1984248"/>
            <a:ext cx="1965960" cy="566928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l"/>
            <a:r>
              <a:rPr lang="en-US" sz="1120" b="1">
                <a:solidFill>
                  <a:srgbClr val="059669"/>
                </a:solidFill>
              </a:rPr>
              <a:t>[256,256,256]</a:t>
            </a:r>
          </a:p>
        </p:txBody>
      </p:sp>
      <p:sp>
        <p:nvSpPr>
          <p:cNvPr id="22" name="Cell 0-2"/>
          <p:cNvSpPr txBox="1"/>
          <p:nvPr/>
        </p:nvSpPr>
        <p:spPr>
          <a:xfrm>
            <a:off x="3246120" y="1984248"/>
            <a:ext cx="2377440" cy="566928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 b="1">
                <a:solidFill>
                  <a:srgbClr val="059669"/>
                </a:solidFill>
              </a:rPr>
              <a:t>-11.1282 +/- 2.8993</a:t>
            </a:r>
          </a:p>
        </p:txBody>
      </p:sp>
      <p:sp>
        <p:nvSpPr>
          <p:cNvPr id="23" name="Cell 0-3"/>
          <p:cNvSpPr txBox="1"/>
          <p:nvPr/>
        </p:nvSpPr>
        <p:spPr>
          <a:xfrm>
            <a:off x="5806440" y="1984248"/>
            <a:ext cx="1600200" cy="566928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 b="1">
                <a:solidFill>
                  <a:srgbClr val="059669"/>
                </a:solidFill>
              </a:rPr>
              <a:t>-2.8526</a:t>
            </a:r>
          </a:p>
        </p:txBody>
      </p:sp>
      <p:sp>
        <p:nvSpPr>
          <p:cNvPr id="24" name="Cell 0-4"/>
          <p:cNvSpPr txBox="1"/>
          <p:nvPr/>
        </p:nvSpPr>
        <p:spPr>
          <a:xfrm>
            <a:off x="7543800" y="1984248"/>
            <a:ext cx="1417320" cy="566928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2.9434</a:t>
            </a:r>
          </a:p>
        </p:txBody>
      </p:sp>
      <p:sp>
        <p:nvSpPr>
          <p:cNvPr id="25" name="Cell 0-5"/>
          <p:cNvSpPr txBox="1"/>
          <p:nvPr/>
        </p:nvSpPr>
        <p:spPr>
          <a:xfrm>
            <a:off x="9144000" y="1984248"/>
            <a:ext cx="1554480" cy="566928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41.93x</a:t>
            </a:r>
          </a:p>
        </p:txBody>
      </p:sp>
      <p:sp>
        <p:nvSpPr>
          <p:cNvPr id="26" name="Cell 1-0"/>
          <p:cNvSpPr txBox="1"/>
          <p:nvPr/>
        </p:nvSpPr>
        <p:spPr>
          <a:xfrm>
            <a:off x="411480" y="2551176"/>
            <a:ext cx="658368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27" name="Cell 1-1"/>
          <p:cNvSpPr txBox="1"/>
          <p:nvPr/>
        </p:nvSpPr>
        <p:spPr>
          <a:xfrm>
            <a:off x="1143000" y="2551176"/>
            <a:ext cx="196596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l"/>
            <a:r>
              <a:rPr lang="en-US" sz="1120">
                <a:solidFill>
                  <a:srgbClr val="1F2937"/>
                </a:solidFill>
              </a:rPr>
              <a:t>[128,128]</a:t>
            </a:r>
          </a:p>
        </p:txBody>
      </p:sp>
      <p:sp>
        <p:nvSpPr>
          <p:cNvPr id="28" name="Cell 1-2"/>
          <p:cNvSpPr txBox="1"/>
          <p:nvPr/>
        </p:nvSpPr>
        <p:spPr>
          <a:xfrm>
            <a:off x="3246120" y="2551176"/>
            <a:ext cx="237744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-11.0937 +/- 3.3805</a:t>
            </a:r>
          </a:p>
        </p:txBody>
      </p:sp>
      <p:sp>
        <p:nvSpPr>
          <p:cNvPr id="29" name="Cell 1-3"/>
          <p:cNvSpPr txBox="1"/>
          <p:nvPr/>
        </p:nvSpPr>
        <p:spPr>
          <a:xfrm>
            <a:off x="5806440" y="2551176"/>
            <a:ext cx="16002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-2.6163</a:t>
            </a:r>
          </a:p>
        </p:txBody>
      </p:sp>
      <p:sp>
        <p:nvSpPr>
          <p:cNvPr id="30" name="Cell 1-4"/>
          <p:cNvSpPr txBox="1"/>
          <p:nvPr/>
        </p:nvSpPr>
        <p:spPr>
          <a:xfrm>
            <a:off x="7543800" y="2551176"/>
            <a:ext cx="141732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2.7480</a:t>
            </a:r>
          </a:p>
        </p:txBody>
      </p:sp>
      <p:sp>
        <p:nvSpPr>
          <p:cNvPr id="31" name="Cell 1-5"/>
          <p:cNvSpPr txBox="1"/>
          <p:nvPr/>
        </p:nvSpPr>
        <p:spPr>
          <a:xfrm>
            <a:off x="9144000" y="2551176"/>
            <a:ext cx="155448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43.77x</a:t>
            </a:r>
          </a:p>
        </p:txBody>
      </p:sp>
      <p:sp>
        <p:nvSpPr>
          <p:cNvPr id="32" name="Cell 2-0"/>
          <p:cNvSpPr txBox="1"/>
          <p:nvPr/>
        </p:nvSpPr>
        <p:spPr>
          <a:xfrm>
            <a:off x="411480" y="3118104"/>
            <a:ext cx="6583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33" name="Cell 2-1"/>
          <p:cNvSpPr txBox="1"/>
          <p:nvPr/>
        </p:nvSpPr>
        <p:spPr>
          <a:xfrm>
            <a:off x="1143000" y="3118104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l"/>
            <a:r>
              <a:rPr lang="en-US" sz="1120">
                <a:solidFill>
                  <a:srgbClr val="1F2937"/>
                </a:solidFill>
              </a:rPr>
              <a:t>[768,768]</a:t>
            </a:r>
          </a:p>
        </p:txBody>
      </p:sp>
      <p:sp>
        <p:nvSpPr>
          <p:cNvPr id="34" name="Cell 2-2"/>
          <p:cNvSpPr txBox="1"/>
          <p:nvPr/>
        </p:nvSpPr>
        <p:spPr>
          <a:xfrm>
            <a:off x="3246120" y="3118104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-11.0876 +/- 2.8875</a:t>
            </a:r>
          </a:p>
        </p:txBody>
      </p:sp>
      <p:sp>
        <p:nvSpPr>
          <p:cNvPr id="35" name="Cell 2-3"/>
          <p:cNvSpPr txBox="1"/>
          <p:nvPr/>
        </p:nvSpPr>
        <p:spPr>
          <a:xfrm>
            <a:off x="5806440" y="3118104"/>
            <a:ext cx="1600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-2.8010</a:t>
            </a:r>
          </a:p>
        </p:txBody>
      </p:sp>
      <p:sp>
        <p:nvSpPr>
          <p:cNvPr id="36" name="Cell 2-4"/>
          <p:cNvSpPr txBox="1"/>
          <p:nvPr/>
        </p:nvSpPr>
        <p:spPr>
          <a:xfrm>
            <a:off x="7543800" y="3118104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2.8962</a:t>
            </a:r>
          </a:p>
        </p:txBody>
      </p:sp>
      <p:sp>
        <p:nvSpPr>
          <p:cNvPr id="37" name="Cell 2-5"/>
          <p:cNvSpPr txBox="1"/>
          <p:nvPr/>
        </p:nvSpPr>
        <p:spPr>
          <a:xfrm>
            <a:off x="9144000" y="3118104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50.52x</a:t>
            </a:r>
          </a:p>
        </p:txBody>
      </p:sp>
      <p:sp>
        <p:nvSpPr>
          <p:cNvPr id="38" name="Cell 3-0"/>
          <p:cNvSpPr txBox="1"/>
          <p:nvPr/>
        </p:nvSpPr>
        <p:spPr>
          <a:xfrm>
            <a:off x="411480" y="3685032"/>
            <a:ext cx="658368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39" name="Cell 3-1"/>
          <p:cNvSpPr txBox="1"/>
          <p:nvPr/>
        </p:nvSpPr>
        <p:spPr>
          <a:xfrm>
            <a:off x="1143000" y="3685032"/>
            <a:ext cx="196596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l"/>
            <a:r>
              <a:rPr lang="en-US" sz="1120">
                <a:solidFill>
                  <a:srgbClr val="1F2937"/>
                </a:solidFill>
              </a:rPr>
              <a:t>[512,512]</a:t>
            </a:r>
          </a:p>
        </p:txBody>
      </p:sp>
      <p:sp>
        <p:nvSpPr>
          <p:cNvPr id="40" name="Cell 3-2"/>
          <p:cNvSpPr txBox="1"/>
          <p:nvPr/>
        </p:nvSpPr>
        <p:spPr>
          <a:xfrm>
            <a:off x="3246120" y="3685032"/>
            <a:ext cx="237744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-11.0521 +/- 3.2562</a:t>
            </a:r>
          </a:p>
        </p:txBody>
      </p:sp>
      <p:sp>
        <p:nvSpPr>
          <p:cNvPr id="41" name="Cell 3-3"/>
          <p:cNvSpPr txBox="1"/>
          <p:nvPr/>
        </p:nvSpPr>
        <p:spPr>
          <a:xfrm>
            <a:off x="5806440" y="3685032"/>
            <a:ext cx="16002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-2.6413</a:t>
            </a:r>
          </a:p>
        </p:txBody>
      </p:sp>
      <p:sp>
        <p:nvSpPr>
          <p:cNvPr id="42" name="Cell 3-4"/>
          <p:cNvSpPr txBox="1"/>
          <p:nvPr/>
        </p:nvSpPr>
        <p:spPr>
          <a:xfrm>
            <a:off x="7543800" y="3685032"/>
            <a:ext cx="141732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2.7600</a:t>
            </a:r>
          </a:p>
        </p:txBody>
      </p:sp>
      <p:sp>
        <p:nvSpPr>
          <p:cNvPr id="43" name="Cell 3-5"/>
          <p:cNvSpPr txBox="1"/>
          <p:nvPr/>
        </p:nvSpPr>
        <p:spPr>
          <a:xfrm>
            <a:off x="9144000" y="3685032"/>
            <a:ext cx="155448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44.45x</a:t>
            </a:r>
          </a:p>
        </p:txBody>
      </p:sp>
      <p:sp>
        <p:nvSpPr>
          <p:cNvPr id="44" name="Cell 4-0"/>
          <p:cNvSpPr txBox="1"/>
          <p:nvPr/>
        </p:nvSpPr>
        <p:spPr>
          <a:xfrm>
            <a:off x="411480" y="4251960"/>
            <a:ext cx="6583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5</a:t>
            </a:r>
          </a:p>
        </p:txBody>
      </p:sp>
      <p:sp>
        <p:nvSpPr>
          <p:cNvPr id="45" name="Cell 4-1"/>
          <p:cNvSpPr txBox="1"/>
          <p:nvPr/>
        </p:nvSpPr>
        <p:spPr>
          <a:xfrm>
            <a:off x="1143000" y="4251960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l"/>
            <a:r>
              <a:rPr lang="en-US" sz="1120">
                <a:solidFill>
                  <a:srgbClr val="1F2937"/>
                </a:solidFill>
              </a:rPr>
              <a:t>[256,256]</a:t>
            </a:r>
          </a:p>
        </p:txBody>
      </p:sp>
      <p:sp>
        <p:nvSpPr>
          <p:cNvPr id="46" name="Cell 4-2"/>
          <p:cNvSpPr txBox="1"/>
          <p:nvPr/>
        </p:nvSpPr>
        <p:spPr>
          <a:xfrm>
            <a:off x="3246120" y="425196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-10.9481 +/- 2.8097</a:t>
            </a:r>
          </a:p>
        </p:txBody>
      </p:sp>
      <p:sp>
        <p:nvSpPr>
          <p:cNvPr id="47" name="Cell 4-3"/>
          <p:cNvSpPr txBox="1"/>
          <p:nvPr/>
        </p:nvSpPr>
        <p:spPr>
          <a:xfrm>
            <a:off x="5806440" y="4251960"/>
            <a:ext cx="1600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-2.6798</a:t>
            </a:r>
          </a:p>
        </p:txBody>
      </p:sp>
      <p:sp>
        <p:nvSpPr>
          <p:cNvPr id="48" name="Cell 4-4"/>
          <p:cNvSpPr txBox="1"/>
          <p:nvPr/>
        </p:nvSpPr>
        <p:spPr>
          <a:xfrm>
            <a:off x="7543800" y="4251960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2.7890</a:t>
            </a:r>
          </a:p>
        </p:txBody>
      </p:sp>
      <p:sp>
        <p:nvSpPr>
          <p:cNvPr id="49" name="Cell 4-5"/>
          <p:cNvSpPr txBox="1"/>
          <p:nvPr/>
        </p:nvSpPr>
        <p:spPr>
          <a:xfrm>
            <a:off x="9144000" y="4251960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43.60x</a:t>
            </a:r>
          </a:p>
        </p:txBody>
      </p:sp>
      <p:sp>
        <p:nvSpPr>
          <p:cNvPr id="50" name="Cell 5-0"/>
          <p:cNvSpPr txBox="1"/>
          <p:nvPr/>
        </p:nvSpPr>
        <p:spPr>
          <a:xfrm>
            <a:off x="411480" y="4818888"/>
            <a:ext cx="658368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6</a:t>
            </a:r>
          </a:p>
        </p:txBody>
      </p:sp>
      <p:sp>
        <p:nvSpPr>
          <p:cNvPr id="51" name="Cell 5-1"/>
          <p:cNvSpPr txBox="1"/>
          <p:nvPr/>
        </p:nvSpPr>
        <p:spPr>
          <a:xfrm>
            <a:off x="1143000" y="4818888"/>
            <a:ext cx="196596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l"/>
            <a:r>
              <a:rPr lang="en-US" sz="1120">
                <a:solidFill>
                  <a:srgbClr val="1F2937"/>
                </a:solidFill>
              </a:rPr>
              <a:t>[512,512,512]</a:t>
            </a:r>
          </a:p>
        </p:txBody>
      </p:sp>
      <p:sp>
        <p:nvSpPr>
          <p:cNvPr id="52" name="Cell 5-2"/>
          <p:cNvSpPr txBox="1"/>
          <p:nvPr/>
        </p:nvSpPr>
        <p:spPr>
          <a:xfrm>
            <a:off x="3246120" y="4818888"/>
            <a:ext cx="237744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-10.9336 +/- 3.1466</a:t>
            </a:r>
          </a:p>
        </p:txBody>
      </p:sp>
      <p:sp>
        <p:nvSpPr>
          <p:cNvPr id="53" name="Cell 5-3"/>
          <p:cNvSpPr txBox="1"/>
          <p:nvPr/>
        </p:nvSpPr>
        <p:spPr>
          <a:xfrm>
            <a:off x="5806440" y="4818888"/>
            <a:ext cx="16002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-2.6985</a:t>
            </a:r>
          </a:p>
        </p:txBody>
      </p:sp>
      <p:sp>
        <p:nvSpPr>
          <p:cNvPr id="54" name="Cell 5-4"/>
          <p:cNvSpPr txBox="1"/>
          <p:nvPr/>
        </p:nvSpPr>
        <p:spPr>
          <a:xfrm>
            <a:off x="7543800" y="4818888"/>
            <a:ext cx="141732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2.7863</a:t>
            </a:r>
          </a:p>
        </p:txBody>
      </p:sp>
      <p:sp>
        <p:nvSpPr>
          <p:cNvPr id="55" name="Cell 5-5"/>
          <p:cNvSpPr txBox="1"/>
          <p:nvPr/>
        </p:nvSpPr>
        <p:spPr>
          <a:xfrm>
            <a:off x="9144000" y="4818888"/>
            <a:ext cx="155448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36576" rIns="36576" tIns="36576" bIns="36576"/>
          <a:lstStyle/>
          <a:p>
            <a:pPr algn="ctr"/>
            <a:r>
              <a:rPr lang="en-US" sz="1120">
                <a:solidFill>
                  <a:srgbClr val="1F2937"/>
                </a:solidFill>
              </a:rPr>
              <a:t>48.20x</a:t>
            </a:r>
          </a:p>
        </p:txBody>
      </p:sp>
      <p:sp>
        <p:nvSpPr>
          <p:cNvPr id="56" name="Interpretation"/>
          <p:cNvSpPr txBox="1"/>
          <p:nvPr/>
        </p:nvSpPr>
        <p:spPr>
          <a:xfrm>
            <a:off x="566928" y="5532120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en-US" sz="1350">
                <a:solidFill>
                  <a:srgbClr val="64748B"/>
                </a:solidFill>
              </a:rPr>
              <a:t>Interpretation: larger networks helped up to a point, but simply widening the policy did not monotonically improve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op band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8" name="Title"/>
          <p:cNvSpPr txBox="1"/>
          <p:nvPr/>
        </p:nvSpPr>
        <p:spPr>
          <a:xfrm>
            <a:off x="411480" y="34747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en-US" sz="3000" b="1">
                <a:solidFill>
                  <a:srgbClr val="0F172A"/>
                </a:solidFill>
              </a:rPr>
              <a:t>Mean Cost by Architecture</a:t>
            </a:r>
          </a:p>
        </p:txBody>
      </p:sp>
      <p:pic>
        <p:nvPicPr>
          <p:cNvPr id="59" name="Architecture cost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78992"/>
            <a:ext cx="10835640" cy="4800600"/>
          </a:xfrm>
          <a:prstGeom prst="rect">
            <a:avLst/>
          </a:prstGeom>
        </p:spPr>
      </p:pic>
      <p:sp>
        <p:nvSpPr>
          <p:cNvPr id="60" name="Chart footer"/>
          <p:cNvSpPr txBox="1"/>
          <p:nvPr/>
        </p:nvSpPr>
        <p:spPr>
          <a:xfrm>
            <a:off x="713232" y="5925312"/>
            <a:ext cx="10515600" cy="3383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en-US" sz="1250">
                <a:solidFill>
                  <a:srgbClr val="64748B"/>
                </a:solidFill>
              </a:rPr>
              <a:t>Best by mean cost: [256,256,256]. Error bars show variability across the 1000 evaluation windows.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op band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2" name="Title"/>
          <p:cNvSpPr txBox="1"/>
          <p:nvPr/>
        </p:nvSpPr>
        <p:spPr>
          <a:xfrm>
            <a:off x="411480" y="347472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en-US" sz="3000" b="1">
                <a:solidFill>
                  <a:srgbClr val="0F172A"/>
                </a:solidFill>
              </a:rPr>
              <a:t>How to Present the Result</a:t>
            </a:r>
          </a:p>
        </p:txBody>
      </p:sp>
      <p:sp>
        <p:nvSpPr>
          <p:cNvPr id="63" name="Claim box"/>
          <p:cNvSpPr txBox="1"/>
          <p:nvPr/>
        </p:nvSpPr>
        <p:spPr>
          <a:xfrm>
            <a:off x="685800" y="1078992"/>
            <a:ext cx="1046988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128016" rIns="128016" tIns="128016" bIns="128016"/>
          <a:lstStyle/>
          <a:p>
            <a:pPr algn="l"/>
            <a:r>
              <a:rPr lang="en-US" sz="1550" b="1">
                <a:solidFill>
                  <a:srgbClr val="059669"/>
                </a:solidFill>
              </a:rPr>
              <a:t>Recommended claim</a:t>
            </a:r>
          </a:p>
          <a:p>
            <a:pPr algn="l"/>
            <a:r>
              <a:rPr lang="en-US" sz="1850">
                <a:solidFill>
                  <a:srgbClr val="1F2937"/>
                </a:solidFill>
              </a:rPr>
              <a:t>The [256,256,256] SAC architecture was selected because it achieved the lowest mean evaluation cost while preserving real-time inference.</a:t>
            </a:r>
          </a:p>
        </p:txBody>
      </p:sp>
      <p:sp>
        <p:nvSpPr>
          <p:cNvPr id="64" name="Bullets"/>
          <p:cNvSpPr txBox="1"/>
          <p:nvPr/>
        </p:nvSpPr>
        <p:spPr>
          <a:xfrm>
            <a:off x="868680" y="2331720"/>
            <a:ext cx="9966960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marL="285750" indent="-171450">
              <a:buChar char="-"/>
            </a:pPr>
            <a:r>
              <a:rPr lang="en-US" sz="2100">
                <a:solidFill>
                  <a:srgbClr val="1F2937"/>
                </a:solidFill>
              </a:rPr>
              <a:t>[256,256,256] achieved the best mean RL cost: -11.1282 EUR.</a:t>
            </a:r>
          </a:p>
          <a:p>
            <a:pPr marL="285750" indent="-171450">
              <a:buChar char="-"/>
            </a:pPr>
            <a:r>
              <a:rPr lang="en-US" sz="2100">
                <a:solidFill>
                  <a:srgbClr val="1F2937"/>
                </a:solidFill>
              </a:rPr>
              <a:t>Very wide models such as [768,768] did not clearly outperform the moderate-depth model.</a:t>
            </a:r>
          </a:p>
          <a:p>
            <a:pPr marL="285750" indent="-171450">
              <a:buChar char="-"/>
            </a:pPr>
            <a:r>
              <a:rPr lang="en-US" sz="2100">
                <a:solidFill>
                  <a:srgbClr val="1F2937"/>
                </a:solidFill>
              </a:rPr>
              <a:t>All tested architectures retained fast inference compared with Pyomo.</a:t>
            </a:r>
          </a:p>
          <a:p>
            <a:pPr marL="285750" indent="-171450">
              <a:buChar char="-"/>
            </a:pPr>
            <a:r>
              <a:rPr lang="en-US" sz="2100">
                <a:solidFill>
                  <a:srgbClr val="1F2937"/>
                </a:solidFill>
              </a:rPr>
              <a:t>Use this as evidence for architecture selection, not as proof of global optimality.</a:t>
            </a:r>
          </a:p>
        </p:txBody>
      </p:sp>
      <p:sp>
        <p:nvSpPr>
          <p:cNvPr id="65" name="Caveat"/>
          <p:cNvSpPr txBox="1"/>
          <p:nvPr/>
        </p:nvSpPr>
        <p:spPr>
          <a:xfrm>
            <a:off x="685800" y="4892040"/>
            <a:ext cx="10469880" cy="8686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28016" rIns="128016" tIns="128016" bIns="128016"/>
          <a:lstStyle/>
          <a:p>
            <a:pPr algn="l"/>
            <a:r>
              <a:rPr lang="en-US" sz="1500" b="1">
                <a:solidFill>
                  <a:srgbClr val="EA580C"/>
                </a:solidFill>
              </a:rPr>
              <a:t>Caveat for thesis defense</a:t>
            </a:r>
          </a:p>
          <a:p>
            <a:pPr algn="l"/>
            <a:r>
              <a:rPr lang="en-US" sz="1650">
                <a:solidFill>
                  <a:srgbClr val="1F2937"/>
                </a:solidFill>
              </a:rPr>
              <a:t>The comparison windows were sampled randomly in each run; the final ranking should be confirmed with fixed windows and seeds before making a strong statistical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itectur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59669"/>
      </a:accent2>
      <a:accent3>
        <a:srgbClr val="EA580C"/>
      </a:accent3>
      <a:accent4>
        <a:srgbClr val="64748B"/>
      </a:accent4>
      <a:accent5>
        <a:srgbClr val="0F172A"/>
      </a:accent5>
      <a:accent6>
        <a:srgbClr val="CBD5E1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4</Slides>
  <Notes>0</Notes>
  <HiddenSlides>0</HiddenSlide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 Architecture Comparison</dc:title>
  <dc:creator>Codex</dc:creator>
  <cp:lastModifiedBy>Codex</cp:lastModifiedBy>
  <dcterms:created xsi:type="dcterms:W3CDTF">2026-06-11T13:14:40Z</dcterms:created>
  <dcterms:modified xsi:type="dcterms:W3CDTF">2026-06-11T13:14:40Z</dcterms:modified>
</cp:coreProperties>
</file>