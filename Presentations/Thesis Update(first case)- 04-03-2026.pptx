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handoutMasterIdLst>
    <p:handoutMasterId r:id="rId24"/>
  </p:handoutMasterIdLst>
  <p:sldIdLst>
    <p:sldId id="271" r:id="rId2"/>
    <p:sldId id="287" r:id="rId3"/>
    <p:sldId id="266" r:id="rId4"/>
    <p:sldId id="268" r:id="rId5"/>
    <p:sldId id="269" r:id="rId6"/>
    <p:sldId id="292" r:id="rId7"/>
    <p:sldId id="270" r:id="rId8"/>
    <p:sldId id="289" r:id="rId9"/>
    <p:sldId id="264" r:id="rId10"/>
    <p:sldId id="265" r:id="rId11"/>
    <p:sldId id="274" r:id="rId12"/>
    <p:sldId id="276" r:id="rId13"/>
    <p:sldId id="293" r:id="rId14"/>
    <p:sldId id="291" r:id="rId15"/>
    <p:sldId id="275" r:id="rId16"/>
    <p:sldId id="281" r:id="rId17"/>
    <p:sldId id="280" r:id="rId18"/>
    <p:sldId id="290" r:id="rId19"/>
    <p:sldId id="279" r:id="rId20"/>
    <p:sldId id="278" r:id="rId21"/>
    <p:sldId id="267" r:id="rId22"/>
  </p:sldIdLst>
  <p:sldSz cx="14630400" cy="8229600"/>
  <p:notesSz cx="8229600" cy="14630400"/>
  <p:embeddedFontLst>
    <p:embeddedFont>
      <p:font typeface="Cambria Math" panose="02040503050406030204" pitchFamily="18" charset="0"/>
      <p:regular r:id="rId25"/>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DF9"/>
    <a:srgbClr val="F8FA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27C7B9-39F1-17D2-204E-5B17F80E66A5}"/>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de-DE"/>
          </a:p>
        </p:txBody>
      </p:sp>
      <p:sp>
        <p:nvSpPr>
          <p:cNvPr id="3" name="Date Placeholder 2">
            <a:extLst>
              <a:ext uri="{FF2B5EF4-FFF2-40B4-BE49-F238E27FC236}">
                <a16:creationId xmlns:a16="http://schemas.microsoft.com/office/drawing/2014/main" id="{55A1C23F-4000-6F28-7568-EE485BC15487}"/>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B11A94B5-C042-41C2-9501-1FF964BA33BC}" type="datetimeFigureOut">
              <a:rPr lang="de-DE" smtClean="0"/>
              <a:t>01.06.2026</a:t>
            </a:fld>
            <a:endParaRPr lang="de-DE"/>
          </a:p>
        </p:txBody>
      </p:sp>
      <p:sp>
        <p:nvSpPr>
          <p:cNvPr id="4" name="Footer Placeholder 3">
            <a:extLst>
              <a:ext uri="{FF2B5EF4-FFF2-40B4-BE49-F238E27FC236}">
                <a16:creationId xmlns:a16="http://schemas.microsoft.com/office/drawing/2014/main" id="{DCDEF70C-DF9A-4FB4-0618-E1BB49253AA3}"/>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endParaRPr lang="de-DE"/>
          </a:p>
        </p:txBody>
      </p:sp>
      <p:sp>
        <p:nvSpPr>
          <p:cNvPr id="5" name="Slide Number Placeholder 4">
            <a:extLst>
              <a:ext uri="{FF2B5EF4-FFF2-40B4-BE49-F238E27FC236}">
                <a16:creationId xmlns:a16="http://schemas.microsoft.com/office/drawing/2014/main" id="{077E7C29-8E76-A977-2D5D-88A37DF38071}"/>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725CC1DE-DE9A-4B9D-9D53-679767C4B504}" type="slidenum">
              <a:rPr lang="de-DE" smtClean="0"/>
              <a:t>‹#›</a:t>
            </a:fld>
            <a:endParaRPr lang="de-DE"/>
          </a:p>
        </p:txBody>
      </p:sp>
    </p:spTree>
    <p:extLst>
      <p:ext uri="{BB962C8B-B14F-4D97-AF65-F5344CB8AC3E}">
        <p14:creationId xmlns:p14="http://schemas.microsoft.com/office/powerpoint/2010/main" val="40142392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500365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Ref idx="1001">
        <a:schemeClr val="bg1"/>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3A46BDB-F9D7-52F0-DD97-DA8CF88C627D}"/>
              </a:ext>
            </a:extLst>
          </p:cNvPr>
          <p:cNvSpPr>
            <a:spLocks noGrp="1"/>
          </p:cNvSpPr>
          <p:nvPr>
            <p:ph type="sldNum" sz="quarter" idx="10"/>
          </p:nvPr>
        </p:nvSpPr>
        <p:spPr/>
        <p:txBody>
          <a:bodyPr/>
          <a:lstStyle/>
          <a:p>
            <a:fld id="{A02D9A9C-251E-4686-914B-47E3F39F30D8}" type="slidenum">
              <a:rPr lang="de-DE" smtClean="0"/>
              <a:t>‹#›</a:t>
            </a:fld>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C9A9E8-A33E-7E36-2D14-012806BAE176}"/>
              </a:ext>
            </a:extLst>
          </p:cNvPr>
          <p:cNvSpPr>
            <a:spLocks noGrp="1"/>
          </p:cNvSpPr>
          <p:nvPr>
            <p:ph type="sldNum" sz="quarter" idx="4"/>
          </p:nvPr>
        </p:nvSpPr>
        <p:spPr>
          <a:xfrm>
            <a:off x="11047413" y="7633495"/>
            <a:ext cx="3290887" cy="438150"/>
          </a:xfrm>
          <a:prstGeom prst="rect">
            <a:avLst/>
          </a:prstGeom>
        </p:spPr>
        <p:txBody>
          <a:bodyPr vert="horz" lIns="91440" tIns="45720" rIns="91440" bIns="45720" rtlCol="0" anchor="ctr"/>
          <a:lstStyle>
            <a:lvl1pPr algn="r">
              <a:defRPr sz="1200">
                <a:solidFill>
                  <a:schemeClr val="tx1">
                    <a:tint val="82000"/>
                  </a:schemeClr>
                </a:solidFill>
              </a:defRPr>
            </a:lvl1pPr>
          </a:lstStyle>
          <a:p>
            <a:fld id="{A02D9A9C-251E-4686-914B-47E3F39F30D8}" type="slidenum">
              <a:rPr lang="de-DE" smtClean="0"/>
              <a:t>‹#›</a:t>
            </a:fld>
            <a:endParaRPr lang="de-DE"/>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15.png"/><Relationship Id="rId4" Type="http://schemas.openxmlformats.org/officeDocument/2006/relationships/image" Target="../media/image16.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0.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14BABEB-7065-7DD0-1419-1934C659074E}"/>
              </a:ext>
            </a:extLst>
          </p:cNvPr>
          <p:cNvSpPr>
            <a:spLocks noGrp="1"/>
          </p:cNvSpPr>
          <p:nvPr>
            <p:ph type="sldNum" sz="quarter" idx="10"/>
          </p:nvPr>
        </p:nvSpPr>
        <p:spPr>
          <a:xfrm>
            <a:off x="10566340" y="7414420"/>
            <a:ext cx="3290887" cy="438150"/>
          </a:xfrm>
        </p:spPr>
        <p:txBody>
          <a:bodyPr/>
          <a:lstStyle/>
          <a:p>
            <a:fld id="{A02D9A9C-251E-4686-914B-47E3F39F30D8}" type="slidenum">
              <a:rPr lang="de-DE" smtClean="0">
                <a:latin typeface="Arial" panose="020B0604020202020204" pitchFamily="34" charset="0"/>
                <a:cs typeface="Arial" panose="020B0604020202020204" pitchFamily="34" charset="0"/>
              </a:rPr>
              <a:t>1</a:t>
            </a:fld>
            <a:endParaRPr lang="de-DE">
              <a:latin typeface="Arial" panose="020B0604020202020204" pitchFamily="34" charset="0"/>
              <a:cs typeface="Arial" panose="020B0604020202020204" pitchFamily="34" charset="0"/>
            </a:endParaRPr>
          </a:p>
        </p:txBody>
      </p:sp>
      <p:sp>
        <p:nvSpPr>
          <p:cNvPr id="6" name="Text 0">
            <a:extLst>
              <a:ext uri="{FF2B5EF4-FFF2-40B4-BE49-F238E27FC236}">
                <a16:creationId xmlns:a16="http://schemas.microsoft.com/office/drawing/2014/main" id="{3A38BC28-006F-B7E4-FD15-C1EB542B5436}"/>
              </a:ext>
            </a:extLst>
          </p:cNvPr>
          <p:cNvSpPr/>
          <p:nvPr/>
        </p:nvSpPr>
        <p:spPr>
          <a:xfrm>
            <a:off x="994906" y="578615"/>
            <a:ext cx="9858256" cy="485775"/>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800"/>
              </a:lnSpc>
              <a:buNone/>
            </a:pPr>
            <a:r>
              <a:rPr lang="en-US" sz="3600" dirty="0">
                <a:solidFill>
                  <a:srgbClr val="1B1B27"/>
                </a:solidFill>
                <a:latin typeface="Arial" panose="020B0604020202020204" pitchFamily="34" charset="0"/>
                <a:ea typeface="Alexandria" pitchFamily="34" charset="-122"/>
                <a:cs typeface="Arial" panose="020B0604020202020204" pitchFamily="34" charset="0"/>
              </a:rPr>
              <a:t>Battery Model As First Case Study</a:t>
            </a:r>
            <a:endParaRPr lang="en-US" sz="3600" dirty="0">
              <a:latin typeface="Arial" panose="020B0604020202020204" pitchFamily="34" charset="0"/>
              <a:cs typeface="Arial" panose="020B0604020202020204" pitchFamily="34" charset="0"/>
            </a:endParaRPr>
          </a:p>
        </p:txBody>
      </p:sp>
      <p:sp>
        <p:nvSpPr>
          <p:cNvPr id="9" name="Text 8">
            <a:extLst>
              <a:ext uri="{FF2B5EF4-FFF2-40B4-BE49-F238E27FC236}">
                <a16:creationId xmlns:a16="http://schemas.microsoft.com/office/drawing/2014/main" id="{C7B5EAFB-E9C9-1170-1375-E8AAEC7742FE}"/>
              </a:ext>
            </a:extLst>
          </p:cNvPr>
          <p:cNvSpPr/>
          <p:nvPr/>
        </p:nvSpPr>
        <p:spPr>
          <a:xfrm>
            <a:off x="994906" y="1588375"/>
            <a:ext cx="9571434" cy="178713"/>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40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A compact validation case before the nonlinear cookie-factory energy system</a:t>
            </a:r>
            <a:endParaRPr lang="en-US" sz="1600" dirty="0">
              <a:latin typeface="Arial" panose="020B0604020202020204" pitchFamily="34" charset="0"/>
              <a:cs typeface="Arial" panose="020B0604020202020204" pitchFamily="34" charset="0"/>
            </a:endParaRPr>
          </a:p>
        </p:txBody>
      </p:sp>
      <p:sp>
        <p:nvSpPr>
          <p:cNvPr id="10" name="why case">
            <a:extLst>
              <a:ext uri="{FF2B5EF4-FFF2-40B4-BE49-F238E27FC236}">
                <a16:creationId xmlns:a16="http://schemas.microsoft.com/office/drawing/2014/main" id="{C28B54A6-988E-1FD5-FE5C-207AC36A360D}"/>
              </a:ext>
            </a:extLst>
          </p:cNvPr>
          <p:cNvSpPr txBox="1"/>
          <p:nvPr/>
        </p:nvSpPr>
        <p:spPr>
          <a:xfrm>
            <a:off x="994906" y="2799225"/>
            <a:ext cx="5715000" cy="1005840"/>
          </a:xfrm>
          <a:prstGeom prst="rect">
            <a:avLst/>
          </a:prstGeom>
          <a:solidFill>
            <a:srgbClr val="D2DDF9"/>
          </a:solidFill>
          <a:ln w="0">
            <a:solidFill>
              <a:srgbClr val="F8FAFC"/>
            </a:solidFill>
          </a:ln>
        </p:spPr>
        <p:txBody>
          <a:bodyPr wrap="square" lIns="18288" tIns="18288" rIns="18288" bIns="18288" anchor="t"/>
          <a:lstStyle/>
          <a:p>
            <a:r>
              <a:rPr lang="en-US" dirty="0">
                <a:solidFill>
                  <a:srgbClr val="0F172A"/>
                </a:solidFill>
                <a:latin typeface="Arial" panose="020B0604020202020204" pitchFamily="34" charset="0"/>
                <a:cs typeface="Arial" panose="020B0604020202020204" pitchFamily="34" charset="0"/>
              </a:rPr>
              <a:t>Why include it</a:t>
            </a:r>
            <a:endParaRPr lang="en-US" dirty="0">
              <a:latin typeface="Arial" panose="020B0604020202020204" pitchFamily="34" charset="0"/>
              <a:cs typeface="Arial" panose="020B0604020202020204" pitchFamily="34" charset="0"/>
            </a:endParaRPr>
          </a:p>
          <a:p>
            <a:pPr marL="228600" indent="-171450">
              <a:buChar char="•"/>
            </a:pPr>
            <a:r>
              <a:rPr lang="en-US" sz="1400" dirty="0">
                <a:solidFill>
                  <a:srgbClr val="334155"/>
                </a:solidFill>
                <a:latin typeface="Arial" panose="020B0604020202020204" pitchFamily="34" charset="0"/>
                <a:cs typeface="Arial" panose="020B0604020202020204" pitchFamily="34" charset="0"/>
              </a:rPr>
              <a:t>Clean storage use case: electricity-price arbitrage with SOC and power limits</a:t>
            </a:r>
            <a:endParaRPr lang="en-US" sz="1400" dirty="0">
              <a:latin typeface="Arial" panose="020B0604020202020204" pitchFamily="34" charset="0"/>
              <a:cs typeface="Arial" panose="020B0604020202020204" pitchFamily="34" charset="0"/>
            </a:endParaRPr>
          </a:p>
          <a:p>
            <a:pPr marL="228600" indent="-171450">
              <a:buChar char="•"/>
            </a:pPr>
            <a:r>
              <a:rPr lang="en-US" sz="1400" dirty="0">
                <a:solidFill>
                  <a:srgbClr val="334155"/>
                </a:solidFill>
                <a:latin typeface="Arial" panose="020B0604020202020204" pitchFamily="34" charset="0"/>
                <a:cs typeface="Arial" panose="020B0604020202020204" pitchFamily="34" charset="0"/>
              </a:rPr>
              <a:t>Shows the same thesis question in a simpler, explainable setting</a:t>
            </a:r>
            <a:endParaRPr lang="en-US" sz="1400" dirty="0">
              <a:latin typeface="Arial" panose="020B0604020202020204" pitchFamily="34" charset="0"/>
              <a:cs typeface="Arial" panose="020B0604020202020204" pitchFamily="34" charset="0"/>
            </a:endParaRPr>
          </a:p>
        </p:txBody>
      </p:sp>
      <p:sp>
        <p:nvSpPr>
          <p:cNvPr id="11" name="mdp">
            <a:extLst>
              <a:ext uri="{FF2B5EF4-FFF2-40B4-BE49-F238E27FC236}">
                <a16:creationId xmlns:a16="http://schemas.microsoft.com/office/drawing/2014/main" id="{8BEDE3A9-A8C3-B82B-C8FA-C752A5F71717}"/>
              </a:ext>
            </a:extLst>
          </p:cNvPr>
          <p:cNvSpPr txBox="1"/>
          <p:nvPr/>
        </p:nvSpPr>
        <p:spPr>
          <a:xfrm>
            <a:off x="994906" y="4424536"/>
            <a:ext cx="5715000" cy="1874520"/>
          </a:xfrm>
          <a:prstGeom prst="rect">
            <a:avLst/>
          </a:prstGeom>
          <a:solidFill>
            <a:srgbClr val="D2DDF9"/>
          </a:solidFill>
          <a:ln w="0">
            <a:solidFill>
              <a:srgbClr val="F8FAFC"/>
            </a:solidFill>
          </a:ln>
        </p:spPr>
        <p:txBody>
          <a:bodyPr wrap="square" lIns="18288" tIns="18288" rIns="18288" bIns="18288" anchor="t"/>
          <a:lstStyle/>
          <a:p>
            <a:r>
              <a:rPr lang="en-US" dirty="0">
                <a:solidFill>
                  <a:srgbClr val="0F172A"/>
                </a:solidFill>
                <a:latin typeface="Arial" panose="020B0604020202020204" pitchFamily="34" charset="0"/>
                <a:cs typeface="Arial" panose="020B0604020202020204" pitchFamily="34" charset="0"/>
              </a:rPr>
              <a:t>MDP formulation</a:t>
            </a:r>
            <a:endParaRPr lang="en-US" dirty="0">
              <a:latin typeface="Arial" panose="020B0604020202020204" pitchFamily="34" charset="0"/>
              <a:cs typeface="Arial" panose="020B0604020202020204" pitchFamily="34" charset="0"/>
            </a:endParaRPr>
          </a:p>
          <a:p>
            <a:pPr marL="228600" indent="-171450">
              <a:buChar char="•"/>
            </a:pPr>
            <a:r>
              <a:rPr lang="en-US" sz="1400" dirty="0">
                <a:solidFill>
                  <a:srgbClr val="334155"/>
                </a:solidFill>
                <a:latin typeface="Arial" panose="020B0604020202020204" pitchFamily="34" charset="0"/>
                <a:cs typeface="Arial" panose="020B0604020202020204" pitchFamily="34" charset="0"/>
              </a:rPr>
              <a:t>State: SOC, current price, time, feasible charge/discharge limits, 24h forecast</a:t>
            </a:r>
            <a:endParaRPr lang="en-US" sz="1400" dirty="0">
              <a:latin typeface="Arial" panose="020B0604020202020204" pitchFamily="34" charset="0"/>
              <a:cs typeface="Arial" panose="020B0604020202020204" pitchFamily="34" charset="0"/>
            </a:endParaRPr>
          </a:p>
          <a:p>
            <a:pPr marL="228600" indent="-171450">
              <a:buChar char="•"/>
            </a:pPr>
            <a:r>
              <a:rPr lang="en-US" sz="1400" dirty="0">
                <a:solidFill>
                  <a:srgbClr val="334155"/>
                </a:solidFill>
                <a:latin typeface="Arial" panose="020B0604020202020204" pitchFamily="34" charset="0"/>
                <a:cs typeface="Arial" panose="020B0604020202020204" pitchFamily="34" charset="0"/>
              </a:rPr>
              <a:t>Action: continuous a in [-1, 1], scaled to battery power</a:t>
            </a:r>
            <a:endParaRPr lang="en-US" sz="1400" dirty="0">
              <a:latin typeface="Arial" panose="020B0604020202020204" pitchFamily="34" charset="0"/>
              <a:cs typeface="Arial" panose="020B0604020202020204" pitchFamily="34" charset="0"/>
            </a:endParaRPr>
          </a:p>
          <a:p>
            <a:pPr marL="228600" indent="-171450">
              <a:buChar char="•"/>
            </a:pPr>
            <a:r>
              <a:rPr lang="en-US" sz="1400" dirty="0">
                <a:solidFill>
                  <a:srgbClr val="334155"/>
                </a:solidFill>
                <a:latin typeface="Arial" panose="020B0604020202020204" pitchFamily="34" charset="0"/>
                <a:cs typeface="Arial" panose="020B0604020202020204" pitchFamily="34" charset="0"/>
              </a:rPr>
              <a:t>Reward: -grid cost – (infeasible-action penalty)</a:t>
            </a:r>
            <a:endParaRPr lang="en-US" sz="1400" dirty="0">
              <a:latin typeface="Arial" panose="020B0604020202020204" pitchFamily="34" charset="0"/>
              <a:cs typeface="Arial" panose="020B0604020202020204" pitchFamily="34" charset="0"/>
            </a:endParaRPr>
          </a:p>
          <a:p>
            <a:pPr marL="228600" indent="-171450">
              <a:buChar char="•"/>
            </a:pPr>
            <a:r>
              <a:rPr lang="en-US" sz="1400" dirty="0">
                <a:solidFill>
                  <a:srgbClr val="334155"/>
                </a:solidFill>
                <a:latin typeface="Arial" panose="020B0604020202020204" pitchFamily="34" charset="0"/>
                <a:cs typeface="Arial" panose="020B0604020202020204" pitchFamily="34" charset="0"/>
              </a:rPr>
              <a:t>Dynamics: SOC(t+1) = SOC(t) + </a:t>
            </a:r>
            <a:r>
              <a:rPr lang="en-US" sz="1400" dirty="0" err="1">
                <a:solidFill>
                  <a:srgbClr val="334155"/>
                </a:solidFill>
                <a:latin typeface="Arial" panose="020B0604020202020204" pitchFamily="34" charset="0"/>
                <a:cs typeface="Arial" panose="020B0604020202020204" pitchFamily="34" charset="0"/>
              </a:rPr>
              <a:t>P_actual</a:t>
            </a:r>
            <a:r>
              <a:rPr lang="en-US" sz="1400" dirty="0">
                <a:solidFill>
                  <a:srgbClr val="334155"/>
                </a:solidFill>
                <a:latin typeface="Arial" panose="020B0604020202020204" pitchFamily="34" charset="0"/>
                <a:cs typeface="Arial" panose="020B0604020202020204" pitchFamily="34" charset="0"/>
              </a:rPr>
              <a:t> * dt / </a:t>
            </a:r>
            <a:r>
              <a:rPr lang="en-US" sz="1400" dirty="0" err="1">
                <a:solidFill>
                  <a:srgbClr val="334155"/>
                </a:solidFill>
                <a:latin typeface="Arial" panose="020B0604020202020204" pitchFamily="34" charset="0"/>
                <a:cs typeface="Arial" panose="020B0604020202020204" pitchFamily="34" charset="0"/>
              </a:rPr>
              <a:t>E_max</a:t>
            </a:r>
            <a:endParaRPr lang="en-US" sz="1400" dirty="0">
              <a:latin typeface="Arial" panose="020B0604020202020204" pitchFamily="34" charset="0"/>
              <a:cs typeface="Arial" panose="020B0604020202020204" pitchFamily="34" charset="0"/>
            </a:endParaRPr>
          </a:p>
        </p:txBody>
      </p:sp>
      <p:sp>
        <p:nvSpPr>
          <p:cNvPr id="13" name="experiment panel">
            <a:extLst>
              <a:ext uri="{FF2B5EF4-FFF2-40B4-BE49-F238E27FC236}">
                <a16:creationId xmlns:a16="http://schemas.microsoft.com/office/drawing/2014/main" id="{A6F71DBB-B773-837B-B209-BCE4A31C3AB1}"/>
              </a:ext>
            </a:extLst>
          </p:cNvPr>
          <p:cNvSpPr/>
          <p:nvPr/>
        </p:nvSpPr>
        <p:spPr>
          <a:xfrm>
            <a:off x="9152378" y="2283367"/>
            <a:ext cx="3401568" cy="4983480"/>
          </a:xfrm>
          <a:prstGeom prst="roundRect">
            <a:avLst/>
          </a:prstGeom>
          <a:solidFill>
            <a:srgbClr val="D2DDF9"/>
          </a:solidFill>
          <a:ln w="9525">
            <a:solidFill>
              <a:srgbClr val="CBD5E1"/>
            </a:solidFill>
          </a:ln>
        </p:spPr>
        <p:txBody>
          <a:bodyPr/>
          <a:lstStyle/>
          <a:p>
            <a:endParaRPr sz="1400">
              <a:latin typeface="Arial" panose="020B0604020202020204" pitchFamily="34" charset="0"/>
              <a:cs typeface="Arial" panose="020B0604020202020204" pitchFamily="34" charset="0"/>
            </a:endParaRPr>
          </a:p>
        </p:txBody>
      </p:sp>
      <p:sp>
        <p:nvSpPr>
          <p:cNvPr id="14" name="experiment title">
            <a:extLst>
              <a:ext uri="{FF2B5EF4-FFF2-40B4-BE49-F238E27FC236}">
                <a16:creationId xmlns:a16="http://schemas.microsoft.com/office/drawing/2014/main" id="{4923C094-48BA-6E2F-566B-54BA4BCD758C}"/>
              </a:ext>
            </a:extLst>
          </p:cNvPr>
          <p:cNvSpPr txBox="1"/>
          <p:nvPr/>
        </p:nvSpPr>
        <p:spPr>
          <a:xfrm>
            <a:off x="9371834" y="2493679"/>
            <a:ext cx="2971800" cy="274320"/>
          </a:xfrm>
          <a:prstGeom prst="rect">
            <a:avLst/>
          </a:prstGeom>
          <a:solidFill>
            <a:srgbClr val="D2DDF9"/>
          </a:solidFill>
          <a:ln w="0">
            <a:solidFill>
              <a:srgbClr val="D2DDF9"/>
            </a:solidFill>
          </a:ln>
        </p:spPr>
        <p:txBody>
          <a:bodyPr wrap="square" lIns="18288" tIns="18288" rIns="18288" bIns="18288" anchor="t"/>
          <a:lstStyle/>
          <a:p>
            <a:r>
              <a:rPr lang="en-US" sz="1400">
                <a:solidFill>
                  <a:srgbClr val="0F172A"/>
                </a:solidFill>
                <a:latin typeface="Arial" panose="020B0604020202020204" pitchFamily="34" charset="0"/>
                <a:cs typeface="Arial" panose="020B0604020202020204" pitchFamily="34" charset="0"/>
              </a:rPr>
              <a:t>Experimental design</a:t>
            </a:r>
            <a:endParaRPr lang="en-US" sz="1400">
              <a:latin typeface="Arial" panose="020B0604020202020204" pitchFamily="34" charset="0"/>
              <a:cs typeface="Arial" panose="020B0604020202020204" pitchFamily="34" charset="0"/>
            </a:endParaRPr>
          </a:p>
        </p:txBody>
      </p:sp>
      <p:sp>
        <p:nvSpPr>
          <p:cNvPr id="15" name="experiment bullets">
            <a:extLst>
              <a:ext uri="{FF2B5EF4-FFF2-40B4-BE49-F238E27FC236}">
                <a16:creationId xmlns:a16="http://schemas.microsoft.com/office/drawing/2014/main" id="{7A1C38C7-79A1-42C0-7522-8909B9BC4133}"/>
              </a:ext>
            </a:extLst>
          </p:cNvPr>
          <p:cNvSpPr txBox="1"/>
          <p:nvPr/>
        </p:nvSpPr>
        <p:spPr>
          <a:xfrm>
            <a:off x="9371834" y="2950879"/>
            <a:ext cx="2907792" cy="3154680"/>
          </a:xfrm>
          <a:prstGeom prst="rect">
            <a:avLst/>
          </a:prstGeom>
          <a:solidFill>
            <a:srgbClr val="D2DDF9"/>
          </a:solidFill>
          <a:ln w="0">
            <a:solidFill>
              <a:srgbClr val="D2DDF9"/>
            </a:solidFill>
          </a:ln>
        </p:spPr>
        <p:txBody>
          <a:bodyPr wrap="square" lIns="18288" tIns="18288" rIns="18288" bIns="18288" anchor="t"/>
          <a:lstStyle/>
          <a:p>
            <a:pPr marL="228600" indent="-171450">
              <a:buChar char="•"/>
            </a:pPr>
            <a:r>
              <a:rPr lang="en-US" sz="1400" dirty="0">
                <a:solidFill>
                  <a:srgbClr val="334155"/>
                </a:solidFill>
                <a:latin typeface="Arial" panose="020B0604020202020204" pitchFamily="34" charset="0"/>
                <a:cs typeface="Arial" panose="020B0604020202020204" pitchFamily="34" charset="0"/>
              </a:rPr>
              <a:t>Keep SAC, model architecture, training budget and price windows fixed</a:t>
            </a:r>
            <a:endParaRPr lang="en-US" sz="1400" dirty="0">
              <a:latin typeface="Arial" panose="020B0604020202020204" pitchFamily="34" charset="0"/>
              <a:cs typeface="Arial" panose="020B0604020202020204" pitchFamily="34" charset="0"/>
            </a:endParaRPr>
          </a:p>
          <a:p>
            <a:pPr marL="228600" indent="-171450">
              <a:buChar char="•"/>
            </a:pPr>
            <a:r>
              <a:rPr lang="en-US" sz="1400" dirty="0">
                <a:solidFill>
                  <a:srgbClr val="334155"/>
                </a:solidFill>
                <a:latin typeface="Arial" panose="020B0604020202020204" pitchFamily="34" charset="0"/>
                <a:cs typeface="Arial" panose="020B0604020202020204" pitchFamily="34" charset="0"/>
              </a:rPr>
              <a:t>Train each reward variant over multiple seeds</a:t>
            </a:r>
            <a:endParaRPr lang="en-US" sz="1400" dirty="0">
              <a:latin typeface="Arial" panose="020B0604020202020204" pitchFamily="34" charset="0"/>
              <a:cs typeface="Arial" panose="020B0604020202020204" pitchFamily="34" charset="0"/>
            </a:endParaRPr>
          </a:p>
          <a:p>
            <a:pPr marL="228600" indent="-171450">
              <a:buChar char="•"/>
            </a:pPr>
            <a:r>
              <a:rPr lang="en-US" sz="1400" dirty="0">
                <a:solidFill>
                  <a:srgbClr val="334155"/>
                </a:solidFill>
                <a:latin typeface="Arial" panose="020B0604020202020204" pitchFamily="34" charset="0"/>
                <a:cs typeface="Arial" panose="020B0604020202020204" pitchFamily="34" charset="0"/>
              </a:rPr>
              <a:t>Evaluate on unseen 24h windows</a:t>
            </a:r>
            <a:endParaRPr lang="en-US" sz="1400" dirty="0">
              <a:latin typeface="Arial" panose="020B0604020202020204" pitchFamily="34" charset="0"/>
              <a:cs typeface="Arial" panose="020B0604020202020204" pitchFamily="34" charset="0"/>
            </a:endParaRPr>
          </a:p>
          <a:p>
            <a:pPr marL="228600" indent="-171450">
              <a:buChar char="•"/>
            </a:pPr>
            <a:r>
              <a:rPr lang="en-US" sz="1400" dirty="0">
                <a:solidFill>
                  <a:srgbClr val="334155"/>
                </a:solidFill>
                <a:latin typeface="Arial" panose="020B0604020202020204" pitchFamily="34" charset="0"/>
                <a:cs typeface="Arial" panose="020B0604020202020204" pitchFamily="34" charset="0"/>
              </a:rPr>
              <a:t>Compare against Mathematical/IPOPT baseline</a:t>
            </a:r>
            <a:endParaRPr lang="en-US" sz="1400" dirty="0">
              <a:latin typeface="Arial" panose="020B0604020202020204" pitchFamily="34" charset="0"/>
              <a:cs typeface="Arial" panose="020B0604020202020204" pitchFamily="34" charset="0"/>
            </a:endParaRPr>
          </a:p>
          <a:p>
            <a:pPr marL="228600" indent="-171450">
              <a:buChar char="•"/>
            </a:pPr>
            <a:r>
              <a:rPr lang="en-US" sz="1400" dirty="0">
                <a:solidFill>
                  <a:srgbClr val="334155"/>
                </a:solidFill>
                <a:latin typeface="Arial" panose="020B0604020202020204" pitchFamily="34" charset="0"/>
                <a:cs typeface="Arial" panose="020B0604020202020204" pitchFamily="34" charset="0"/>
              </a:rPr>
              <a:t>Use the same metrics for battery and cookie-factory studies</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3161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0334E38-ECDC-2251-1C9E-5E2E58818BC3}"/>
              </a:ext>
            </a:extLst>
          </p:cNvPr>
          <p:cNvSpPr/>
          <p:nvPr/>
        </p:nvSpPr>
        <p:spPr>
          <a:xfrm>
            <a:off x="994906" y="578615"/>
            <a:ext cx="9858256" cy="485775"/>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800"/>
              </a:lnSpc>
              <a:buNone/>
            </a:pPr>
            <a:r>
              <a:rPr lang="en-US" sz="3600" dirty="0">
                <a:solidFill>
                  <a:srgbClr val="1B1B27"/>
                </a:solidFill>
                <a:latin typeface="Arial" panose="020B0604020202020204" pitchFamily="34" charset="0"/>
                <a:ea typeface="Alexandria" pitchFamily="34" charset="-122"/>
                <a:cs typeface="Arial" panose="020B0604020202020204" pitchFamily="34" charset="0"/>
              </a:rPr>
              <a:t>Battery Model Mathematical Formulation</a:t>
            </a:r>
            <a:endParaRPr lang="en-US" sz="3600" dirty="0">
              <a:latin typeface="Arial" panose="020B0604020202020204" pitchFamily="34" charset="0"/>
              <a:cs typeface="Arial" panose="020B0604020202020204" pitchFamily="34" charset="0"/>
            </a:endParaRPr>
          </a:p>
        </p:txBody>
      </p:sp>
      <p:sp>
        <p:nvSpPr>
          <p:cNvPr id="30" name="Text 4">
            <a:extLst>
              <a:ext uri="{FF2B5EF4-FFF2-40B4-BE49-F238E27FC236}">
                <a16:creationId xmlns:a16="http://schemas.microsoft.com/office/drawing/2014/main" id="{2005AAC9-6078-3B0F-B66D-D712A272CEB8}"/>
              </a:ext>
            </a:extLst>
          </p:cNvPr>
          <p:cNvSpPr/>
          <p:nvPr/>
        </p:nvSpPr>
        <p:spPr>
          <a:xfrm>
            <a:off x="1047483" y="1469277"/>
            <a:ext cx="2080736" cy="260152"/>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00"/>
              </a:lnSpc>
              <a:buNone/>
            </a:pPr>
            <a:r>
              <a:rPr lang="en-US" b="1" dirty="0">
                <a:solidFill>
                  <a:srgbClr val="1B1B27"/>
                </a:solidFill>
                <a:latin typeface="Arial" panose="020B0604020202020204" pitchFamily="34" charset="0"/>
                <a:ea typeface="Alexandria" pitchFamily="34" charset="-122"/>
                <a:cs typeface="Arial" panose="020B0604020202020204" pitchFamily="34" charset="0"/>
              </a:rPr>
              <a:t>Objective Function</a:t>
            </a:r>
            <a:endParaRPr lang="en-US" b="1" dirty="0">
              <a:latin typeface="Arial" panose="020B0604020202020204" pitchFamily="34" charset="0"/>
              <a:cs typeface="Arial" panose="020B0604020202020204" pitchFamily="34" charset="0"/>
            </a:endParaRPr>
          </a:p>
        </p:txBody>
      </p:sp>
      <p:sp>
        <p:nvSpPr>
          <p:cNvPr id="31" name="Text 5">
            <a:extLst>
              <a:ext uri="{FF2B5EF4-FFF2-40B4-BE49-F238E27FC236}">
                <a16:creationId xmlns:a16="http://schemas.microsoft.com/office/drawing/2014/main" id="{BF545353-267D-447F-F1E0-4F1AAEE6949F}"/>
              </a:ext>
            </a:extLst>
          </p:cNvPr>
          <p:cNvSpPr/>
          <p:nvPr/>
        </p:nvSpPr>
        <p:spPr>
          <a:xfrm>
            <a:off x="1047483" y="1856587"/>
            <a:ext cx="9571434" cy="447794"/>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50"/>
              </a:lnSpc>
              <a:buNone/>
            </a:pPr>
            <a:endParaRPr lang="en-US" sz="1200" dirty="0">
              <a:latin typeface="Arial" panose="020B0604020202020204" pitchFamily="34" charset="0"/>
              <a:cs typeface="Arial" panose="020B0604020202020204" pitchFamily="34" charset="0"/>
            </a:endParaRPr>
          </a:p>
        </p:txBody>
      </p:sp>
      <p:pic>
        <p:nvPicPr>
          <p:cNvPr id="32" name="Image 0">
            <a:extLst>
              <a:ext uri="{FF2B5EF4-FFF2-40B4-BE49-F238E27FC236}">
                <a16:creationId xmlns:a16="http://schemas.microsoft.com/office/drawing/2014/main" id="{8FF3F173-ECEF-79D6-7C4A-BB89DCEE2852}"/>
              </a:ext>
            </a:extLst>
          </p:cNvPr>
          <p:cNvPicPr>
            <a:picLocks noChangeAspect="1"/>
          </p:cNvPicPr>
          <p:nvPr/>
        </p:nvPicPr>
        <p:blipFill>
          <a:blip r:embed="rId2"/>
          <a:stretch>
            <a:fillRect/>
          </a:stretch>
        </p:blipFill>
        <p:spPr>
          <a:xfrm>
            <a:off x="1047483" y="1856587"/>
            <a:ext cx="9571434" cy="447794"/>
          </a:xfrm>
          <a:prstGeom prst="rect">
            <a:avLst/>
          </a:prstGeom>
        </p:spPr>
      </p:pic>
      <p:sp>
        <p:nvSpPr>
          <p:cNvPr id="33" name="Text 6">
            <a:extLst>
              <a:ext uri="{FF2B5EF4-FFF2-40B4-BE49-F238E27FC236}">
                <a16:creationId xmlns:a16="http://schemas.microsoft.com/office/drawing/2014/main" id="{6A3DF424-C0D6-AEEB-4F77-C602D4B29BF8}"/>
              </a:ext>
            </a:extLst>
          </p:cNvPr>
          <p:cNvSpPr/>
          <p:nvPr/>
        </p:nvSpPr>
        <p:spPr>
          <a:xfrm>
            <a:off x="1047483" y="2431540"/>
            <a:ext cx="2529721" cy="260152"/>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00"/>
              </a:lnSpc>
              <a:buNone/>
            </a:pPr>
            <a:r>
              <a:rPr lang="en-US" b="1" dirty="0">
                <a:solidFill>
                  <a:srgbClr val="1B1B27"/>
                </a:solidFill>
                <a:latin typeface="Arial" panose="020B0604020202020204" pitchFamily="34" charset="0"/>
                <a:ea typeface="Alexandria" pitchFamily="34" charset="-122"/>
                <a:cs typeface="Arial" panose="020B0604020202020204" pitchFamily="34" charset="0"/>
              </a:rPr>
              <a:t>Power Gating Constraint</a:t>
            </a:r>
            <a:endParaRPr lang="en-US" b="1" dirty="0">
              <a:latin typeface="Arial" panose="020B0604020202020204" pitchFamily="34" charset="0"/>
              <a:cs typeface="Arial" panose="020B0604020202020204" pitchFamily="34" charset="0"/>
            </a:endParaRPr>
          </a:p>
        </p:txBody>
      </p:sp>
      <p:sp>
        <p:nvSpPr>
          <p:cNvPr id="34" name="Text 7">
            <a:extLst>
              <a:ext uri="{FF2B5EF4-FFF2-40B4-BE49-F238E27FC236}">
                <a16:creationId xmlns:a16="http://schemas.microsoft.com/office/drawing/2014/main" id="{DD762A5D-DCE1-A9B1-B8D1-45735992C8B2}"/>
              </a:ext>
            </a:extLst>
          </p:cNvPr>
          <p:cNvSpPr/>
          <p:nvPr/>
        </p:nvSpPr>
        <p:spPr>
          <a:xfrm>
            <a:off x="1047483" y="2818850"/>
            <a:ext cx="9571434" cy="234196"/>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50"/>
              </a:lnSpc>
              <a:buNone/>
            </a:pPr>
            <a:endParaRPr lang="en-US" sz="1200" dirty="0">
              <a:latin typeface="Arial" panose="020B0604020202020204" pitchFamily="34" charset="0"/>
              <a:cs typeface="Arial" panose="020B0604020202020204" pitchFamily="34" charset="0"/>
            </a:endParaRPr>
          </a:p>
        </p:txBody>
      </p:sp>
      <p:pic>
        <p:nvPicPr>
          <p:cNvPr id="35" name="Image 1">
            <a:extLst>
              <a:ext uri="{FF2B5EF4-FFF2-40B4-BE49-F238E27FC236}">
                <a16:creationId xmlns:a16="http://schemas.microsoft.com/office/drawing/2014/main" id="{5B55AACB-99C1-2EA5-0BC9-688368D23AEC}"/>
              </a:ext>
            </a:extLst>
          </p:cNvPr>
          <p:cNvPicPr>
            <a:picLocks noChangeAspect="1"/>
          </p:cNvPicPr>
          <p:nvPr/>
        </p:nvPicPr>
        <p:blipFill>
          <a:blip r:embed="rId3"/>
          <a:stretch>
            <a:fillRect/>
          </a:stretch>
        </p:blipFill>
        <p:spPr>
          <a:xfrm>
            <a:off x="1047483" y="2818850"/>
            <a:ext cx="9571434" cy="234196"/>
          </a:xfrm>
          <a:prstGeom prst="rect">
            <a:avLst/>
          </a:prstGeom>
        </p:spPr>
      </p:pic>
      <p:sp>
        <p:nvSpPr>
          <p:cNvPr id="36" name="Text 8">
            <a:extLst>
              <a:ext uri="{FF2B5EF4-FFF2-40B4-BE49-F238E27FC236}">
                <a16:creationId xmlns:a16="http://schemas.microsoft.com/office/drawing/2014/main" id="{342AB95E-D50E-50CD-1349-3FE1FEB93087}"/>
              </a:ext>
            </a:extLst>
          </p:cNvPr>
          <p:cNvSpPr/>
          <p:nvPr/>
        </p:nvSpPr>
        <p:spPr>
          <a:xfrm>
            <a:off x="1047483" y="3160322"/>
            <a:ext cx="9571434" cy="178713"/>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400"/>
              </a:lnSpc>
              <a:buNone/>
            </a:pPr>
            <a:r>
              <a:rPr lang="en-US" sz="1400" dirty="0">
                <a:solidFill>
                  <a:srgbClr val="404155"/>
                </a:solidFill>
                <a:latin typeface="Arial" panose="020B0604020202020204" pitchFamily="34" charset="0"/>
                <a:ea typeface="Nobile" pitchFamily="34" charset="-122"/>
                <a:cs typeface="Arial" panose="020B0604020202020204" pitchFamily="34" charset="0"/>
              </a:rPr>
              <a:t>Where the smoothing terms are defined as:</a:t>
            </a:r>
            <a:endParaRPr lang="en-US" sz="1400" dirty="0">
              <a:latin typeface="Arial" panose="020B0604020202020204" pitchFamily="34" charset="0"/>
              <a:cs typeface="Arial" panose="020B0604020202020204" pitchFamily="34" charset="0"/>
            </a:endParaRPr>
          </a:p>
        </p:txBody>
      </p:sp>
      <p:sp>
        <p:nvSpPr>
          <p:cNvPr id="37" name="Text 9">
            <a:extLst>
              <a:ext uri="{FF2B5EF4-FFF2-40B4-BE49-F238E27FC236}">
                <a16:creationId xmlns:a16="http://schemas.microsoft.com/office/drawing/2014/main" id="{CAC430F2-7283-343B-42F7-539E278EB2C3}"/>
              </a:ext>
            </a:extLst>
          </p:cNvPr>
          <p:cNvSpPr/>
          <p:nvPr/>
        </p:nvSpPr>
        <p:spPr>
          <a:xfrm>
            <a:off x="1047483" y="3446310"/>
            <a:ext cx="9571434" cy="1132880"/>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50"/>
              </a:lnSpc>
              <a:buNone/>
            </a:pPr>
            <a:endParaRPr lang="en-US" sz="1200" dirty="0">
              <a:latin typeface="Arial" panose="020B0604020202020204" pitchFamily="34" charset="0"/>
              <a:cs typeface="Arial" panose="020B0604020202020204" pitchFamily="34" charset="0"/>
            </a:endParaRPr>
          </a:p>
        </p:txBody>
      </p:sp>
      <p:pic>
        <p:nvPicPr>
          <p:cNvPr id="38" name="Image 2">
            <a:extLst>
              <a:ext uri="{FF2B5EF4-FFF2-40B4-BE49-F238E27FC236}">
                <a16:creationId xmlns:a16="http://schemas.microsoft.com/office/drawing/2014/main" id="{FFE99AD7-8D5A-2687-A65B-4C19FC281500}"/>
              </a:ext>
            </a:extLst>
          </p:cNvPr>
          <p:cNvPicPr>
            <a:picLocks noChangeAspect="1"/>
          </p:cNvPicPr>
          <p:nvPr/>
        </p:nvPicPr>
        <p:blipFill>
          <a:blip r:embed="rId4"/>
          <a:stretch>
            <a:fillRect/>
          </a:stretch>
        </p:blipFill>
        <p:spPr>
          <a:xfrm>
            <a:off x="1047483" y="3446310"/>
            <a:ext cx="9571434" cy="1132880"/>
          </a:xfrm>
          <a:prstGeom prst="rect">
            <a:avLst/>
          </a:prstGeom>
        </p:spPr>
      </p:pic>
      <p:sp>
        <p:nvSpPr>
          <p:cNvPr id="39" name="Text 10">
            <a:extLst>
              <a:ext uri="{FF2B5EF4-FFF2-40B4-BE49-F238E27FC236}">
                <a16:creationId xmlns:a16="http://schemas.microsoft.com/office/drawing/2014/main" id="{474BD66A-6697-A5AA-DC94-C08F1CC59C3F}"/>
              </a:ext>
            </a:extLst>
          </p:cNvPr>
          <p:cNvSpPr/>
          <p:nvPr/>
        </p:nvSpPr>
        <p:spPr>
          <a:xfrm>
            <a:off x="1047483" y="4706348"/>
            <a:ext cx="3406735" cy="260152"/>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00"/>
              </a:lnSpc>
              <a:buNone/>
            </a:pPr>
            <a:r>
              <a:rPr lang="en-US" b="1" dirty="0">
                <a:solidFill>
                  <a:srgbClr val="1B1B27"/>
                </a:solidFill>
                <a:latin typeface="Arial" panose="020B0604020202020204" pitchFamily="34" charset="0"/>
                <a:ea typeface="Alexandria" pitchFamily="34" charset="-122"/>
                <a:cs typeface="Arial" panose="020B0604020202020204" pitchFamily="34" charset="0"/>
              </a:rPr>
              <a:t>Actual Power and SOC Dynamics</a:t>
            </a:r>
            <a:endParaRPr lang="en-US" b="1" dirty="0">
              <a:latin typeface="Arial" panose="020B0604020202020204" pitchFamily="34" charset="0"/>
              <a:cs typeface="Arial" panose="020B0604020202020204" pitchFamily="34" charset="0"/>
            </a:endParaRPr>
          </a:p>
        </p:txBody>
      </p:sp>
      <p:sp>
        <p:nvSpPr>
          <p:cNvPr id="40" name="Text 11">
            <a:extLst>
              <a:ext uri="{FF2B5EF4-FFF2-40B4-BE49-F238E27FC236}">
                <a16:creationId xmlns:a16="http://schemas.microsoft.com/office/drawing/2014/main" id="{7D5E3D45-8C97-A9D4-7A3E-48AA47E1B843}"/>
              </a:ext>
            </a:extLst>
          </p:cNvPr>
          <p:cNvSpPr/>
          <p:nvPr/>
        </p:nvSpPr>
        <p:spPr>
          <a:xfrm>
            <a:off x="1047483" y="5093659"/>
            <a:ext cx="9571434" cy="234196"/>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50"/>
              </a:lnSpc>
              <a:buNone/>
            </a:pPr>
            <a:endParaRPr lang="en-US" sz="1200" dirty="0">
              <a:latin typeface="Arial" panose="020B0604020202020204" pitchFamily="34" charset="0"/>
              <a:cs typeface="Arial" panose="020B0604020202020204" pitchFamily="34" charset="0"/>
            </a:endParaRPr>
          </a:p>
        </p:txBody>
      </p:sp>
      <p:pic>
        <p:nvPicPr>
          <p:cNvPr id="41" name="Image 3">
            <a:extLst>
              <a:ext uri="{FF2B5EF4-FFF2-40B4-BE49-F238E27FC236}">
                <a16:creationId xmlns:a16="http://schemas.microsoft.com/office/drawing/2014/main" id="{09B9ADA8-A5D7-58DB-163D-1248078F431A}"/>
              </a:ext>
            </a:extLst>
          </p:cNvPr>
          <p:cNvPicPr>
            <a:picLocks noChangeAspect="1"/>
          </p:cNvPicPr>
          <p:nvPr/>
        </p:nvPicPr>
        <p:blipFill>
          <a:blip r:embed="rId5"/>
          <a:stretch>
            <a:fillRect/>
          </a:stretch>
        </p:blipFill>
        <p:spPr>
          <a:xfrm>
            <a:off x="1047483" y="5093659"/>
            <a:ext cx="9571434" cy="234196"/>
          </a:xfrm>
          <a:prstGeom prst="rect">
            <a:avLst/>
          </a:prstGeom>
        </p:spPr>
      </p:pic>
      <p:sp>
        <p:nvSpPr>
          <p:cNvPr id="42" name="Text 12">
            <a:extLst>
              <a:ext uri="{FF2B5EF4-FFF2-40B4-BE49-F238E27FC236}">
                <a16:creationId xmlns:a16="http://schemas.microsoft.com/office/drawing/2014/main" id="{F078D753-4678-41EA-C1BC-C03301891336}"/>
              </a:ext>
            </a:extLst>
          </p:cNvPr>
          <p:cNvSpPr/>
          <p:nvPr/>
        </p:nvSpPr>
        <p:spPr>
          <a:xfrm>
            <a:off x="1047483" y="5435130"/>
            <a:ext cx="9571434" cy="414695"/>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50"/>
              </a:lnSpc>
              <a:buNone/>
            </a:pPr>
            <a:endParaRPr lang="en-US" sz="1200" dirty="0">
              <a:latin typeface="Arial" panose="020B0604020202020204" pitchFamily="34" charset="0"/>
              <a:cs typeface="Arial" panose="020B0604020202020204" pitchFamily="34" charset="0"/>
            </a:endParaRPr>
          </a:p>
        </p:txBody>
      </p:sp>
      <p:pic>
        <p:nvPicPr>
          <p:cNvPr id="43" name="Image 4">
            <a:extLst>
              <a:ext uri="{FF2B5EF4-FFF2-40B4-BE49-F238E27FC236}">
                <a16:creationId xmlns:a16="http://schemas.microsoft.com/office/drawing/2014/main" id="{7C04B5A2-1FCF-0CDF-37A6-692FFDF08E30}"/>
              </a:ext>
            </a:extLst>
          </p:cNvPr>
          <p:cNvPicPr>
            <a:picLocks noChangeAspect="1"/>
          </p:cNvPicPr>
          <p:nvPr/>
        </p:nvPicPr>
        <p:blipFill>
          <a:blip r:embed="rId6"/>
          <a:stretch>
            <a:fillRect/>
          </a:stretch>
        </p:blipFill>
        <p:spPr>
          <a:xfrm>
            <a:off x="1047483" y="5435130"/>
            <a:ext cx="9571434" cy="414695"/>
          </a:xfrm>
          <a:prstGeom prst="rect">
            <a:avLst/>
          </a:prstGeom>
        </p:spPr>
      </p:pic>
      <p:sp>
        <p:nvSpPr>
          <p:cNvPr id="44" name="Text 13">
            <a:extLst>
              <a:ext uri="{FF2B5EF4-FFF2-40B4-BE49-F238E27FC236}">
                <a16:creationId xmlns:a16="http://schemas.microsoft.com/office/drawing/2014/main" id="{08CEE8D0-6860-35CD-D119-87E2194A8918}"/>
              </a:ext>
            </a:extLst>
          </p:cNvPr>
          <p:cNvSpPr/>
          <p:nvPr/>
        </p:nvSpPr>
        <p:spPr>
          <a:xfrm>
            <a:off x="1047483" y="5957100"/>
            <a:ext cx="9571434" cy="414695"/>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50"/>
              </a:lnSpc>
              <a:buNone/>
            </a:pPr>
            <a:endParaRPr lang="en-US" sz="1200" dirty="0">
              <a:latin typeface="Arial" panose="020B0604020202020204" pitchFamily="34" charset="0"/>
              <a:cs typeface="Arial" panose="020B0604020202020204" pitchFamily="34" charset="0"/>
            </a:endParaRPr>
          </a:p>
        </p:txBody>
      </p:sp>
      <p:pic>
        <p:nvPicPr>
          <p:cNvPr id="45" name="Image 5">
            <a:extLst>
              <a:ext uri="{FF2B5EF4-FFF2-40B4-BE49-F238E27FC236}">
                <a16:creationId xmlns:a16="http://schemas.microsoft.com/office/drawing/2014/main" id="{E5A3B9B8-7814-A3B6-5960-E6BE2C573E99}"/>
              </a:ext>
            </a:extLst>
          </p:cNvPr>
          <p:cNvPicPr>
            <a:picLocks noChangeAspect="1"/>
          </p:cNvPicPr>
          <p:nvPr/>
        </p:nvPicPr>
        <p:blipFill>
          <a:blip r:embed="rId7"/>
          <a:stretch>
            <a:fillRect/>
          </a:stretch>
        </p:blipFill>
        <p:spPr>
          <a:xfrm>
            <a:off x="1047483" y="5957100"/>
            <a:ext cx="9571434" cy="414695"/>
          </a:xfrm>
          <a:prstGeom prst="rect">
            <a:avLst/>
          </a:prstGeom>
        </p:spPr>
      </p:pic>
      <p:sp>
        <p:nvSpPr>
          <p:cNvPr id="3" name="TextBox 2">
            <a:extLst>
              <a:ext uri="{FF2B5EF4-FFF2-40B4-BE49-F238E27FC236}">
                <a16:creationId xmlns:a16="http://schemas.microsoft.com/office/drawing/2014/main" id="{C866E4F7-43D7-4300-7D2B-A4F06BAE4F61}"/>
              </a:ext>
            </a:extLst>
          </p:cNvPr>
          <p:cNvSpPr txBox="1"/>
          <p:nvPr/>
        </p:nvSpPr>
        <p:spPr>
          <a:xfrm>
            <a:off x="6559200" y="1856587"/>
            <a:ext cx="3728906" cy="307777"/>
          </a:xfrm>
          <a:prstGeom prst="rect">
            <a:avLst/>
          </a:prstGeom>
          <a:noFill/>
        </p:spPr>
        <p:txBody>
          <a:bodyPr wrap="none" rtlCol="0">
            <a:spAutoFit/>
          </a:bodyPr>
          <a:lstStyle/>
          <a:p>
            <a:r>
              <a:rPr lang="de-DE" sz="1400" dirty="0"/>
              <a:t>………………………………………………………………………(1)</a:t>
            </a:r>
          </a:p>
        </p:txBody>
      </p:sp>
      <p:sp>
        <p:nvSpPr>
          <p:cNvPr id="4" name="TextBox 3">
            <a:extLst>
              <a:ext uri="{FF2B5EF4-FFF2-40B4-BE49-F238E27FC236}">
                <a16:creationId xmlns:a16="http://schemas.microsoft.com/office/drawing/2014/main" id="{DB0EFE75-7533-4DF3-CD77-75B224E7424B}"/>
              </a:ext>
            </a:extLst>
          </p:cNvPr>
          <p:cNvSpPr txBox="1"/>
          <p:nvPr/>
        </p:nvSpPr>
        <p:spPr>
          <a:xfrm>
            <a:off x="7460400" y="2788094"/>
            <a:ext cx="2898550" cy="307777"/>
          </a:xfrm>
          <a:prstGeom prst="rect">
            <a:avLst/>
          </a:prstGeom>
          <a:noFill/>
        </p:spPr>
        <p:txBody>
          <a:bodyPr wrap="none" rtlCol="0">
            <a:spAutoFit/>
          </a:bodyPr>
          <a:lstStyle/>
          <a:p>
            <a:r>
              <a:rPr lang="de-DE" sz="1400" dirty="0"/>
              <a:t>……………………………………………………(2)</a:t>
            </a:r>
          </a:p>
        </p:txBody>
      </p:sp>
      <p:sp>
        <p:nvSpPr>
          <p:cNvPr id="5" name="TextBox 4">
            <a:extLst>
              <a:ext uri="{FF2B5EF4-FFF2-40B4-BE49-F238E27FC236}">
                <a16:creationId xmlns:a16="http://schemas.microsoft.com/office/drawing/2014/main" id="{FFCF9E12-9A71-31F3-C762-E49DAEC65220}"/>
              </a:ext>
            </a:extLst>
          </p:cNvPr>
          <p:cNvSpPr txBox="1"/>
          <p:nvPr/>
        </p:nvSpPr>
        <p:spPr>
          <a:xfrm>
            <a:off x="6487200" y="5073715"/>
            <a:ext cx="3818674" cy="307777"/>
          </a:xfrm>
          <a:prstGeom prst="rect">
            <a:avLst/>
          </a:prstGeom>
          <a:noFill/>
        </p:spPr>
        <p:txBody>
          <a:bodyPr wrap="none" rtlCol="0">
            <a:spAutoFit/>
          </a:bodyPr>
          <a:lstStyle/>
          <a:p>
            <a:r>
              <a:rPr lang="de-DE" sz="1400" dirty="0"/>
              <a:t>……………………………………..…………………………...……(3)</a:t>
            </a:r>
          </a:p>
        </p:txBody>
      </p:sp>
      <p:sp>
        <p:nvSpPr>
          <p:cNvPr id="7" name="Slide Number Placeholder 6">
            <a:extLst>
              <a:ext uri="{FF2B5EF4-FFF2-40B4-BE49-F238E27FC236}">
                <a16:creationId xmlns:a16="http://schemas.microsoft.com/office/drawing/2014/main" id="{D14BABEB-7065-7DD0-1419-1934C659074E}"/>
              </a:ext>
            </a:extLst>
          </p:cNvPr>
          <p:cNvSpPr>
            <a:spLocks noGrp="1"/>
          </p:cNvSpPr>
          <p:nvPr>
            <p:ph type="sldNum" sz="quarter" idx="10"/>
          </p:nvPr>
        </p:nvSpPr>
        <p:spPr/>
        <p:txBody>
          <a:bodyPr/>
          <a:lstStyle/>
          <a:p>
            <a:fld id="{A02D9A9C-251E-4686-914B-47E3F39F30D8}" type="slidenum">
              <a:rPr lang="de-DE" smtClean="0"/>
              <a:t>2</a:t>
            </a:fld>
            <a:endParaRPr lang="de-DE"/>
          </a:p>
        </p:txBody>
      </p:sp>
    </p:spTree>
    <p:extLst>
      <p:ext uri="{BB962C8B-B14F-4D97-AF65-F5344CB8AC3E}">
        <p14:creationId xmlns:p14="http://schemas.microsoft.com/office/powerpoint/2010/main" val="713313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D54781FE-9661-EA17-666F-6079B8BCA77C}"/>
              </a:ext>
            </a:extLst>
          </p:cNvPr>
          <p:cNvSpPr/>
          <p:nvPr/>
        </p:nvSpPr>
        <p:spPr>
          <a:xfrm>
            <a:off x="833914" y="783431"/>
            <a:ext cx="6598206" cy="587097"/>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600"/>
              </a:lnSpc>
              <a:buNone/>
            </a:pPr>
            <a:r>
              <a:rPr lang="en-US" sz="3600" dirty="0">
                <a:solidFill>
                  <a:srgbClr val="1B1B27"/>
                </a:solidFill>
                <a:latin typeface="Arial" panose="020B0604020202020204" pitchFamily="34" charset="0"/>
                <a:ea typeface="Alexandria" pitchFamily="34" charset="-122"/>
                <a:cs typeface="Arial" panose="020B0604020202020204" pitchFamily="34" charset="0"/>
              </a:rPr>
              <a:t>Decision Variables &amp; Bounds</a:t>
            </a:r>
            <a:endParaRPr lang="en-US" sz="3600" dirty="0">
              <a:latin typeface="Arial" panose="020B0604020202020204" pitchFamily="34" charset="0"/>
              <a:cs typeface="Arial" panose="020B0604020202020204" pitchFamily="34" charset="0"/>
            </a:endParaRPr>
          </a:p>
        </p:txBody>
      </p:sp>
      <p:sp>
        <p:nvSpPr>
          <p:cNvPr id="5" name="Text 1">
            <a:extLst>
              <a:ext uri="{FF2B5EF4-FFF2-40B4-BE49-F238E27FC236}">
                <a16:creationId xmlns:a16="http://schemas.microsoft.com/office/drawing/2014/main" id="{EB5FC06B-559E-ECD6-7D7A-28B9EA4CF8E7}"/>
              </a:ext>
            </a:extLst>
          </p:cNvPr>
          <p:cNvSpPr/>
          <p:nvPr/>
        </p:nvSpPr>
        <p:spPr>
          <a:xfrm>
            <a:off x="833914" y="1681639"/>
            <a:ext cx="12962573" cy="274677"/>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Four variables are defined at each time step </a:t>
            </a:r>
            <a:r>
              <a:rPr lang="en-US" sz="1600" i="1" dirty="0">
                <a:solidFill>
                  <a:srgbClr val="404155"/>
                </a:solidFill>
                <a:latin typeface="Arial" panose="020B0604020202020204" pitchFamily="34" charset="0"/>
                <a:ea typeface="Nobile" pitchFamily="34" charset="-122"/>
                <a:cs typeface="Arial" panose="020B0604020202020204" pitchFamily="34" charset="0"/>
              </a:rPr>
              <a:t>t = 0, …, T−1</a:t>
            </a:r>
            <a:r>
              <a:rPr lang="en-US" sz="1600" dirty="0">
                <a:solidFill>
                  <a:srgbClr val="404155"/>
                </a:solidFill>
                <a:latin typeface="Arial" panose="020B0604020202020204" pitchFamily="34" charset="0"/>
                <a:ea typeface="Nobile" pitchFamily="34" charset="-122"/>
                <a:cs typeface="Arial" panose="020B0604020202020204" pitchFamily="34" charset="0"/>
              </a:rPr>
              <a:t>, each with explicit physical bounds:</a:t>
            </a:r>
            <a:endParaRPr lang="en-US" sz="1600" dirty="0">
              <a:latin typeface="Arial" panose="020B0604020202020204" pitchFamily="34" charset="0"/>
              <a:cs typeface="Arial" panose="020B0604020202020204" pitchFamily="34" charset="0"/>
            </a:endParaRPr>
          </a:p>
        </p:txBody>
      </p:sp>
      <p:sp>
        <p:nvSpPr>
          <p:cNvPr id="6" name="Shape 2">
            <a:extLst>
              <a:ext uri="{FF2B5EF4-FFF2-40B4-BE49-F238E27FC236}">
                <a16:creationId xmlns:a16="http://schemas.microsoft.com/office/drawing/2014/main" id="{D860628E-10D6-4C43-26E8-C5B9E6F711C1}"/>
              </a:ext>
            </a:extLst>
          </p:cNvPr>
          <p:cNvSpPr/>
          <p:nvPr/>
        </p:nvSpPr>
        <p:spPr>
          <a:xfrm>
            <a:off x="833914" y="2131338"/>
            <a:ext cx="6403538" cy="2132886"/>
          </a:xfrm>
          <a:prstGeom prst="roundRect">
            <a:avLst>
              <a:gd name="adj" fmla="val 3699"/>
            </a:avLst>
          </a:prstGeom>
          <a:solidFill>
            <a:srgbClr val="F9F9FF"/>
          </a:solidFill>
          <a:ln w="22860">
            <a:solidFill>
              <a:srgbClr val="B8C3DF"/>
            </a:solidFill>
            <a:prstDash val="solid"/>
          </a:ln>
        </p:spPr>
        <p:txBody>
          <a:bodyPr/>
          <a:lstStyle/>
          <a:p>
            <a:endParaRPr lang="de-DE">
              <a:latin typeface="Arial" panose="020B0604020202020204" pitchFamily="34" charset="0"/>
              <a:cs typeface="Arial" panose="020B0604020202020204" pitchFamily="34" charset="0"/>
            </a:endParaRPr>
          </a:p>
        </p:txBody>
      </p:sp>
      <p:sp>
        <p:nvSpPr>
          <p:cNvPr id="7" name="Shape 3">
            <a:extLst>
              <a:ext uri="{FF2B5EF4-FFF2-40B4-BE49-F238E27FC236}">
                <a16:creationId xmlns:a16="http://schemas.microsoft.com/office/drawing/2014/main" id="{E0550DB1-D5A1-C1F6-F72B-9CC68C3CE88A}"/>
              </a:ext>
            </a:extLst>
          </p:cNvPr>
          <p:cNvSpPr/>
          <p:nvPr/>
        </p:nvSpPr>
        <p:spPr>
          <a:xfrm>
            <a:off x="856774" y="2154198"/>
            <a:ext cx="6357818" cy="563523"/>
          </a:xfrm>
          <a:prstGeom prst="roundRect">
            <a:avLst>
              <a:gd name="adj" fmla="val 9134"/>
            </a:avLst>
          </a:prstGeom>
          <a:solidFill>
            <a:srgbClr val="D2DDF9"/>
          </a:solidFill>
          <a:ln/>
        </p:spPr>
        <p:txBody>
          <a:bodyPr/>
          <a:lstStyle/>
          <a:p>
            <a:endParaRPr lang="de-DE">
              <a:latin typeface="Arial" panose="020B0604020202020204" pitchFamily="34" charset="0"/>
              <a:cs typeface="Arial" panose="020B0604020202020204" pitchFamily="34" charset="0"/>
            </a:endParaRPr>
          </a:p>
        </p:txBody>
      </p:sp>
      <p:sp>
        <p:nvSpPr>
          <p:cNvPr id="8" name="Text 4">
            <a:extLst>
              <a:ext uri="{FF2B5EF4-FFF2-40B4-BE49-F238E27FC236}">
                <a16:creationId xmlns:a16="http://schemas.microsoft.com/office/drawing/2014/main" id="{B6B0CE4C-CCFE-044B-4C61-EFD94758B673}"/>
              </a:ext>
            </a:extLst>
          </p:cNvPr>
          <p:cNvSpPr/>
          <p:nvPr/>
        </p:nvSpPr>
        <p:spPr>
          <a:xfrm>
            <a:off x="3894773" y="2255996"/>
            <a:ext cx="281702" cy="352187"/>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2200" dirty="0">
                <a:solidFill>
                  <a:srgbClr val="404155"/>
                </a:solidFill>
                <a:latin typeface="Arial" panose="020B0604020202020204" pitchFamily="34" charset="0"/>
                <a:ea typeface="Alexandria" pitchFamily="34" charset="-122"/>
                <a:cs typeface="Arial" panose="020B0604020202020204" pitchFamily="34" charset="0"/>
              </a:rPr>
              <a:t>1</a:t>
            </a:r>
            <a:endParaRPr lang="en-US" sz="2200" dirty="0">
              <a:latin typeface="Arial" panose="020B0604020202020204" pitchFamily="34" charset="0"/>
              <a:cs typeface="Arial" panose="020B0604020202020204" pitchFamily="34" charset="0"/>
            </a:endParaRPr>
          </a:p>
        </p:txBody>
      </p:sp>
      <p:sp>
        <p:nvSpPr>
          <p:cNvPr id="9" name="Text 5">
            <a:extLst>
              <a:ext uri="{FF2B5EF4-FFF2-40B4-BE49-F238E27FC236}">
                <a16:creationId xmlns:a16="http://schemas.microsoft.com/office/drawing/2014/main" id="{E82EA659-4318-5D0C-27FC-185FE9B2111E}"/>
              </a:ext>
            </a:extLst>
          </p:cNvPr>
          <p:cNvSpPr/>
          <p:nvPr/>
        </p:nvSpPr>
        <p:spPr>
          <a:xfrm>
            <a:off x="1044535" y="2873216"/>
            <a:ext cx="2348270" cy="293489"/>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00"/>
              </a:lnSpc>
              <a:buNone/>
            </a:pPr>
            <a:r>
              <a:rPr lang="en-US" sz="1800" dirty="0">
                <a:solidFill>
                  <a:srgbClr val="404155"/>
                </a:solidFill>
                <a:latin typeface="Arial" panose="020B0604020202020204" pitchFamily="34" charset="0"/>
                <a:ea typeface="Alexandria" pitchFamily="34" charset="-122"/>
                <a:cs typeface="Arial" panose="020B0604020202020204" pitchFamily="34" charset="0"/>
              </a:rPr>
              <a:t>Control Input </a:t>
            </a:r>
            <a:r>
              <a:rPr lang="en-US" sz="1800" i="1" dirty="0">
                <a:solidFill>
                  <a:srgbClr val="404155"/>
                </a:solidFill>
                <a:latin typeface="Arial" panose="020B0604020202020204" pitchFamily="34" charset="0"/>
                <a:ea typeface="Alexandria" pitchFamily="34" charset="-122"/>
                <a:cs typeface="Arial" panose="020B0604020202020204" pitchFamily="34" charset="0"/>
              </a:rPr>
              <a:t>u</a:t>
            </a:r>
            <a:r>
              <a:rPr lang="en-US" sz="1800" i="1" baseline="-25000" dirty="0">
                <a:solidFill>
                  <a:srgbClr val="404155"/>
                </a:solidFill>
                <a:latin typeface="Arial" panose="020B0604020202020204" pitchFamily="34" charset="0"/>
                <a:ea typeface="Alexandria" pitchFamily="34" charset="-122"/>
                <a:cs typeface="Arial" panose="020B0604020202020204" pitchFamily="34" charset="0"/>
              </a:rPr>
              <a:t>t</a:t>
            </a:r>
            <a:endParaRPr lang="en-US" sz="1800" baseline="-25000" dirty="0">
              <a:latin typeface="Arial" panose="020B0604020202020204" pitchFamily="34" charset="0"/>
              <a:cs typeface="Arial" panose="020B0604020202020204" pitchFamily="34" charset="0"/>
            </a:endParaRPr>
          </a:p>
        </p:txBody>
      </p:sp>
      <p:sp>
        <p:nvSpPr>
          <p:cNvPr id="10" name="Text 6">
            <a:extLst>
              <a:ext uri="{FF2B5EF4-FFF2-40B4-BE49-F238E27FC236}">
                <a16:creationId xmlns:a16="http://schemas.microsoft.com/office/drawing/2014/main" id="{586CB3F3-E065-65A4-1429-97C882070411}"/>
              </a:ext>
            </a:extLst>
          </p:cNvPr>
          <p:cNvSpPr/>
          <p:nvPr/>
        </p:nvSpPr>
        <p:spPr>
          <a:xfrm>
            <a:off x="1044535" y="3260050"/>
            <a:ext cx="5982295" cy="274677"/>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Normalized charge/discharge command.</a:t>
            </a:r>
            <a:endParaRPr lang="en-US" sz="1600" dirty="0">
              <a:latin typeface="Arial" panose="020B0604020202020204" pitchFamily="34" charset="0"/>
              <a:cs typeface="Arial" panose="020B0604020202020204" pitchFamily="34" charset="0"/>
            </a:endParaRPr>
          </a:p>
        </p:txBody>
      </p:sp>
      <p:sp>
        <p:nvSpPr>
          <p:cNvPr id="11" name="Text 7">
            <a:extLst>
              <a:ext uri="{FF2B5EF4-FFF2-40B4-BE49-F238E27FC236}">
                <a16:creationId xmlns:a16="http://schemas.microsoft.com/office/drawing/2014/main" id="{86AA1356-05FB-D87B-077A-AF49F5AEC3B5}"/>
              </a:ext>
            </a:extLst>
          </p:cNvPr>
          <p:cNvSpPr/>
          <p:nvPr/>
        </p:nvSpPr>
        <p:spPr>
          <a:xfrm>
            <a:off x="1044535" y="3731538"/>
            <a:ext cx="5982295" cy="322064"/>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endParaRPr lang="en-US" sz="1650" dirty="0">
              <a:latin typeface="Arial" panose="020B0604020202020204" pitchFamily="34" charset="0"/>
              <a:cs typeface="Arial" panose="020B0604020202020204" pitchFamily="34" charset="0"/>
            </a:endParaRPr>
          </a:p>
        </p:txBody>
      </p:sp>
      <p:pic>
        <p:nvPicPr>
          <p:cNvPr id="12" name="Image 0">
            <a:extLst>
              <a:ext uri="{FF2B5EF4-FFF2-40B4-BE49-F238E27FC236}">
                <a16:creationId xmlns:a16="http://schemas.microsoft.com/office/drawing/2014/main" id="{E83BCCFD-0326-2C53-7966-7D3773D63594}"/>
              </a:ext>
            </a:extLst>
          </p:cNvPr>
          <p:cNvPicPr>
            <a:picLocks noChangeAspect="1"/>
          </p:cNvPicPr>
          <p:nvPr/>
        </p:nvPicPr>
        <p:blipFill>
          <a:blip r:embed="rId2"/>
          <a:stretch>
            <a:fillRect/>
          </a:stretch>
        </p:blipFill>
        <p:spPr>
          <a:xfrm>
            <a:off x="1044535" y="3731538"/>
            <a:ext cx="5982295" cy="322064"/>
          </a:xfrm>
          <a:prstGeom prst="rect">
            <a:avLst/>
          </a:prstGeom>
        </p:spPr>
      </p:pic>
      <p:sp>
        <p:nvSpPr>
          <p:cNvPr id="13" name="Shape 8">
            <a:extLst>
              <a:ext uri="{FF2B5EF4-FFF2-40B4-BE49-F238E27FC236}">
                <a16:creationId xmlns:a16="http://schemas.microsoft.com/office/drawing/2014/main" id="{2387CE0C-7807-F8E1-BF23-595685B98FF0}"/>
              </a:ext>
            </a:extLst>
          </p:cNvPr>
          <p:cNvSpPr/>
          <p:nvPr/>
        </p:nvSpPr>
        <p:spPr>
          <a:xfrm>
            <a:off x="7392948" y="2131338"/>
            <a:ext cx="6403538" cy="2132886"/>
          </a:xfrm>
          <a:prstGeom prst="roundRect">
            <a:avLst>
              <a:gd name="adj" fmla="val 3699"/>
            </a:avLst>
          </a:prstGeom>
          <a:solidFill>
            <a:srgbClr val="F9F9FF"/>
          </a:solidFill>
          <a:ln w="22860">
            <a:solidFill>
              <a:srgbClr val="B8C3DF"/>
            </a:solidFill>
            <a:prstDash val="solid"/>
          </a:ln>
        </p:spPr>
        <p:txBody>
          <a:bodyPr/>
          <a:lstStyle/>
          <a:p>
            <a:endParaRPr lang="de-DE">
              <a:latin typeface="Arial" panose="020B0604020202020204" pitchFamily="34" charset="0"/>
              <a:cs typeface="Arial" panose="020B0604020202020204" pitchFamily="34" charset="0"/>
            </a:endParaRPr>
          </a:p>
        </p:txBody>
      </p:sp>
      <p:sp>
        <p:nvSpPr>
          <p:cNvPr id="14" name="Shape 9">
            <a:extLst>
              <a:ext uri="{FF2B5EF4-FFF2-40B4-BE49-F238E27FC236}">
                <a16:creationId xmlns:a16="http://schemas.microsoft.com/office/drawing/2014/main" id="{53758B01-47CF-1551-DD9E-BECEB04FD31B}"/>
              </a:ext>
            </a:extLst>
          </p:cNvPr>
          <p:cNvSpPr/>
          <p:nvPr/>
        </p:nvSpPr>
        <p:spPr>
          <a:xfrm>
            <a:off x="7415808" y="2154198"/>
            <a:ext cx="6357818" cy="563523"/>
          </a:xfrm>
          <a:prstGeom prst="roundRect">
            <a:avLst>
              <a:gd name="adj" fmla="val 9134"/>
            </a:avLst>
          </a:prstGeom>
          <a:solidFill>
            <a:srgbClr val="D2DDF9"/>
          </a:solidFill>
          <a:ln/>
        </p:spPr>
        <p:txBody>
          <a:bodyPr/>
          <a:lstStyle/>
          <a:p>
            <a:endParaRPr lang="de-DE">
              <a:latin typeface="Arial" panose="020B0604020202020204" pitchFamily="34" charset="0"/>
              <a:cs typeface="Arial" panose="020B0604020202020204" pitchFamily="34" charset="0"/>
            </a:endParaRPr>
          </a:p>
        </p:txBody>
      </p:sp>
      <p:sp>
        <p:nvSpPr>
          <p:cNvPr id="15" name="Text 10">
            <a:extLst>
              <a:ext uri="{FF2B5EF4-FFF2-40B4-BE49-F238E27FC236}">
                <a16:creationId xmlns:a16="http://schemas.microsoft.com/office/drawing/2014/main" id="{AAE95FD6-E636-AEDF-A363-C95BEBF7A0FF}"/>
              </a:ext>
            </a:extLst>
          </p:cNvPr>
          <p:cNvSpPr/>
          <p:nvPr/>
        </p:nvSpPr>
        <p:spPr>
          <a:xfrm>
            <a:off x="10453807" y="2255996"/>
            <a:ext cx="281702" cy="352187"/>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2200" dirty="0">
                <a:solidFill>
                  <a:srgbClr val="404155"/>
                </a:solidFill>
                <a:latin typeface="Arial" panose="020B0604020202020204" pitchFamily="34" charset="0"/>
                <a:ea typeface="Alexandria" pitchFamily="34" charset="-122"/>
                <a:cs typeface="Arial" panose="020B0604020202020204" pitchFamily="34" charset="0"/>
              </a:rPr>
              <a:t>2</a:t>
            </a:r>
            <a:endParaRPr lang="en-US" sz="2200" dirty="0">
              <a:latin typeface="Arial" panose="020B0604020202020204" pitchFamily="34" charset="0"/>
              <a:cs typeface="Arial" panose="020B0604020202020204" pitchFamily="34" charset="0"/>
            </a:endParaRPr>
          </a:p>
        </p:txBody>
      </p:sp>
      <p:sp>
        <p:nvSpPr>
          <p:cNvPr id="16" name="Text 11">
            <a:extLst>
              <a:ext uri="{FF2B5EF4-FFF2-40B4-BE49-F238E27FC236}">
                <a16:creationId xmlns:a16="http://schemas.microsoft.com/office/drawing/2014/main" id="{19DF8F68-33BC-1D0F-AF48-735AA34E7115}"/>
              </a:ext>
            </a:extLst>
          </p:cNvPr>
          <p:cNvSpPr/>
          <p:nvPr/>
        </p:nvSpPr>
        <p:spPr>
          <a:xfrm>
            <a:off x="7603569" y="2873216"/>
            <a:ext cx="2457450" cy="293489"/>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00"/>
              </a:lnSpc>
              <a:buNone/>
            </a:pPr>
            <a:r>
              <a:rPr lang="en-US" sz="1800" dirty="0">
                <a:solidFill>
                  <a:srgbClr val="404155"/>
                </a:solidFill>
                <a:latin typeface="Arial" panose="020B0604020202020204" pitchFamily="34" charset="0"/>
                <a:ea typeface="Alexandria" pitchFamily="34" charset="-122"/>
                <a:cs typeface="Arial" panose="020B0604020202020204" pitchFamily="34" charset="0"/>
              </a:rPr>
              <a:t>State of Charge </a:t>
            </a:r>
            <a:r>
              <a:rPr lang="en-US" sz="1800" i="1" dirty="0">
                <a:solidFill>
                  <a:srgbClr val="404155"/>
                </a:solidFill>
                <a:latin typeface="Arial" panose="020B0604020202020204" pitchFamily="34" charset="0"/>
                <a:ea typeface="Alexandria" pitchFamily="34" charset="-122"/>
                <a:cs typeface="Arial" panose="020B0604020202020204" pitchFamily="34" charset="0"/>
              </a:rPr>
              <a:t>SOC</a:t>
            </a:r>
            <a:r>
              <a:rPr lang="en-US" sz="1800" i="1" baseline="-25000" dirty="0">
                <a:solidFill>
                  <a:srgbClr val="404155"/>
                </a:solidFill>
                <a:latin typeface="Arial" panose="020B0604020202020204" pitchFamily="34" charset="0"/>
                <a:ea typeface="Alexandria" pitchFamily="34" charset="-122"/>
                <a:cs typeface="Arial" panose="020B0604020202020204" pitchFamily="34" charset="0"/>
              </a:rPr>
              <a:t>t</a:t>
            </a:r>
            <a:endParaRPr lang="en-US" sz="1800" baseline="-25000" dirty="0">
              <a:latin typeface="Arial" panose="020B0604020202020204" pitchFamily="34" charset="0"/>
              <a:cs typeface="Arial" panose="020B0604020202020204" pitchFamily="34" charset="0"/>
            </a:endParaRPr>
          </a:p>
        </p:txBody>
      </p:sp>
      <p:sp>
        <p:nvSpPr>
          <p:cNvPr id="17" name="Text 12">
            <a:extLst>
              <a:ext uri="{FF2B5EF4-FFF2-40B4-BE49-F238E27FC236}">
                <a16:creationId xmlns:a16="http://schemas.microsoft.com/office/drawing/2014/main" id="{6138FE9B-8E59-471D-7696-6BBA8D8E5993}"/>
              </a:ext>
            </a:extLst>
          </p:cNvPr>
          <p:cNvSpPr/>
          <p:nvPr/>
        </p:nvSpPr>
        <p:spPr>
          <a:xfrm>
            <a:off x="7603569" y="3260050"/>
            <a:ext cx="5982295" cy="274677"/>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Fractional energy level of the battery.</a:t>
            </a:r>
            <a:endParaRPr lang="en-US" sz="1600" dirty="0">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A4F6AFBE-A951-7639-6A7A-03F07AFC5954}"/>
              </a:ext>
            </a:extLst>
          </p:cNvPr>
          <p:cNvSpPr/>
          <p:nvPr/>
        </p:nvSpPr>
        <p:spPr>
          <a:xfrm>
            <a:off x="7603569" y="3731538"/>
            <a:ext cx="5982295" cy="306824"/>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endParaRPr lang="en-US" sz="1650" dirty="0">
              <a:latin typeface="Arial" panose="020B0604020202020204" pitchFamily="34" charset="0"/>
              <a:cs typeface="Arial" panose="020B0604020202020204" pitchFamily="34" charset="0"/>
            </a:endParaRPr>
          </a:p>
        </p:txBody>
      </p:sp>
      <p:pic>
        <p:nvPicPr>
          <p:cNvPr id="19" name="Image 1">
            <a:extLst>
              <a:ext uri="{FF2B5EF4-FFF2-40B4-BE49-F238E27FC236}">
                <a16:creationId xmlns:a16="http://schemas.microsoft.com/office/drawing/2014/main" id="{53B6F62F-BE8F-3E44-11CC-0ECA7234AE7B}"/>
              </a:ext>
            </a:extLst>
          </p:cNvPr>
          <p:cNvPicPr>
            <a:picLocks noChangeAspect="1"/>
          </p:cNvPicPr>
          <p:nvPr/>
        </p:nvPicPr>
        <p:blipFill>
          <a:blip r:embed="rId3"/>
          <a:stretch>
            <a:fillRect/>
          </a:stretch>
        </p:blipFill>
        <p:spPr>
          <a:xfrm>
            <a:off x="7603569" y="3731538"/>
            <a:ext cx="5982295" cy="306824"/>
          </a:xfrm>
          <a:prstGeom prst="rect">
            <a:avLst/>
          </a:prstGeom>
        </p:spPr>
      </p:pic>
      <p:sp>
        <p:nvSpPr>
          <p:cNvPr id="20" name="Shape 14">
            <a:extLst>
              <a:ext uri="{FF2B5EF4-FFF2-40B4-BE49-F238E27FC236}">
                <a16:creationId xmlns:a16="http://schemas.microsoft.com/office/drawing/2014/main" id="{3C75CDDD-6A0A-54EF-95D9-D17E45015021}"/>
              </a:ext>
            </a:extLst>
          </p:cNvPr>
          <p:cNvSpPr/>
          <p:nvPr/>
        </p:nvSpPr>
        <p:spPr>
          <a:xfrm>
            <a:off x="833914" y="4419719"/>
            <a:ext cx="6403538" cy="2132886"/>
          </a:xfrm>
          <a:prstGeom prst="roundRect">
            <a:avLst>
              <a:gd name="adj" fmla="val 3699"/>
            </a:avLst>
          </a:prstGeom>
          <a:solidFill>
            <a:srgbClr val="F9F9FF"/>
          </a:solidFill>
          <a:ln w="22860">
            <a:solidFill>
              <a:srgbClr val="B8C3DF"/>
            </a:solidFill>
            <a:prstDash val="solid"/>
          </a:ln>
        </p:spPr>
        <p:txBody>
          <a:bodyPr/>
          <a:lstStyle/>
          <a:p>
            <a:endParaRPr lang="de-DE">
              <a:latin typeface="Arial" panose="020B0604020202020204" pitchFamily="34" charset="0"/>
              <a:cs typeface="Arial" panose="020B0604020202020204" pitchFamily="34" charset="0"/>
            </a:endParaRPr>
          </a:p>
        </p:txBody>
      </p:sp>
      <p:sp>
        <p:nvSpPr>
          <p:cNvPr id="21" name="Shape 15">
            <a:extLst>
              <a:ext uri="{FF2B5EF4-FFF2-40B4-BE49-F238E27FC236}">
                <a16:creationId xmlns:a16="http://schemas.microsoft.com/office/drawing/2014/main" id="{B406EE32-AF5D-3FC7-69D5-795A27757B11}"/>
              </a:ext>
            </a:extLst>
          </p:cNvPr>
          <p:cNvSpPr/>
          <p:nvPr/>
        </p:nvSpPr>
        <p:spPr>
          <a:xfrm>
            <a:off x="856774" y="4442579"/>
            <a:ext cx="6357818" cy="563523"/>
          </a:xfrm>
          <a:prstGeom prst="roundRect">
            <a:avLst>
              <a:gd name="adj" fmla="val 9134"/>
            </a:avLst>
          </a:prstGeom>
          <a:solidFill>
            <a:srgbClr val="D2DDF9"/>
          </a:solidFill>
          <a:ln/>
        </p:spPr>
        <p:txBody>
          <a:bodyPr/>
          <a:lstStyle/>
          <a:p>
            <a:endParaRPr lang="de-DE">
              <a:latin typeface="Arial" panose="020B0604020202020204" pitchFamily="34" charset="0"/>
              <a:cs typeface="Arial" panose="020B0604020202020204" pitchFamily="34" charset="0"/>
            </a:endParaRPr>
          </a:p>
        </p:txBody>
      </p:sp>
      <p:sp>
        <p:nvSpPr>
          <p:cNvPr id="22" name="Text 16">
            <a:extLst>
              <a:ext uri="{FF2B5EF4-FFF2-40B4-BE49-F238E27FC236}">
                <a16:creationId xmlns:a16="http://schemas.microsoft.com/office/drawing/2014/main" id="{138BD636-B0CE-FB4A-29B5-3560D7FCB104}"/>
              </a:ext>
            </a:extLst>
          </p:cNvPr>
          <p:cNvSpPr/>
          <p:nvPr/>
        </p:nvSpPr>
        <p:spPr>
          <a:xfrm>
            <a:off x="3894773" y="4544378"/>
            <a:ext cx="281702" cy="352187"/>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2200" dirty="0">
                <a:solidFill>
                  <a:srgbClr val="404155"/>
                </a:solidFill>
                <a:latin typeface="Arial" panose="020B0604020202020204" pitchFamily="34" charset="0"/>
                <a:ea typeface="Alexandria" pitchFamily="34" charset="-122"/>
                <a:cs typeface="Arial" panose="020B0604020202020204" pitchFamily="34" charset="0"/>
              </a:rPr>
              <a:t>3</a:t>
            </a:r>
            <a:endParaRPr lang="en-US" sz="2200" dirty="0">
              <a:latin typeface="Arial" panose="020B0604020202020204" pitchFamily="34" charset="0"/>
              <a:cs typeface="Arial" panose="020B0604020202020204" pitchFamily="34" charset="0"/>
            </a:endParaRPr>
          </a:p>
        </p:txBody>
      </p:sp>
      <p:sp>
        <p:nvSpPr>
          <p:cNvPr id="23" name="Text 17">
            <a:extLst>
              <a:ext uri="{FF2B5EF4-FFF2-40B4-BE49-F238E27FC236}">
                <a16:creationId xmlns:a16="http://schemas.microsoft.com/office/drawing/2014/main" id="{68F55618-8342-36AB-878E-DFF41253073B}"/>
              </a:ext>
            </a:extLst>
          </p:cNvPr>
          <p:cNvSpPr/>
          <p:nvPr/>
        </p:nvSpPr>
        <p:spPr>
          <a:xfrm>
            <a:off x="1044535" y="5161598"/>
            <a:ext cx="2348270" cy="293489"/>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00"/>
              </a:lnSpc>
              <a:buNone/>
            </a:pPr>
            <a:r>
              <a:rPr lang="en-US" sz="1800" dirty="0">
                <a:solidFill>
                  <a:srgbClr val="404155"/>
                </a:solidFill>
                <a:latin typeface="Arial" panose="020B0604020202020204" pitchFamily="34" charset="0"/>
                <a:ea typeface="Alexandria" pitchFamily="34" charset="-122"/>
                <a:cs typeface="Arial" panose="020B0604020202020204" pitchFamily="34" charset="0"/>
              </a:rPr>
              <a:t>Grid Power </a:t>
            </a:r>
            <a:r>
              <a:rPr lang="en-US" sz="1800" i="1" dirty="0">
                <a:solidFill>
                  <a:srgbClr val="404155"/>
                </a:solidFill>
                <a:latin typeface="Arial" panose="020B0604020202020204" pitchFamily="34" charset="0"/>
                <a:ea typeface="Alexandria" pitchFamily="34" charset="-122"/>
                <a:cs typeface="Arial" panose="020B0604020202020204" pitchFamily="34" charset="0"/>
              </a:rPr>
              <a:t>P</a:t>
            </a:r>
            <a:r>
              <a:rPr lang="en-US" sz="1800" i="1" baseline="-25000" dirty="0">
                <a:solidFill>
                  <a:srgbClr val="404155"/>
                </a:solidFill>
                <a:latin typeface="Arial" panose="020B0604020202020204" pitchFamily="34" charset="0"/>
                <a:ea typeface="Alexandria" pitchFamily="34" charset="-122"/>
                <a:cs typeface="Arial" panose="020B0604020202020204" pitchFamily="34" charset="0"/>
              </a:rPr>
              <a:t>t</a:t>
            </a:r>
            <a:endParaRPr lang="en-US" sz="1800" baseline="-25000" dirty="0">
              <a:latin typeface="Arial" panose="020B0604020202020204" pitchFamily="34" charset="0"/>
              <a:cs typeface="Arial" panose="020B0604020202020204" pitchFamily="34" charset="0"/>
            </a:endParaRPr>
          </a:p>
        </p:txBody>
      </p:sp>
      <p:sp>
        <p:nvSpPr>
          <p:cNvPr id="24" name="Text 18">
            <a:extLst>
              <a:ext uri="{FF2B5EF4-FFF2-40B4-BE49-F238E27FC236}">
                <a16:creationId xmlns:a16="http://schemas.microsoft.com/office/drawing/2014/main" id="{52C4D0F0-5881-6C20-3D4A-D95854C8E267}"/>
              </a:ext>
            </a:extLst>
          </p:cNvPr>
          <p:cNvSpPr/>
          <p:nvPr/>
        </p:nvSpPr>
        <p:spPr>
          <a:xfrm>
            <a:off x="1044535" y="5548432"/>
            <a:ext cx="5982295" cy="274677"/>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Scheduled power exchange with the grid.</a:t>
            </a:r>
            <a:endParaRPr lang="en-US" sz="1600" dirty="0">
              <a:latin typeface="Arial" panose="020B0604020202020204" pitchFamily="34" charset="0"/>
              <a:cs typeface="Arial" panose="020B0604020202020204" pitchFamily="34" charset="0"/>
            </a:endParaRPr>
          </a:p>
        </p:txBody>
      </p:sp>
      <p:sp>
        <p:nvSpPr>
          <p:cNvPr id="25" name="Text 19">
            <a:extLst>
              <a:ext uri="{FF2B5EF4-FFF2-40B4-BE49-F238E27FC236}">
                <a16:creationId xmlns:a16="http://schemas.microsoft.com/office/drawing/2014/main" id="{0F951E0D-8CB3-9D0F-FE14-0C9945087C22}"/>
              </a:ext>
            </a:extLst>
          </p:cNvPr>
          <p:cNvSpPr/>
          <p:nvPr/>
        </p:nvSpPr>
        <p:spPr>
          <a:xfrm>
            <a:off x="1044535" y="6019919"/>
            <a:ext cx="5982295" cy="322064"/>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endParaRPr lang="en-US" sz="1650" dirty="0">
              <a:latin typeface="Arial" panose="020B0604020202020204" pitchFamily="34" charset="0"/>
              <a:cs typeface="Arial" panose="020B0604020202020204" pitchFamily="34" charset="0"/>
            </a:endParaRPr>
          </a:p>
        </p:txBody>
      </p:sp>
      <p:pic>
        <p:nvPicPr>
          <p:cNvPr id="26" name="Image 2">
            <a:extLst>
              <a:ext uri="{FF2B5EF4-FFF2-40B4-BE49-F238E27FC236}">
                <a16:creationId xmlns:a16="http://schemas.microsoft.com/office/drawing/2014/main" id="{7E611C0D-A21A-29F0-8035-D9D5239913D2}"/>
              </a:ext>
            </a:extLst>
          </p:cNvPr>
          <p:cNvPicPr>
            <a:picLocks noChangeAspect="1"/>
          </p:cNvPicPr>
          <p:nvPr/>
        </p:nvPicPr>
        <p:blipFill>
          <a:blip r:embed="rId4"/>
          <a:stretch>
            <a:fillRect/>
          </a:stretch>
        </p:blipFill>
        <p:spPr>
          <a:xfrm>
            <a:off x="1044535" y="6019919"/>
            <a:ext cx="5982295" cy="322064"/>
          </a:xfrm>
          <a:prstGeom prst="rect">
            <a:avLst/>
          </a:prstGeom>
        </p:spPr>
      </p:pic>
      <p:sp>
        <p:nvSpPr>
          <p:cNvPr id="27" name="Shape 20">
            <a:extLst>
              <a:ext uri="{FF2B5EF4-FFF2-40B4-BE49-F238E27FC236}">
                <a16:creationId xmlns:a16="http://schemas.microsoft.com/office/drawing/2014/main" id="{3ED12896-2791-292A-D528-DD5404064476}"/>
              </a:ext>
            </a:extLst>
          </p:cNvPr>
          <p:cNvSpPr/>
          <p:nvPr/>
        </p:nvSpPr>
        <p:spPr>
          <a:xfrm>
            <a:off x="7392948" y="4419719"/>
            <a:ext cx="6403538" cy="2132886"/>
          </a:xfrm>
          <a:prstGeom prst="roundRect">
            <a:avLst>
              <a:gd name="adj" fmla="val 3699"/>
            </a:avLst>
          </a:prstGeom>
          <a:solidFill>
            <a:srgbClr val="F9F9FF"/>
          </a:solidFill>
          <a:ln w="22860">
            <a:solidFill>
              <a:srgbClr val="B8C3DF"/>
            </a:solidFill>
            <a:prstDash val="solid"/>
          </a:ln>
        </p:spPr>
        <p:txBody>
          <a:bodyPr/>
          <a:lstStyle/>
          <a:p>
            <a:endParaRPr lang="de-DE">
              <a:latin typeface="Arial" panose="020B0604020202020204" pitchFamily="34" charset="0"/>
              <a:cs typeface="Arial" panose="020B0604020202020204" pitchFamily="34" charset="0"/>
            </a:endParaRPr>
          </a:p>
        </p:txBody>
      </p:sp>
      <p:sp>
        <p:nvSpPr>
          <p:cNvPr id="28" name="Shape 21">
            <a:extLst>
              <a:ext uri="{FF2B5EF4-FFF2-40B4-BE49-F238E27FC236}">
                <a16:creationId xmlns:a16="http://schemas.microsoft.com/office/drawing/2014/main" id="{707B9363-2F81-636A-1B86-C77F4E2360AF}"/>
              </a:ext>
            </a:extLst>
          </p:cNvPr>
          <p:cNvSpPr/>
          <p:nvPr/>
        </p:nvSpPr>
        <p:spPr>
          <a:xfrm>
            <a:off x="7415808" y="4442579"/>
            <a:ext cx="6357818" cy="563523"/>
          </a:xfrm>
          <a:prstGeom prst="roundRect">
            <a:avLst>
              <a:gd name="adj" fmla="val 9134"/>
            </a:avLst>
          </a:prstGeom>
          <a:solidFill>
            <a:srgbClr val="D2DDF9"/>
          </a:solidFill>
          <a:ln/>
        </p:spPr>
        <p:txBody>
          <a:bodyPr/>
          <a:lstStyle/>
          <a:p>
            <a:endParaRPr lang="de-DE">
              <a:latin typeface="Arial" panose="020B0604020202020204" pitchFamily="34" charset="0"/>
              <a:cs typeface="Arial" panose="020B0604020202020204" pitchFamily="34" charset="0"/>
            </a:endParaRPr>
          </a:p>
        </p:txBody>
      </p:sp>
      <p:sp>
        <p:nvSpPr>
          <p:cNvPr id="29" name="Text 22">
            <a:extLst>
              <a:ext uri="{FF2B5EF4-FFF2-40B4-BE49-F238E27FC236}">
                <a16:creationId xmlns:a16="http://schemas.microsoft.com/office/drawing/2014/main" id="{9D16C923-7DE6-113B-11D6-34A9E3CC64DE}"/>
              </a:ext>
            </a:extLst>
          </p:cNvPr>
          <p:cNvSpPr/>
          <p:nvPr/>
        </p:nvSpPr>
        <p:spPr>
          <a:xfrm>
            <a:off x="10453807" y="4544378"/>
            <a:ext cx="281702" cy="352187"/>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2200" dirty="0">
                <a:solidFill>
                  <a:srgbClr val="404155"/>
                </a:solidFill>
                <a:latin typeface="Arial" panose="020B0604020202020204" pitchFamily="34" charset="0"/>
                <a:ea typeface="Alexandria" pitchFamily="34" charset="-122"/>
                <a:cs typeface="Arial" panose="020B0604020202020204" pitchFamily="34" charset="0"/>
              </a:rPr>
              <a:t>4</a:t>
            </a:r>
            <a:endParaRPr lang="en-US" sz="2200" dirty="0">
              <a:latin typeface="Arial" panose="020B0604020202020204" pitchFamily="34" charset="0"/>
              <a:cs typeface="Arial" panose="020B0604020202020204" pitchFamily="34" charset="0"/>
            </a:endParaRPr>
          </a:p>
        </p:txBody>
      </p:sp>
      <p:sp>
        <p:nvSpPr>
          <p:cNvPr id="30" name="Text 23">
            <a:extLst>
              <a:ext uri="{FF2B5EF4-FFF2-40B4-BE49-F238E27FC236}">
                <a16:creationId xmlns:a16="http://schemas.microsoft.com/office/drawing/2014/main" id="{32CE3B3C-EACD-E1AF-0117-BE77A5B79E2B}"/>
              </a:ext>
            </a:extLst>
          </p:cNvPr>
          <p:cNvSpPr/>
          <p:nvPr/>
        </p:nvSpPr>
        <p:spPr>
          <a:xfrm>
            <a:off x="7603569" y="5161598"/>
            <a:ext cx="2489478" cy="293489"/>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00"/>
              </a:lnSpc>
              <a:buNone/>
            </a:pPr>
            <a:r>
              <a:rPr lang="en-US" sz="1800" dirty="0">
                <a:solidFill>
                  <a:srgbClr val="404155"/>
                </a:solidFill>
                <a:latin typeface="Arial" panose="020B0604020202020204" pitchFamily="34" charset="0"/>
                <a:ea typeface="Alexandria" pitchFamily="34" charset="-122"/>
                <a:cs typeface="Arial" panose="020B0604020202020204" pitchFamily="34" charset="0"/>
              </a:rPr>
              <a:t>Effective Power </a:t>
            </a:r>
            <a:r>
              <a:rPr lang="en-US" sz="1800" i="1" dirty="0">
                <a:solidFill>
                  <a:srgbClr val="404155"/>
                </a:solidFill>
                <a:latin typeface="Arial" panose="020B0604020202020204" pitchFamily="34" charset="0"/>
                <a:ea typeface="Alexandria" pitchFamily="34" charset="-122"/>
                <a:cs typeface="Arial" panose="020B0604020202020204" pitchFamily="34" charset="0"/>
              </a:rPr>
              <a:t>P</a:t>
            </a:r>
            <a:r>
              <a:rPr lang="en-US" sz="1800" i="1" baseline="-25000" dirty="0">
                <a:solidFill>
                  <a:srgbClr val="404155"/>
                </a:solidFill>
                <a:latin typeface="Arial" panose="020B0604020202020204" pitchFamily="34" charset="0"/>
                <a:ea typeface="Alexandria" pitchFamily="34" charset="-122"/>
                <a:cs typeface="Arial" panose="020B0604020202020204" pitchFamily="34" charset="0"/>
              </a:rPr>
              <a:t>t</a:t>
            </a:r>
            <a:r>
              <a:rPr lang="en-US" sz="1800" i="1" baseline="30000" dirty="0">
                <a:solidFill>
                  <a:srgbClr val="404155"/>
                </a:solidFill>
                <a:latin typeface="Arial" panose="020B0604020202020204" pitchFamily="34" charset="0"/>
                <a:ea typeface="Alexandria" pitchFamily="34" charset="-122"/>
                <a:cs typeface="Arial" panose="020B0604020202020204" pitchFamily="34" charset="0"/>
              </a:rPr>
              <a:t>act</a:t>
            </a:r>
            <a:endParaRPr lang="en-US" sz="1800" baseline="30000" dirty="0">
              <a:latin typeface="Arial" panose="020B0604020202020204" pitchFamily="34" charset="0"/>
              <a:cs typeface="Arial" panose="020B0604020202020204" pitchFamily="34" charset="0"/>
            </a:endParaRPr>
          </a:p>
        </p:txBody>
      </p:sp>
      <p:sp>
        <p:nvSpPr>
          <p:cNvPr id="31" name="Text 24">
            <a:extLst>
              <a:ext uri="{FF2B5EF4-FFF2-40B4-BE49-F238E27FC236}">
                <a16:creationId xmlns:a16="http://schemas.microsoft.com/office/drawing/2014/main" id="{F89FBA28-3698-DDA8-CE3C-D5B3A35F725D}"/>
              </a:ext>
            </a:extLst>
          </p:cNvPr>
          <p:cNvSpPr/>
          <p:nvPr/>
        </p:nvSpPr>
        <p:spPr>
          <a:xfrm>
            <a:off x="7603569" y="5548432"/>
            <a:ext cx="5982295" cy="274677"/>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Battery power after efficiency losses.</a:t>
            </a:r>
            <a:endParaRPr lang="en-US" sz="1600" dirty="0">
              <a:latin typeface="Arial" panose="020B0604020202020204" pitchFamily="34" charset="0"/>
              <a:cs typeface="Arial" panose="020B0604020202020204" pitchFamily="34" charset="0"/>
            </a:endParaRPr>
          </a:p>
        </p:txBody>
      </p:sp>
      <p:sp>
        <p:nvSpPr>
          <p:cNvPr id="32" name="Text 25">
            <a:extLst>
              <a:ext uri="{FF2B5EF4-FFF2-40B4-BE49-F238E27FC236}">
                <a16:creationId xmlns:a16="http://schemas.microsoft.com/office/drawing/2014/main" id="{E6E5B26F-5D8F-1456-3F4A-9921289D882A}"/>
              </a:ext>
            </a:extLst>
          </p:cNvPr>
          <p:cNvSpPr/>
          <p:nvPr/>
        </p:nvSpPr>
        <p:spPr>
          <a:xfrm>
            <a:off x="7603569" y="6019919"/>
            <a:ext cx="5982295" cy="322064"/>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endParaRPr lang="en-US" sz="1650" dirty="0">
              <a:latin typeface="Arial" panose="020B0604020202020204" pitchFamily="34" charset="0"/>
              <a:cs typeface="Arial" panose="020B0604020202020204" pitchFamily="34" charset="0"/>
            </a:endParaRPr>
          </a:p>
        </p:txBody>
      </p:sp>
      <p:sp>
        <p:nvSpPr>
          <p:cNvPr id="34" name="Shape 26">
            <a:extLst>
              <a:ext uri="{FF2B5EF4-FFF2-40B4-BE49-F238E27FC236}">
                <a16:creationId xmlns:a16="http://schemas.microsoft.com/office/drawing/2014/main" id="{765D8B53-8421-26DD-FEFF-2E1224EA7B86}"/>
              </a:ext>
            </a:extLst>
          </p:cNvPr>
          <p:cNvSpPr/>
          <p:nvPr/>
        </p:nvSpPr>
        <p:spPr>
          <a:xfrm>
            <a:off x="833914" y="6727627"/>
            <a:ext cx="12962573" cy="718542"/>
          </a:xfrm>
          <a:prstGeom prst="roundRect">
            <a:avLst>
              <a:gd name="adj" fmla="val 10981"/>
            </a:avLst>
          </a:prstGeom>
          <a:solidFill>
            <a:srgbClr val="BBCDF7"/>
          </a:solidFill>
          <a:ln/>
        </p:spPr>
        <p:txBody>
          <a:bodyPr/>
          <a:lstStyle/>
          <a:p>
            <a:endParaRPr lang="de-DE">
              <a:latin typeface="Arial" panose="020B0604020202020204" pitchFamily="34" charset="0"/>
              <a:cs typeface="Arial" panose="020B0604020202020204" pitchFamily="34" charset="0"/>
            </a:endParaRPr>
          </a:p>
        </p:txBody>
      </p:sp>
      <p:pic>
        <p:nvPicPr>
          <p:cNvPr id="35" name="Image 4">
            <a:extLst>
              <a:ext uri="{FF2B5EF4-FFF2-40B4-BE49-F238E27FC236}">
                <a16:creationId xmlns:a16="http://schemas.microsoft.com/office/drawing/2014/main" id="{782AB7C3-D2D1-C2A8-3051-DF0CEB874D62}"/>
              </a:ext>
            </a:extLst>
          </p:cNvPr>
          <p:cNvPicPr>
            <a:picLocks noChangeAspect="1"/>
          </p:cNvPicPr>
          <p:nvPr/>
        </p:nvPicPr>
        <p:blipFill>
          <a:blip r:embed="rId5"/>
          <a:stretch>
            <a:fillRect/>
          </a:stretch>
        </p:blipFill>
        <p:spPr>
          <a:xfrm>
            <a:off x="1021675" y="6988493"/>
            <a:ext cx="234791" cy="187762"/>
          </a:xfrm>
          <a:prstGeom prst="rect">
            <a:avLst/>
          </a:prstGeom>
        </p:spPr>
      </p:pic>
      <p:sp>
        <p:nvSpPr>
          <p:cNvPr id="36" name="Text 27">
            <a:extLst>
              <a:ext uri="{FF2B5EF4-FFF2-40B4-BE49-F238E27FC236}">
                <a16:creationId xmlns:a16="http://schemas.microsoft.com/office/drawing/2014/main" id="{DB215992-83FD-390C-1828-3B607994BF57}"/>
              </a:ext>
            </a:extLst>
          </p:cNvPr>
          <p:cNvSpPr/>
          <p:nvPr/>
        </p:nvSpPr>
        <p:spPr>
          <a:xfrm>
            <a:off x="1444228" y="6930033"/>
            <a:ext cx="12164497" cy="282297"/>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600" b="1" dirty="0">
                <a:solidFill>
                  <a:srgbClr val="000000"/>
                </a:solidFill>
                <a:latin typeface="Arial" panose="020B0604020202020204" pitchFamily="34" charset="0"/>
                <a:ea typeface="Nobile" pitchFamily="34" charset="-122"/>
                <a:cs typeface="Arial" panose="020B0604020202020204" pitchFamily="34" charset="0"/>
              </a:rPr>
              <a:t>Sign convention:</a:t>
            </a:r>
            <a:r>
              <a:rPr lang="en-US" sz="1600" dirty="0">
                <a:solidFill>
                  <a:srgbClr val="000000"/>
                </a:solidFill>
                <a:latin typeface="Arial" panose="020B0604020202020204" pitchFamily="34" charset="0"/>
                <a:ea typeface="Nobile" pitchFamily="34" charset="-122"/>
                <a:cs typeface="Arial" panose="020B0604020202020204" pitchFamily="34" charset="0"/>
              </a:rPr>
              <a:t> </a:t>
            </a:r>
            <a:r>
              <a:rPr lang="en-US" sz="1600" i="1" dirty="0">
                <a:solidFill>
                  <a:srgbClr val="000000"/>
                </a:solidFill>
                <a:latin typeface="Arial" panose="020B0604020202020204" pitchFamily="34" charset="0"/>
                <a:ea typeface="Nobile" pitchFamily="34" charset="-122"/>
                <a:cs typeface="Arial" panose="020B0604020202020204" pitchFamily="34" charset="0"/>
              </a:rPr>
              <a:t>P</a:t>
            </a:r>
            <a:r>
              <a:rPr lang="en-US" sz="1600" i="1" baseline="-25000" dirty="0">
                <a:solidFill>
                  <a:srgbClr val="000000"/>
                </a:solidFill>
                <a:latin typeface="Arial" panose="020B0604020202020204" pitchFamily="34" charset="0"/>
                <a:ea typeface="Nobile" pitchFamily="34" charset="-122"/>
                <a:cs typeface="Arial" panose="020B0604020202020204" pitchFamily="34" charset="0"/>
              </a:rPr>
              <a:t>t</a:t>
            </a:r>
            <a:r>
              <a:rPr lang="en-US" sz="1600" i="1" dirty="0">
                <a:solidFill>
                  <a:srgbClr val="000000"/>
                </a:solidFill>
                <a:latin typeface="Arial" panose="020B0604020202020204" pitchFamily="34" charset="0"/>
                <a:ea typeface="Nobile" pitchFamily="34" charset="-122"/>
                <a:cs typeface="Arial" panose="020B0604020202020204" pitchFamily="34" charset="0"/>
              </a:rPr>
              <a:t> &gt; 0</a:t>
            </a:r>
            <a:r>
              <a:rPr lang="en-US" sz="1600" dirty="0">
                <a:solidFill>
                  <a:srgbClr val="000000"/>
                </a:solidFill>
                <a:latin typeface="Arial" panose="020B0604020202020204" pitchFamily="34" charset="0"/>
                <a:ea typeface="Nobile" pitchFamily="34" charset="-122"/>
                <a:cs typeface="Arial" panose="020B0604020202020204" pitchFamily="34" charset="0"/>
              </a:rPr>
              <a:t> → grid import (cost); </a:t>
            </a:r>
            <a:r>
              <a:rPr lang="en-US" sz="1600" i="1" dirty="0">
                <a:solidFill>
                  <a:srgbClr val="000000"/>
                </a:solidFill>
                <a:latin typeface="Arial" panose="020B0604020202020204" pitchFamily="34" charset="0"/>
                <a:ea typeface="Nobile" pitchFamily="34" charset="-122"/>
                <a:cs typeface="Arial" panose="020B0604020202020204" pitchFamily="34" charset="0"/>
              </a:rPr>
              <a:t>P</a:t>
            </a:r>
            <a:r>
              <a:rPr lang="en-US" sz="1600" i="1" baseline="-25000" dirty="0">
                <a:solidFill>
                  <a:srgbClr val="000000"/>
                </a:solidFill>
                <a:latin typeface="Arial" panose="020B0604020202020204" pitchFamily="34" charset="0"/>
                <a:ea typeface="Nobile" pitchFamily="34" charset="-122"/>
                <a:cs typeface="Arial" panose="020B0604020202020204" pitchFamily="34" charset="0"/>
              </a:rPr>
              <a:t>t</a:t>
            </a:r>
            <a:r>
              <a:rPr lang="en-US" sz="1600" i="1" dirty="0">
                <a:solidFill>
                  <a:srgbClr val="000000"/>
                </a:solidFill>
                <a:latin typeface="Arial" panose="020B0604020202020204" pitchFamily="34" charset="0"/>
                <a:ea typeface="Nobile" pitchFamily="34" charset="-122"/>
                <a:cs typeface="Arial" panose="020B0604020202020204" pitchFamily="34" charset="0"/>
              </a:rPr>
              <a:t> &lt; 0</a:t>
            </a:r>
            <a:r>
              <a:rPr lang="en-US" sz="1600" dirty="0">
                <a:solidFill>
                  <a:srgbClr val="000000"/>
                </a:solidFill>
                <a:latin typeface="Arial" panose="020B0604020202020204" pitchFamily="34" charset="0"/>
                <a:ea typeface="Nobile" pitchFamily="34" charset="-122"/>
                <a:cs typeface="Arial" panose="020B0604020202020204" pitchFamily="34" charset="0"/>
              </a:rPr>
              <a:t> → grid export (revenue).</a:t>
            </a:r>
            <a:endParaRPr lang="en-US" sz="1600" dirty="0">
              <a:latin typeface="Arial" panose="020B0604020202020204" pitchFamily="34" charset="0"/>
              <a:cs typeface="Arial" panose="020B0604020202020204" pitchFamily="34" charset="0"/>
            </a:endParaRPr>
          </a:p>
        </p:txBody>
      </p:sp>
      <p:pic>
        <p:nvPicPr>
          <p:cNvPr id="39" name="Image 3">
            <a:extLst>
              <a:ext uri="{FF2B5EF4-FFF2-40B4-BE49-F238E27FC236}">
                <a16:creationId xmlns:a16="http://schemas.microsoft.com/office/drawing/2014/main" id="{DCFFA32C-1499-8A0C-2938-F0A6978508FB}"/>
              </a:ext>
            </a:extLst>
          </p:cNvPr>
          <p:cNvPicPr>
            <a:picLocks noChangeAspect="1"/>
          </p:cNvPicPr>
          <p:nvPr/>
        </p:nvPicPr>
        <p:blipFill>
          <a:blip r:embed="rId6"/>
          <a:stretch>
            <a:fillRect/>
          </a:stretch>
        </p:blipFill>
        <p:spPr>
          <a:xfrm>
            <a:off x="7603569" y="6019919"/>
            <a:ext cx="5982295" cy="322064"/>
          </a:xfrm>
          <a:prstGeom prst="rect">
            <a:avLst/>
          </a:prstGeom>
        </p:spPr>
      </p:pic>
      <p:sp>
        <p:nvSpPr>
          <p:cNvPr id="4" name="Slide Number Placeholder 3">
            <a:extLst>
              <a:ext uri="{FF2B5EF4-FFF2-40B4-BE49-F238E27FC236}">
                <a16:creationId xmlns:a16="http://schemas.microsoft.com/office/drawing/2014/main" id="{AF7FE21F-1F87-5F29-441B-6DA393652A76}"/>
              </a:ext>
            </a:extLst>
          </p:cNvPr>
          <p:cNvSpPr>
            <a:spLocks noGrp="1"/>
          </p:cNvSpPr>
          <p:nvPr>
            <p:ph type="sldNum" sz="quarter" idx="10"/>
          </p:nvPr>
        </p:nvSpPr>
        <p:spPr/>
        <p:txBody>
          <a:bodyPr/>
          <a:lstStyle/>
          <a:p>
            <a:fld id="{A02D9A9C-251E-4686-914B-47E3F39F30D8}" type="slidenum">
              <a:rPr lang="de-DE" smtClean="0"/>
              <a:t>3</a:t>
            </a:fld>
            <a:endParaRPr lang="de-DE"/>
          </a:p>
        </p:txBody>
      </p:sp>
    </p:spTree>
    <p:extLst>
      <p:ext uri="{BB962C8B-B14F-4D97-AF65-F5344CB8AC3E}">
        <p14:creationId xmlns:p14="http://schemas.microsoft.com/office/powerpoint/2010/main" val="1943670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2CD3A75-B0E3-8B71-E5B6-D5296BA5293B}"/>
              </a:ext>
            </a:extLst>
          </p:cNvPr>
          <p:cNvSpPr/>
          <p:nvPr/>
        </p:nvSpPr>
        <p:spPr>
          <a:xfrm>
            <a:off x="708303" y="763263"/>
            <a:ext cx="9924336" cy="708779"/>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5550"/>
              </a:lnSpc>
              <a:buNone/>
            </a:pPr>
            <a:r>
              <a:rPr lang="en-US" sz="3600" dirty="0">
                <a:solidFill>
                  <a:srgbClr val="1B1B27"/>
                </a:solidFill>
                <a:latin typeface="Arial" panose="020B0604020202020204" pitchFamily="34" charset="0"/>
                <a:ea typeface="Alexandria" pitchFamily="34" charset="-122"/>
                <a:cs typeface="Arial" panose="020B0604020202020204" pitchFamily="34" charset="0"/>
              </a:rPr>
              <a:t>Objective: Minimize Electricity Cost (1)</a:t>
            </a:r>
            <a:endParaRPr lang="en-US" sz="3600" dirty="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8CFF67DE-7451-1D43-5746-9616D540B144}"/>
              </a:ext>
            </a:extLst>
          </p:cNvPr>
          <p:cNvSpPr/>
          <p:nvPr/>
        </p:nvSpPr>
        <p:spPr>
          <a:xfrm>
            <a:off x="708303" y="2016276"/>
            <a:ext cx="6244709" cy="733425"/>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Minimize total energy procurement cost over the horizon </a:t>
            </a:r>
            <a:r>
              <a:rPr lang="en-US" sz="1600" i="1" dirty="0">
                <a:solidFill>
                  <a:srgbClr val="404155"/>
                </a:solidFill>
                <a:latin typeface="Arial" panose="020B0604020202020204" pitchFamily="34" charset="0"/>
                <a:ea typeface="Nobile" pitchFamily="34" charset="-122"/>
                <a:cs typeface="Arial" panose="020B0604020202020204" pitchFamily="34" charset="0"/>
              </a:rPr>
              <a:t>T</a:t>
            </a:r>
            <a:r>
              <a:rPr lang="en-US" sz="1600" dirty="0">
                <a:solidFill>
                  <a:srgbClr val="404155"/>
                </a:solidFill>
                <a:latin typeface="Arial" panose="020B0604020202020204" pitchFamily="34" charset="0"/>
                <a:ea typeface="Nobile" pitchFamily="34" charset="-122"/>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23AC71A2-0946-3150-FE61-18677FB6E150}"/>
              </a:ext>
            </a:extLst>
          </p:cNvPr>
          <p:cNvSpPr/>
          <p:nvPr/>
        </p:nvSpPr>
        <p:spPr>
          <a:xfrm>
            <a:off x="708303" y="3036761"/>
            <a:ext cx="6244709" cy="955715"/>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200"/>
              </a:lnSpc>
              <a:buNone/>
            </a:pPr>
            <a:endParaRPr lang="en-US" sz="2000" dirty="0">
              <a:latin typeface="Arial" panose="020B0604020202020204" pitchFamily="34" charset="0"/>
              <a:cs typeface="Arial" panose="020B0604020202020204" pitchFamily="34" charset="0"/>
            </a:endParaRPr>
          </a:p>
        </p:txBody>
      </p:sp>
      <p:pic>
        <p:nvPicPr>
          <p:cNvPr id="5" name="Image 0">
            <a:extLst>
              <a:ext uri="{FF2B5EF4-FFF2-40B4-BE49-F238E27FC236}">
                <a16:creationId xmlns:a16="http://schemas.microsoft.com/office/drawing/2014/main" id="{063DBD4C-4E18-00D3-E74B-B0AEA078A229}"/>
              </a:ext>
            </a:extLst>
          </p:cNvPr>
          <p:cNvPicPr>
            <a:picLocks noChangeAspect="1"/>
          </p:cNvPicPr>
          <p:nvPr/>
        </p:nvPicPr>
        <p:blipFill>
          <a:blip r:embed="rId2"/>
          <a:stretch>
            <a:fillRect/>
          </a:stretch>
        </p:blipFill>
        <p:spPr>
          <a:xfrm>
            <a:off x="708303" y="3036761"/>
            <a:ext cx="6244709" cy="955715"/>
          </a:xfrm>
          <a:prstGeom prst="rect">
            <a:avLst/>
          </a:prstGeom>
        </p:spPr>
      </p:pic>
      <p:sp>
        <p:nvSpPr>
          <p:cNvPr id="6" name="Text 3">
            <a:extLst>
              <a:ext uri="{FF2B5EF4-FFF2-40B4-BE49-F238E27FC236}">
                <a16:creationId xmlns:a16="http://schemas.microsoft.com/office/drawing/2014/main" id="{F0519FDC-2649-0222-FC60-96B2A6F45F00}"/>
              </a:ext>
            </a:extLst>
          </p:cNvPr>
          <p:cNvSpPr/>
          <p:nvPr/>
        </p:nvSpPr>
        <p:spPr>
          <a:xfrm>
            <a:off x="708303" y="4279536"/>
            <a:ext cx="6244709" cy="1096328"/>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where </a:t>
            </a:r>
            <a:r>
              <a:rPr lang="el-GR" sz="1600" i="1" dirty="0">
                <a:solidFill>
                  <a:srgbClr val="000000"/>
                </a:solidFill>
                <a:latin typeface="Arial" panose="020B0604020202020204" pitchFamily="34" charset="0"/>
                <a:ea typeface="Nobile" pitchFamily="34" charset="-122"/>
                <a:cs typeface="Arial" panose="020B0604020202020204" pitchFamily="34" charset="0"/>
              </a:rPr>
              <a:t>π</a:t>
            </a:r>
            <a:r>
              <a:rPr lang="de-DE" sz="1600" i="1" baseline="-25000" dirty="0">
                <a:solidFill>
                  <a:srgbClr val="000000"/>
                </a:solidFill>
                <a:latin typeface="Arial" panose="020B0604020202020204" pitchFamily="34" charset="0"/>
                <a:ea typeface="Nobile" pitchFamily="34" charset="-122"/>
                <a:cs typeface="Arial" panose="020B0604020202020204" pitchFamily="34" charset="0"/>
              </a:rPr>
              <a:t>t</a:t>
            </a:r>
            <a:r>
              <a:rPr lang="en-US" sz="1600" i="1" dirty="0">
                <a:solidFill>
                  <a:srgbClr val="000000"/>
                </a:solidFill>
                <a:latin typeface="Arial" panose="020B0604020202020204" pitchFamily="34" charset="0"/>
                <a:ea typeface="Nobile" pitchFamily="34" charset="-122"/>
                <a:cs typeface="Arial" panose="020B0604020202020204" pitchFamily="34" charset="0"/>
              </a:rPr>
              <a:t> </a:t>
            </a:r>
            <a:r>
              <a:rPr lang="en-US" sz="1600" dirty="0">
                <a:solidFill>
                  <a:srgbClr val="404155"/>
                </a:solidFill>
                <a:latin typeface="Arial" panose="020B0604020202020204" pitchFamily="34" charset="0"/>
                <a:ea typeface="Nobile" pitchFamily="34" charset="-122"/>
                <a:cs typeface="Arial" panose="020B0604020202020204" pitchFamily="34" charset="0"/>
              </a:rPr>
              <a:t>is the electricity spot price at step </a:t>
            </a:r>
            <a:r>
              <a:rPr lang="en-US" sz="1600" i="1" dirty="0">
                <a:solidFill>
                  <a:srgbClr val="404155"/>
                </a:solidFill>
                <a:latin typeface="Arial" panose="020B0604020202020204" pitchFamily="34" charset="0"/>
                <a:ea typeface="Nobile" pitchFamily="34" charset="-122"/>
                <a:cs typeface="Arial" panose="020B0604020202020204" pitchFamily="34" charset="0"/>
              </a:rPr>
              <a:t>t</a:t>
            </a:r>
            <a:r>
              <a:rPr lang="en-US" sz="1600" dirty="0">
                <a:solidFill>
                  <a:srgbClr val="404155"/>
                </a:solidFill>
                <a:latin typeface="Arial" panose="020B0604020202020204" pitchFamily="34" charset="0"/>
                <a:ea typeface="Nobile" pitchFamily="34" charset="-122"/>
                <a:cs typeface="Arial" panose="020B0604020202020204" pitchFamily="34" charset="0"/>
              </a:rPr>
              <a:t>. The optimizer exploits low-price periods to charge and high-price periods to discharge, reducing net grid cost.</a:t>
            </a:r>
            <a:endParaRPr lang="en-US" sz="1600" dirty="0">
              <a:latin typeface="Arial" panose="020B0604020202020204" pitchFamily="34" charset="0"/>
              <a:cs typeface="Arial" panose="020B0604020202020204" pitchFamily="34" charset="0"/>
            </a:endParaRPr>
          </a:p>
        </p:txBody>
      </p:sp>
      <p:sp>
        <p:nvSpPr>
          <p:cNvPr id="7" name="Shape 4">
            <a:extLst>
              <a:ext uri="{FF2B5EF4-FFF2-40B4-BE49-F238E27FC236}">
                <a16:creationId xmlns:a16="http://schemas.microsoft.com/office/drawing/2014/main" id="{0376E915-8D3A-9E52-0D72-1E656EA39E40}"/>
              </a:ext>
            </a:extLst>
          </p:cNvPr>
          <p:cNvSpPr/>
          <p:nvPr/>
        </p:nvSpPr>
        <p:spPr>
          <a:xfrm>
            <a:off x="7350681" y="1812203"/>
            <a:ext cx="6571417" cy="3767733"/>
          </a:xfrm>
          <a:prstGeom prst="roundRect">
            <a:avLst>
              <a:gd name="adj" fmla="val 4335"/>
            </a:avLst>
          </a:prstGeom>
          <a:solidFill>
            <a:srgbClr val="D2DDF9"/>
          </a:solidFill>
          <a:ln/>
        </p:spPr>
        <p:txBody>
          <a:bodyPr/>
          <a:lstStyle/>
          <a:p>
            <a:endParaRPr lang="de-DE">
              <a:latin typeface="Arial" panose="020B0604020202020204" pitchFamily="34" charset="0"/>
              <a:cs typeface="Arial" panose="020B0604020202020204" pitchFamily="34" charset="0"/>
            </a:endParaRPr>
          </a:p>
        </p:txBody>
      </p:sp>
      <p:sp>
        <p:nvSpPr>
          <p:cNvPr id="8" name="Text 5">
            <a:extLst>
              <a:ext uri="{FF2B5EF4-FFF2-40B4-BE49-F238E27FC236}">
                <a16:creationId xmlns:a16="http://schemas.microsoft.com/office/drawing/2014/main" id="{C93C41AC-2FF8-06FB-005D-36208E181D4B}"/>
              </a:ext>
            </a:extLst>
          </p:cNvPr>
          <p:cNvSpPr/>
          <p:nvPr/>
        </p:nvSpPr>
        <p:spPr>
          <a:xfrm>
            <a:off x="7577495" y="2039017"/>
            <a:ext cx="2835235" cy="354330"/>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dirty="0">
                <a:solidFill>
                  <a:srgbClr val="1B1B27"/>
                </a:solidFill>
                <a:latin typeface="Arial" panose="020B0604020202020204" pitchFamily="34" charset="0"/>
                <a:ea typeface="Alexandria" pitchFamily="34" charset="-122"/>
                <a:cs typeface="Arial" panose="020B0604020202020204" pitchFamily="34" charset="0"/>
              </a:rPr>
              <a:t>Variable Legend</a:t>
            </a:r>
            <a:endParaRPr lang="en-US" dirty="0">
              <a:latin typeface="Arial" panose="020B0604020202020204" pitchFamily="34" charset="0"/>
              <a:cs typeface="Arial" panose="020B0604020202020204" pitchFamily="34" charset="0"/>
            </a:endParaRPr>
          </a:p>
        </p:txBody>
      </p:sp>
      <p:sp>
        <p:nvSpPr>
          <p:cNvPr id="9" name="Text 6">
            <a:extLst>
              <a:ext uri="{FF2B5EF4-FFF2-40B4-BE49-F238E27FC236}">
                <a16:creationId xmlns:a16="http://schemas.microsoft.com/office/drawing/2014/main" id="{E4E3D43B-8B98-E1B1-8FB5-F51E6E262E02}"/>
              </a:ext>
            </a:extLst>
          </p:cNvPr>
          <p:cNvSpPr/>
          <p:nvPr/>
        </p:nvSpPr>
        <p:spPr>
          <a:xfrm>
            <a:off x="7577495" y="2620162"/>
            <a:ext cx="6117788" cy="1719977"/>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850"/>
              </a:lnSpc>
              <a:buSzPct val="100000"/>
              <a:buChar char="•"/>
            </a:pPr>
            <a:r>
              <a:rPr lang="el-GR" sz="1600" b="1" i="1" dirty="0">
                <a:solidFill>
                  <a:srgbClr val="000000"/>
                </a:solidFill>
                <a:latin typeface="Arial" panose="020B0604020202020204" pitchFamily="34" charset="0"/>
                <a:ea typeface="Nobile" pitchFamily="34" charset="-122"/>
                <a:cs typeface="Arial" panose="020B0604020202020204" pitchFamily="34" charset="0"/>
              </a:rPr>
              <a:t>π</a:t>
            </a:r>
            <a:r>
              <a:rPr lang="de-DE" sz="1600" b="1" i="1" baseline="-25000" dirty="0">
                <a:solidFill>
                  <a:srgbClr val="000000"/>
                </a:solidFill>
                <a:latin typeface="Arial" panose="020B0604020202020204" pitchFamily="34" charset="0"/>
                <a:ea typeface="Nobile" pitchFamily="34" charset="-122"/>
                <a:cs typeface="Arial" panose="020B0604020202020204" pitchFamily="34" charset="0"/>
              </a:rPr>
              <a:t>t</a:t>
            </a:r>
            <a:r>
              <a:rPr lang="en-US" sz="1600" b="1" i="1" dirty="0">
                <a:solidFill>
                  <a:srgbClr val="000000"/>
                </a:solidFill>
                <a:latin typeface="Arial" panose="020B0604020202020204" pitchFamily="34" charset="0"/>
                <a:ea typeface="Nobile" pitchFamily="34" charset="-122"/>
                <a:cs typeface="Arial" panose="020B0604020202020204" pitchFamily="34" charset="0"/>
              </a:rPr>
              <a:t> </a:t>
            </a:r>
            <a:r>
              <a:rPr lang="en-US" sz="1600" dirty="0">
                <a:solidFill>
                  <a:srgbClr val="000000"/>
                </a:solidFill>
                <a:latin typeface="Arial" panose="020B0604020202020204" pitchFamily="34" charset="0"/>
                <a:ea typeface="Nobile" pitchFamily="34" charset="-122"/>
                <a:cs typeface="Arial" panose="020B0604020202020204" pitchFamily="34" charset="0"/>
              </a:rPr>
              <a:t>— electricity price at time </a:t>
            </a:r>
            <a:r>
              <a:rPr lang="en-US" sz="1600" i="1" dirty="0">
                <a:solidFill>
                  <a:srgbClr val="000000"/>
                </a:solidFill>
                <a:latin typeface="Arial" panose="020B0604020202020204" pitchFamily="34" charset="0"/>
                <a:ea typeface="Nobile" pitchFamily="34" charset="-122"/>
                <a:cs typeface="Arial" panose="020B0604020202020204" pitchFamily="34" charset="0"/>
              </a:rPr>
              <a:t>t</a:t>
            </a:r>
            <a:endParaRPr lang="en-US" sz="1600" dirty="0">
              <a:latin typeface="Arial" panose="020B0604020202020204" pitchFamily="34" charset="0"/>
              <a:cs typeface="Arial" panose="020B0604020202020204" pitchFamily="34" charset="0"/>
            </a:endParaRPr>
          </a:p>
          <a:p>
            <a:pPr marL="342900" indent="-342900" algn="l">
              <a:lnSpc>
                <a:spcPts val="2850"/>
              </a:lnSpc>
              <a:buSzPct val="100000"/>
              <a:buChar char="•"/>
            </a:pPr>
            <a:r>
              <a:rPr lang="en-US" sz="1600" b="1" i="1" dirty="0">
                <a:solidFill>
                  <a:srgbClr val="000000"/>
                </a:solidFill>
                <a:latin typeface="Arial" panose="020B0604020202020204" pitchFamily="34" charset="0"/>
                <a:ea typeface="Nobile" pitchFamily="34" charset="-122"/>
                <a:cs typeface="Arial" panose="020B0604020202020204" pitchFamily="34" charset="0"/>
              </a:rPr>
              <a:t>P</a:t>
            </a:r>
            <a:r>
              <a:rPr lang="en-US" sz="1600" b="1" i="1" baseline="-25000" dirty="0">
                <a:solidFill>
                  <a:srgbClr val="000000"/>
                </a:solidFill>
                <a:latin typeface="Arial" panose="020B0604020202020204" pitchFamily="34" charset="0"/>
                <a:ea typeface="Nobile" pitchFamily="34" charset="-122"/>
                <a:cs typeface="Arial" panose="020B0604020202020204" pitchFamily="34" charset="0"/>
              </a:rPr>
              <a:t>t</a:t>
            </a:r>
            <a:r>
              <a:rPr lang="en-US" sz="1600" b="1" i="1" dirty="0">
                <a:solidFill>
                  <a:srgbClr val="000000"/>
                </a:solidFill>
                <a:latin typeface="Arial" panose="020B0604020202020204" pitchFamily="34" charset="0"/>
                <a:ea typeface="Nobile" pitchFamily="34" charset="-122"/>
                <a:cs typeface="Arial" panose="020B0604020202020204" pitchFamily="34" charset="0"/>
              </a:rPr>
              <a:t> &gt; 0</a:t>
            </a:r>
            <a:r>
              <a:rPr lang="en-US" sz="1600" dirty="0">
                <a:solidFill>
                  <a:srgbClr val="000000"/>
                </a:solidFill>
                <a:latin typeface="Arial" panose="020B0604020202020204" pitchFamily="34" charset="0"/>
                <a:ea typeface="Nobile" pitchFamily="34" charset="-122"/>
                <a:cs typeface="Arial" panose="020B0604020202020204" pitchFamily="34" charset="0"/>
              </a:rPr>
              <a:t> — import; pay </a:t>
            </a:r>
            <a:r>
              <a:rPr lang="el-GR" sz="1600" dirty="0">
                <a:solidFill>
                  <a:srgbClr val="000000"/>
                </a:solidFill>
                <a:latin typeface="Arial" panose="020B0604020202020204" pitchFamily="34" charset="0"/>
                <a:ea typeface="Nobile" pitchFamily="34" charset="-122"/>
                <a:cs typeface="Arial" panose="020B0604020202020204" pitchFamily="34" charset="0"/>
              </a:rPr>
              <a:t>π</a:t>
            </a:r>
            <a:r>
              <a:rPr lang="de-DE" sz="1600" baseline="-25000" dirty="0">
                <a:solidFill>
                  <a:srgbClr val="000000"/>
                </a:solidFill>
                <a:latin typeface="Arial" panose="020B0604020202020204" pitchFamily="34" charset="0"/>
                <a:ea typeface="Nobile" pitchFamily="34" charset="-122"/>
                <a:cs typeface="Arial" panose="020B0604020202020204" pitchFamily="34" charset="0"/>
              </a:rPr>
              <a:t>t</a:t>
            </a:r>
            <a:r>
              <a:rPr lang="en-US" sz="1600" dirty="0">
                <a:solidFill>
                  <a:srgbClr val="000000"/>
                </a:solidFill>
                <a:latin typeface="Arial" panose="020B0604020202020204" pitchFamily="34" charset="0"/>
                <a:ea typeface="Nobile" pitchFamily="34" charset="-122"/>
                <a:cs typeface="Arial" panose="020B0604020202020204" pitchFamily="34" charset="0"/>
              </a:rPr>
              <a:t>.</a:t>
            </a:r>
            <a:r>
              <a:rPr lang="en-US" sz="1600" i="1" dirty="0">
                <a:solidFill>
                  <a:srgbClr val="000000"/>
                </a:solidFill>
                <a:latin typeface="Arial" panose="020B0604020202020204" pitchFamily="34" charset="0"/>
                <a:ea typeface="Nobile" pitchFamily="34" charset="-122"/>
                <a:cs typeface="Arial" panose="020B0604020202020204" pitchFamily="34" charset="0"/>
              </a:rPr>
              <a:t>Pt</a:t>
            </a:r>
            <a:endParaRPr lang="en-US" sz="1600" dirty="0">
              <a:latin typeface="Arial" panose="020B0604020202020204" pitchFamily="34" charset="0"/>
              <a:cs typeface="Arial" panose="020B0604020202020204" pitchFamily="34" charset="0"/>
            </a:endParaRPr>
          </a:p>
          <a:p>
            <a:pPr marL="342900" indent="-342900" algn="l">
              <a:lnSpc>
                <a:spcPts val="2850"/>
              </a:lnSpc>
              <a:buSzPct val="100000"/>
              <a:buChar char="•"/>
            </a:pPr>
            <a:r>
              <a:rPr lang="en-US" sz="1600" b="1" i="1" dirty="0">
                <a:solidFill>
                  <a:srgbClr val="000000"/>
                </a:solidFill>
                <a:latin typeface="Arial" panose="020B0604020202020204" pitchFamily="34" charset="0"/>
                <a:ea typeface="Nobile" pitchFamily="34" charset="-122"/>
                <a:cs typeface="Arial" panose="020B0604020202020204" pitchFamily="34" charset="0"/>
              </a:rPr>
              <a:t>P</a:t>
            </a:r>
            <a:r>
              <a:rPr lang="en-US" sz="1600" b="1" i="1" baseline="-25000" dirty="0">
                <a:solidFill>
                  <a:srgbClr val="000000"/>
                </a:solidFill>
                <a:latin typeface="Arial" panose="020B0604020202020204" pitchFamily="34" charset="0"/>
                <a:ea typeface="Nobile" pitchFamily="34" charset="-122"/>
                <a:cs typeface="Arial" panose="020B0604020202020204" pitchFamily="34" charset="0"/>
              </a:rPr>
              <a:t>t</a:t>
            </a:r>
            <a:r>
              <a:rPr lang="en-US" sz="1600" b="1" i="1" dirty="0">
                <a:solidFill>
                  <a:srgbClr val="000000"/>
                </a:solidFill>
                <a:latin typeface="Arial" panose="020B0604020202020204" pitchFamily="34" charset="0"/>
                <a:ea typeface="Nobile" pitchFamily="34" charset="-122"/>
                <a:cs typeface="Arial" panose="020B0604020202020204" pitchFamily="34" charset="0"/>
              </a:rPr>
              <a:t> &lt; 0</a:t>
            </a:r>
            <a:r>
              <a:rPr lang="en-US" sz="1600" dirty="0">
                <a:solidFill>
                  <a:srgbClr val="000000"/>
                </a:solidFill>
                <a:latin typeface="Arial" panose="020B0604020202020204" pitchFamily="34" charset="0"/>
                <a:ea typeface="Nobile" pitchFamily="34" charset="-122"/>
                <a:cs typeface="Arial" panose="020B0604020202020204" pitchFamily="34" charset="0"/>
              </a:rPr>
              <a:t> — export; earn |</a:t>
            </a:r>
            <a:r>
              <a:rPr lang="el-GR" sz="1600" dirty="0">
                <a:solidFill>
                  <a:srgbClr val="000000"/>
                </a:solidFill>
                <a:latin typeface="Arial" panose="020B0604020202020204" pitchFamily="34" charset="0"/>
                <a:ea typeface="Nobile" pitchFamily="34" charset="-122"/>
                <a:cs typeface="Arial" panose="020B0604020202020204" pitchFamily="34" charset="0"/>
              </a:rPr>
              <a:t>π</a:t>
            </a:r>
            <a:r>
              <a:rPr lang="de-DE" sz="1600" baseline="-25000" dirty="0">
                <a:solidFill>
                  <a:srgbClr val="000000"/>
                </a:solidFill>
                <a:latin typeface="Arial" panose="020B0604020202020204" pitchFamily="34" charset="0"/>
                <a:ea typeface="Nobile" pitchFamily="34" charset="-122"/>
                <a:cs typeface="Arial" panose="020B0604020202020204" pitchFamily="34" charset="0"/>
              </a:rPr>
              <a:t>t</a:t>
            </a:r>
            <a:r>
              <a:rPr lang="en-US" sz="1600" baseline="-25000" dirty="0">
                <a:solidFill>
                  <a:srgbClr val="000000"/>
                </a:solidFill>
                <a:latin typeface="Arial" panose="020B0604020202020204" pitchFamily="34" charset="0"/>
                <a:ea typeface="Nobile" pitchFamily="34" charset="-122"/>
                <a:cs typeface="Arial" panose="020B0604020202020204" pitchFamily="34" charset="0"/>
              </a:rPr>
              <a:t> </a:t>
            </a:r>
            <a:r>
              <a:rPr lang="en-US" sz="1600" i="1" dirty="0">
                <a:solidFill>
                  <a:srgbClr val="000000"/>
                </a:solidFill>
                <a:latin typeface="Arial" panose="020B0604020202020204" pitchFamily="34" charset="0"/>
                <a:ea typeface="Nobile" pitchFamily="34" charset="-122"/>
                <a:cs typeface="Arial" panose="020B0604020202020204" pitchFamily="34" charset="0"/>
              </a:rPr>
              <a:t>.Pt|</a:t>
            </a:r>
            <a:endParaRPr lang="en-US" sz="1600" dirty="0">
              <a:latin typeface="Arial" panose="020B0604020202020204" pitchFamily="34" charset="0"/>
              <a:cs typeface="Arial" panose="020B0604020202020204" pitchFamily="34" charset="0"/>
            </a:endParaRPr>
          </a:p>
          <a:p>
            <a:pPr marL="342900" indent="-342900" algn="l">
              <a:lnSpc>
                <a:spcPts val="2850"/>
              </a:lnSpc>
              <a:buSzPct val="100000"/>
              <a:buChar char="•"/>
            </a:pPr>
            <a:r>
              <a:rPr lang="en-US" sz="1600" b="1" i="1" dirty="0">
                <a:solidFill>
                  <a:srgbClr val="000000"/>
                </a:solidFill>
                <a:latin typeface="Arial" panose="020B0604020202020204" pitchFamily="34" charset="0"/>
                <a:ea typeface="Nobile" pitchFamily="34" charset="-122"/>
                <a:cs typeface="Arial" panose="020B0604020202020204" pitchFamily="34" charset="0"/>
              </a:rPr>
              <a:t>T</a:t>
            </a:r>
            <a:r>
              <a:rPr lang="en-US" sz="1600" dirty="0">
                <a:solidFill>
                  <a:srgbClr val="000000"/>
                </a:solidFill>
                <a:latin typeface="Arial" panose="020B0604020202020204" pitchFamily="34" charset="0"/>
                <a:ea typeface="Nobile" pitchFamily="34" charset="-122"/>
                <a:cs typeface="Arial" panose="020B0604020202020204" pitchFamily="34" charset="0"/>
              </a:rPr>
              <a:t> — optimization horizon length</a:t>
            </a:r>
            <a:endParaRPr lang="en-US" sz="1600" dirty="0">
              <a:latin typeface="Arial" panose="020B0604020202020204" pitchFamily="34" charset="0"/>
              <a:cs typeface="Arial" panose="020B0604020202020204" pitchFamily="34" charset="0"/>
            </a:endParaRPr>
          </a:p>
        </p:txBody>
      </p:sp>
      <p:sp>
        <p:nvSpPr>
          <p:cNvPr id="11" name="Slide Number Placeholder 10">
            <a:extLst>
              <a:ext uri="{FF2B5EF4-FFF2-40B4-BE49-F238E27FC236}">
                <a16:creationId xmlns:a16="http://schemas.microsoft.com/office/drawing/2014/main" id="{13C8C4D1-AF58-9B30-31E0-09303000964C}"/>
              </a:ext>
            </a:extLst>
          </p:cNvPr>
          <p:cNvSpPr>
            <a:spLocks noGrp="1"/>
          </p:cNvSpPr>
          <p:nvPr>
            <p:ph type="sldNum" sz="quarter" idx="10"/>
          </p:nvPr>
        </p:nvSpPr>
        <p:spPr/>
        <p:txBody>
          <a:bodyPr/>
          <a:lstStyle/>
          <a:p>
            <a:fld id="{A02D9A9C-251E-4686-914B-47E3F39F30D8}" type="slidenum">
              <a:rPr lang="de-DE" smtClean="0"/>
              <a:t>4</a:t>
            </a:fld>
            <a:endParaRPr lang="de-DE"/>
          </a:p>
        </p:txBody>
      </p:sp>
    </p:spTree>
    <p:extLst>
      <p:ext uri="{BB962C8B-B14F-4D97-AF65-F5344CB8AC3E}">
        <p14:creationId xmlns:p14="http://schemas.microsoft.com/office/powerpoint/2010/main" val="2793875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E7AC6FC-E533-9527-4EA9-27D68D839484}"/>
              </a:ext>
            </a:extLst>
          </p:cNvPr>
          <p:cNvSpPr/>
          <p:nvPr/>
        </p:nvSpPr>
        <p:spPr>
          <a:xfrm>
            <a:off x="707350" y="727650"/>
            <a:ext cx="9705142" cy="631627"/>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950"/>
              </a:lnSpc>
              <a:buNone/>
            </a:pPr>
            <a:r>
              <a:rPr lang="en-US" sz="3600" dirty="0">
                <a:solidFill>
                  <a:srgbClr val="1B1B27"/>
                </a:solidFill>
                <a:latin typeface="Arial" panose="020B0604020202020204" pitchFamily="34" charset="0"/>
                <a:ea typeface="Alexandria" pitchFamily="34" charset="-122"/>
                <a:cs typeface="Arial" panose="020B0604020202020204" pitchFamily="34" charset="0"/>
              </a:rPr>
              <a:t>Constraints: Smooth power mapping (2)</a:t>
            </a:r>
            <a:endParaRPr lang="en-US" sz="3600" dirty="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3884B920-B719-76D5-AB0A-E42369EFFB58}"/>
              </a:ext>
            </a:extLst>
          </p:cNvPr>
          <p:cNvSpPr/>
          <p:nvPr/>
        </p:nvSpPr>
        <p:spPr>
          <a:xfrm>
            <a:off x="707350" y="1719441"/>
            <a:ext cx="13215699" cy="611505"/>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Non-differentiable switching at SOC limits is approximated by smooth tanh-based gates, enabling gradient-based solvers.</a:t>
            </a:r>
            <a:endParaRPr lang="en-US" sz="16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ABB5678C-3C6A-0B89-904D-BC41D4FCE9AF}"/>
              </a:ext>
            </a:extLst>
          </p:cNvPr>
          <p:cNvSpPr/>
          <p:nvPr/>
        </p:nvSpPr>
        <p:spPr>
          <a:xfrm>
            <a:off x="707350" y="2558831"/>
            <a:ext cx="13215699" cy="353020"/>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00"/>
              </a:lnSpc>
              <a:buNone/>
            </a:pPr>
            <a:endParaRPr lang="en-US" sz="1750" dirty="0">
              <a:latin typeface="Arial" panose="020B0604020202020204" pitchFamily="34" charset="0"/>
              <a:cs typeface="Arial" panose="020B0604020202020204" pitchFamily="34" charset="0"/>
            </a:endParaRPr>
          </a:p>
        </p:txBody>
      </p:sp>
      <p:pic>
        <p:nvPicPr>
          <p:cNvPr id="5" name="Image 0">
            <a:extLst>
              <a:ext uri="{FF2B5EF4-FFF2-40B4-BE49-F238E27FC236}">
                <a16:creationId xmlns:a16="http://schemas.microsoft.com/office/drawing/2014/main" id="{5BFAF1AB-223F-6747-E151-444EF1A31C86}"/>
              </a:ext>
            </a:extLst>
          </p:cNvPr>
          <p:cNvPicPr>
            <a:picLocks noChangeAspect="1"/>
          </p:cNvPicPr>
          <p:nvPr/>
        </p:nvPicPr>
        <p:blipFill>
          <a:blip r:embed="rId2"/>
          <a:stretch>
            <a:fillRect/>
          </a:stretch>
        </p:blipFill>
        <p:spPr>
          <a:xfrm>
            <a:off x="707350" y="2558831"/>
            <a:ext cx="13215699" cy="353020"/>
          </a:xfrm>
          <a:prstGeom prst="rect">
            <a:avLst/>
          </a:prstGeom>
        </p:spPr>
      </p:pic>
      <p:sp>
        <p:nvSpPr>
          <p:cNvPr id="6" name="Text 3">
            <a:extLst>
              <a:ext uri="{FF2B5EF4-FFF2-40B4-BE49-F238E27FC236}">
                <a16:creationId xmlns:a16="http://schemas.microsoft.com/office/drawing/2014/main" id="{5F99ECA0-5CD8-78BE-293D-114375FEB736}"/>
              </a:ext>
            </a:extLst>
          </p:cNvPr>
          <p:cNvSpPr/>
          <p:nvPr/>
        </p:nvSpPr>
        <p:spPr>
          <a:xfrm>
            <a:off x="707350" y="3139737"/>
            <a:ext cx="13215699" cy="305753"/>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The gated power map becomes:</a:t>
            </a:r>
            <a:endParaRPr lang="en-US" sz="1600" dirty="0">
              <a:latin typeface="Arial" panose="020B0604020202020204" pitchFamily="34" charset="0"/>
              <a:cs typeface="Arial" panose="020B0604020202020204" pitchFamily="34" charset="0"/>
            </a:endParaRPr>
          </a:p>
        </p:txBody>
      </p:sp>
      <p:sp>
        <p:nvSpPr>
          <p:cNvPr id="7" name="Text 4">
            <a:extLst>
              <a:ext uri="{FF2B5EF4-FFF2-40B4-BE49-F238E27FC236}">
                <a16:creationId xmlns:a16="http://schemas.microsoft.com/office/drawing/2014/main" id="{A8C663EA-808E-D4B4-778A-27B6115B8359}"/>
              </a:ext>
            </a:extLst>
          </p:cNvPr>
          <p:cNvSpPr/>
          <p:nvPr/>
        </p:nvSpPr>
        <p:spPr>
          <a:xfrm>
            <a:off x="707350" y="3673375"/>
            <a:ext cx="13215699" cy="789622"/>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00"/>
              </a:lnSpc>
              <a:buNone/>
            </a:pPr>
            <a:endParaRPr lang="en-US" sz="1750" dirty="0">
              <a:latin typeface="Arial" panose="020B0604020202020204" pitchFamily="34" charset="0"/>
              <a:cs typeface="Arial" panose="020B0604020202020204" pitchFamily="34" charset="0"/>
            </a:endParaRPr>
          </a:p>
        </p:txBody>
      </p:sp>
      <p:pic>
        <p:nvPicPr>
          <p:cNvPr id="8" name="Image 1">
            <a:extLst>
              <a:ext uri="{FF2B5EF4-FFF2-40B4-BE49-F238E27FC236}">
                <a16:creationId xmlns:a16="http://schemas.microsoft.com/office/drawing/2014/main" id="{90651D83-5F2B-719A-962B-4C10CAC7F4CA}"/>
              </a:ext>
            </a:extLst>
          </p:cNvPr>
          <p:cNvPicPr>
            <a:picLocks noChangeAspect="1"/>
          </p:cNvPicPr>
          <p:nvPr/>
        </p:nvPicPr>
        <p:blipFill>
          <a:blip r:embed="rId3"/>
          <a:stretch>
            <a:fillRect/>
          </a:stretch>
        </p:blipFill>
        <p:spPr>
          <a:xfrm>
            <a:off x="707350" y="3673375"/>
            <a:ext cx="13215699" cy="789622"/>
          </a:xfrm>
          <a:prstGeom prst="rect">
            <a:avLst/>
          </a:prstGeom>
        </p:spPr>
      </p:pic>
      <p:sp>
        <p:nvSpPr>
          <p:cNvPr id="9" name="Shape 5">
            <a:extLst>
              <a:ext uri="{FF2B5EF4-FFF2-40B4-BE49-F238E27FC236}">
                <a16:creationId xmlns:a16="http://schemas.microsoft.com/office/drawing/2014/main" id="{22E8B4CA-04E1-6AEA-D0B8-08D933C49394}"/>
              </a:ext>
            </a:extLst>
          </p:cNvPr>
          <p:cNvSpPr/>
          <p:nvPr/>
        </p:nvSpPr>
        <p:spPr>
          <a:xfrm>
            <a:off x="707350" y="4690883"/>
            <a:ext cx="3168848" cy="1488281"/>
          </a:xfrm>
          <a:prstGeom prst="roundRect">
            <a:avLst>
              <a:gd name="adj" fmla="val 5704"/>
            </a:avLst>
          </a:prstGeom>
          <a:solidFill>
            <a:srgbClr val="D2DDF9"/>
          </a:solidFill>
          <a:ln w="7620">
            <a:solidFill>
              <a:srgbClr val="B8C3DF"/>
            </a:solidFill>
            <a:prstDash val="solid"/>
          </a:ln>
        </p:spPr>
        <p:txBody>
          <a:bodyPr/>
          <a:lstStyle/>
          <a:p>
            <a:endParaRPr lang="de-DE"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0" name="Text 6">
                <a:extLst>
                  <a:ext uri="{FF2B5EF4-FFF2-40B4-BE49-F238E27FC236}">
                    <a16:creationId xmlns:a16="http://schemas.microsoft.com/office/drawing/2014/main" id="{C558C392-A9CD-C482-4A4B-F8686B03660C}"/>
                  </a:ext>
                </a:extLst>
              </p:cNvPr>
              <p:cNvSpPr/>
              <p:nvPr/>
            </p:nvSpPr>
            <p:spPr>
              <a:xfrm>
                <a:off x="917019" y="4900552"/>
                <a:ext cx="2526506" cy="334208"/>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14:m>
                  <m:oMath xmlns:m="http://schemas.openxmlformats.org/officeDocument/2006/math">
                    <m:r>
                      <a:rPr lang="en-US"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𝜎</m:t>
                    </m:r>
                  </m:oMath>
                </a14:m>
                <a:r>
                  <a:rPr lang="en-US" i="1" baseline="-25000" dirty="0">
                    <a:solidFill>
                      <a:srgbClr val="404155"/>
                    </a:solidFill>
                    <a:latin typeface="Arial" panose="020B0604020202020204" pitchFamily="34" charset="0"/>
                    <a:ea typeface="Alexandria" pitchFamily="34" charset="-122"/>
                    <a:cs typeface="Arial" panose="020B0604020202020204" pitchFamily="34" charset="0"/>
                  </a:rPr>
                  <a:t>k</a:t>
                </a:r>
                <a:r>
                  <a:rPr lang="en-US" i="1" dirty="0">
                    <a:solidFill>
                      <a:srgbClr val="404155"/>
                    </a:solidFill>
                    <a:latin typeface="Arial" panose="020B0604020202020204" pitchFamily="34" charset="0"/>
                    <a:ea typeface="Alexandria" pitchFamily="34" charset="-122"/>
                    <a:cs typeface="Arial" panose="020B0604020202020204" pitchFamily="34" charset="0"/>
                  </a:rPr>
                  <a:t>(</a:t>
                </a:r>
                <a14:m>
                  <m:oMath xmlns:m="http://schemas.openxmlformats.org/officeDocument/2006/math">
                    <m:r>
                      <a:rPr lang="en-US" i="1">
                        <a:solidFill>
                          <a:srgbClr val="404155"/>
                        </a:solidFill>
                        <a:latin typeface="Cambria Math" panose="02040503050406030204" pitchFamily="18" charset="0"/>
                        <a:ea typeface="Cambria Math" panose="02040503050406030204" pitchFamily="18" charset="0"/>
                        <a:cs typeface="Arial" panose="020B0604020202020204" pitchFamily="34" charset="0"/>
                      </a:rPr>
                      <m:t>𝑢</m:t>
                    </m:r>
                    <m:r>
                      <a:rPr lang="de-DE" b="0" i="1" baseline="-25000"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𝑡</m:t>
                    </m:r>
                    <m:r>
                      <a:rPr lang="de-DE" b="0"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m:t>
                    </m:r>
                    <m:r>
                      <a:rPr lang="de-DE" b="0"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𝜀</m:t>
                    </m:r>
                    <m:r>
                      <a:rPr lang="de-DE" b="0"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m:t>
                    </m:r>
                  </m:oMath>
                </a14:m>
                <a:endParaRPr lang="en-US" dirty="0">
                  <a:latin typeface="Arial" panose="020B0604020202020204" pitchFamily="34" charset="0"/>
                  <a:cs typeface="Arial" panose="020B0604020202020204" pitchFamily="34" charset="0"/>
                </a:endParaRPr>
              </a:p>
            </p:txBody>
          </p:sp>
        </mc:Choice>
        <mc:Fallback xmlns="">
          <p:sp>
            <p:nvSpPr>
              <p:cNvPr id="10" name="Text 6">
                <a:extLst>
                  <a:ext uri="{FF2B5EF4-FFF2-40B4-BE49-F238E27FC236}">
                    <a16:creationId xmlns:a16="http://schemas.microsoft.com/office/drawing/2014/main" id="{C558C392-A9CD-C482-4A4B-F8686B03660C}"/>
                  </a:ext>
                </a:extLst>
              </p:cNvPr>
              <p:cNvSpPr>
                <a:spLocks noRot="1" noChangeAspect="1" noMove="1" noResize="1" noEditPoints="1" noAdjustHandles="1" noChangeArrowheads="1" noChangeShapeType="1" noTextEdit="1"/>
              </p:cNvSpPr>
              <p:nvPr/>
            </p:nvSpPr>
            <p:spPr>
              <a:xfrm>
                <a:off x="917019" y="4900552"/>
                <a:ext cx="2526506" cy="334208"/>
              </a:xfrm>
              <a:prstGeom prst="rect">
                <a:avLst/>
              </a:prstGeom>
              <a:blipFill>
                <a:blip r:embed="rId4"/>
                <a:stretch>
                  <a:fillRect l="-2410" t="-18182" b="-29091"/>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1" name="Text 7">
                <a:extLst>
                  <a:ext uri="{FF2B5EF4-FFF2-40B4-BE49-F238E27FC236}">
                    <a16:creationId xmlns:a16="http://schemas.microsoft.com/office/drawing/2014/main" id="{838B5F6C-C474-9603-1188-3D60994DAAC3}"/>
                  </a:ext>
                </a:extLst>
              </p:cNvPr>
              <p:cNvSpPr/>
              <p:nvPr/>
            </p:nvSpPr>
            <p:spPr>
              <a:xfrm>
                <a:off x="917019" y="5342751"/>
                <a:ext cx="2749510" cy="626745"/>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00"/>
                  </a:lnSpc>
                </a:pPr>
                <a:r>
                  <a:rPr lang="en-US" sz="1600" dirty="0">
                    <a:solidFill>
                      <a:srgbClr val="404155"/>
                    </a:solidFill>
                    <a:latin typeface="Arial" panose="020B0604020202020204" pitchFamily="34" charset="0"/>
                    <a:ea typeface="Nobile" pitchFamily="34" charset="-122"/>
                    <a:cs typeface="Arial" panose="020B0604020202020204" pitchFamily="34" charset="0"/>
                  </a:rPr>
                  <a:t>Activates charging branch when </a:t>
                </a:r>
                <a14:m>
                  <m:oMath xmlns:m="http://schemas.openxmlformats.org/officeDocument/2006/math">
                    <m:r>
                      <a:rPr lang="en-US" sz="1600" i="1">
                        <a:solidFill>
                          <a:srgbClr val="404155"/>
                        </a:solidFill>
                        <a:latin typeface="Cambria Math" panose="02040503050406030204" pitchFamily="18" charset="0"/>
                        <a:ea typeface="Cambria Math" panose="02040503050406030204" pitchFamily="18" charset="0"/>
                        <a:cs typeface="Arial" panose="020B0604020202020204" pitchFamily="34" charset="0"/>
                      </a:rPr>
                      <m:t>𝑢</m:t>
                    </m:r>
                    <m:r>
                      <a:rPr lang="de-DE" sz="1600" b="0" i="1" baseline="-25000"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𝑡</m:t>
                    </m:r>
                    <m:r>
                      <a:rPr lang="de-DE" sz="1600" b="0" i="1" baseline="-25000"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 </m:t>
                    </m:r>
                  </m:oMath>
                </a14:m>
                <a:r>
                  <a:rPr lang="en-US" sz="1600" i="1" dirty="0">
                    <a:solidFill>
                      <a:srgbClr val="404155"/>
                    </a:solidFill>
                    <a:latin typeface="Arial" panose="020B0604020202020204" pitchFamily="34" charset="0"/>
                    <a:ea typeface="Nobile" pitchFamily="34" charset="-122"/>
                    <a:cs typeface="Arial" panose="020B0604020202020204" pitchFamily="34" charset="0"/>
                  </a:rPr>
                  <a:t>&gt; 0</a:t>
                </a:r>
                <a:endParaRPr lang="en-US" sz="1600" dirty="0">
                  <a:latin typeface="Arial" panose="020B0604020202020204" pitchFamily="34" charset="0"/>
                  <a:cs typeface="Arial" panose="020B0604020202020204" pitchFamily="34" charset="0"/>
                </a:endParaRPr>
              </a:p>
            </p:txBody>
          </p:sp>
        </mc:Choice>
        <mc:Fallback xmlns="">
          <p:sp>
            <p:nvSpPr>
              <p:cNvPr id="11" name="Text 7">
                <a:extLst>
                  <a:ext uri="{FF2B5EF4-FFF2-40B4-BE49-F238E27FC236}">
                    <a16:creationId xmlns:a16="http://schemas.microsoft.com/office/drawing/2014/main" id="{838B5F6C-C474-9603-1188-3D60994DAAC3}"/>
                  </a:ext>
                </a:extLst>
              </p:cNvPr>
              <p:cNvSpPr>
                <a:spLocks noRot="1" noChangeAspect="1" noMove="1" noResize="1" noEditPoints="1" noAdjustHandles="1" noChangeArrowheads="1" noChangeShapeType="1" noTextEdit="1"/>
              </p:cNvSpPr>
              <p:nvPr/>
            </p:nvSpPr>
            <p:spPr>
              <a:xfrm>
                <a:off x="917019" y="5342751"/>
                <a:ext cx="2749510" cy="626745"/>
              </a:xfrm>
              <a:prstGeom prst="rect">
                <a:avLst/>
              </a:prstGeom>
              <a:blipFill>
                <a:blip r:embed="rId5"/>
                <a:stretch>
                  <a:fillRect l="-4435" t="-3883" b="-13592"/>
                </a:stretch>
              </a:blipFill>
              <a:ln/>
            </p:spPr>
            <p:txBody>
              <a:bodyPr/>
              <a:lstStyle/>
              <a:p>
                <a:r>
                  <a:rPr lang="de-DE">
                    <a:noFill/>
                  </a:rPr>
                  <a:t> </a:t>
                </a:r>
              </a:p>
            </p:txBody>
          </p:sp>
        </mc:Fallback>
      </mc:AlternateContent>
      <p:sp>
        <p:nvSpPr>
          <p:cNvPr id="12" name="Shape 8">
            <a:extLst>
              <a:ext uri="{FF2B5EF4-FFF2-40B4-BE49-F238E27FC236}">
                <a16:creationId xmlns:a16="http://schemas.microsoft.com/office/drawing/2014/main" id="{4F013EC2-43EF-8F6F-6DE5-E866B799E29F}"/>
              </a:ext>
            </a:extLst>
          </p:cNvPr>
          <p:cNvSpPr/>
          <p:nvPr/>
        </p:nvSpPr>
        <p:spPr>
          <a:xfrm>
            <a:off x="4056221" y="4690883"/>
            <a:ext cx="3168968" cy="1488281"/>
          </a:xfrm>
          <a:prstGeom prst="roundRect">
            <a:avLst>
              <a:gd name="adj" fmla="val 5704"/>
            </a:avLst>
          </a:prstGeom>
          <a:solidFill>
            <a:srgbClr val="D2DDF9"/>
          </a:solidFill>
          <a:ln w="7620">
            <a:solidFill>
              <a:srgbClr val="B8C3DF"/>
            </a:solidFill>
            <a:prstDash val="solid"/>
          </a:ln>
        </p:spPr>
        <p:txBody>
          <a:bodyPr/>
          <a:lstStyle/>
          <a:p>
            <a:endParaRPr lang="de-DE">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3" name="Text 9">
                <a:extLst>
                  <a:ext uri="{FF2B5EF4-FFF2-40B4-BE49-F238E27FC236}">
                    <a16:creationId xmlns:a16="http://schemas.microsoft.com/office/drawing/2014/main" id="{E0EC8211-6C28-5B6D-8EA9-4350CADEBB36}"/>
                  </a:ext>
                </a:extLst>
              </p:cNvPr>
              <p:cNvSpPr/>
              <p:nvPr/>
            </p:nvSpPr>
            <p:spPr>
              <a:xfrm>
                <a:off x="4265890" y="4900552"/>
                <a:ext cx="2526506" cy="334208"/>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14:m>
                  <m:oMath xmlns:m="http://schemas.openxmlformats.org/officeDocument/2006/math">
                    <m:r>
                      <a:rPr lang="en-US"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𝜎</m:t>
                    </m:r>
                  </m:oMath>
                </a14:m>
                <a:r>
                  <a:rPr lang="en-US" i="1" baseline="-25000" dirty="0">
                    <a:solidFill>
                      <a:srgbClr val="404155"/>
                    </a:solidFill>
                    <a:latin typeface="Arial" panose="020B0604020202020204" pitchFamily="34" charset="0"/>
                    <a:ea typeface="Alexandria" pitchFamily="34" charset="-122"/>
                    <a:cs typeface="Arial" panose="020B0604020202020204" pitchFamily="34" charset="0"/>
                  </a:rPr>
                  <a:t>k</a:t>
                </a:r>
                <a:r>
                  <a:rPr lang="en-US" i="1" dirty="0">
                    <a:solidFill>
                      <a:srgbClr val="404155"/>
                    </a:solidFill>
                    <a:latin typeface="Arial" panose="020B0604020202020204" pitchFamily="34" charset="0"/>
                    <a:ea typeface="Alexandria" pitchFamily="34" charset="-122"/>
                    <a:cs typeface="Arial" panose="020B0604020202020204" pitchFamily="34" charset="0"/>
                  </a:rPr>
                  <a:t>(</a:t>
                </a:r>
                <a14:m>
                  <m:oMath xmlns:m="http://schemas.openxmlformats.org/officeDocument/2006/math">
                    <m:r>
                      <a:rPr lang="de-DE" b="0"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m:t>
                    </m:r>
                    <m:r>
                      <a:rPr lang="en-US" i="1">
                        <a:solidFill>
                          <a:srgbClr val="404155"/>
                        </a:solidFill>
                        <a:latin typeface="Cambria Math" panose="02040503050406030204" pitchFamily="18" charset="0"/>
                        <a:ea typeface="Cambria Math" panose="02040503050406030204" pitchFamily="18" charset="0"/>
                        <a:cs typeface="Arial" panose="020B0604020202020204" pitchFamily="34" charset="0"/>
                      </a:rPr>
                      <m:t>𝑢</m:t>
                    </m:r>
                    <m:r>
                      <a:rPr lang="de-DE" b="0" i="1" baseline="-25000"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𝑡</m:t>
                    </m:r>
                    <m:r>
                      <a:rPr lang="de-DE" b="0"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m:t>
                    </m:r>
                    <m:r>
                      <a:rPr lang="de-DE" b="0"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𝜀</m:t>
                    </m:r>
                    <m:r>
                      <a:rPr lang="de-DE" b="0"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m:t>
                    </m:r>
                  </m:oMath>
                </a14:m>
                <a:endParaRPr lang="en-US" dirty="0">
                  <a:latin typeface="Arial" panose="020B0604020202020204" pitchFamily="34" charset="0"/>
                  <a:cs typeface="Arial" panose="020B0604020202020204" pitchFamily="34" charset="0"/>
                </a:endParaRPr>
              </a:p>
            </p:txBody>
          </p:sp>
        </mc:Choice>
        <mc:Fallback xmlns="">
          <p:sp>
            <p:nvSpPr>
              <p:cNvPr id="13" name="Text 9">
                <a:extLst>
                  <a:ext uri="{FF2B5EF4-FFF2-40B4-BE49-F238E27FC236}">
                    <a16:creationId xmlns:a16="http://schemas.microsoft.com/office/drawing/2014/main" id="{E0EC8211-6C28-5B6D-8EA9-4350CADEBB36}"/>
                  </a:ext>
                </a:extLst>
              </p:cNvPr>
              <p:cNvSpPr>
                <a:spLocks noRot="1" noChangeAspect="1" noMove="1" noResize="1" noEditPoints="1" noAdjustHandles="1" noChangeArrowheads="1" noChangeShapeType="1" noTextEdit="1"/>
              </p:cNvSpPr>
              <p:nvPr/>
            </p:nvSpPr>
            <p:spPr>
              <a:xfrm>
                <a:off x="4265890" y="4900552"/>
                <a:ext cx="2526506" cy="334208"/>
              </a:xfrm>
              <a:prstGeom prst="rect">
                <a:avLst/>
              </a:prstGeom>
              <a:blipFill>
                <a:blip r:embed="rId6"/>
                <a:stretch>
                  <a:fillRect l="-2415" t="-18182" b="-29091"/>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 10">
                <a:extLst>
                  <a:ext uri="{FF2B5EF4-FFF2-40B4-BE49-F238E27FC236}">
                    <a16:creationId xmlns:a16="http://schemas.microsoft.com/office/drawing/2014/main" id="{122D99D7-D316-B577-F8F8-8552BCB1D6DF}"/>
                  </a:ext>
                </a:extLst>
              </p:cNvPr>
              <p:cNvSpPr/>
              <p:nvPr/>
            </p:nvSpPr>
            <p:spPr>
              <a:xfrm>
                <a:off x="4265890" y="5342751"/>
                <a:ext cx="2749629" cy="626745"/>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00"/>
                  </a:lnSpc>
                </a:pPr>
                <a:r>
                  <a:rPr lang="en-US" sz="1600" dirty="0">
                    <a:solidFill>
                      <a:srgbClr val="404155"/>
                    </a:solidFill>
                    <a:latin typeface="Arial" panose="020B0604020202020204" pitchFamily="34" charset="0"/>
                    <a:ea typeface="Nobile" pitchFamily="34" charset="-122"/>
                    <a:cs typeface="Arial" panose="020B0604020202020204" pitchFamily="34" charset="0"/>
                  </a:rPr>
                  <a:t>Activates discharging branch when </a:t>
                </a:r>
                <a14:m>
                  <m:oMath xmlns:m="http://schemas.openxmlformats.org/officeDocument/2006/math">
                    <m:r>
                      <a:rPr lang="en-US" sz="1600" i="1">
                        <a:solidFill>
                          <a:srgbClr val="404155"/>
                        </a:solidFill>
                        <a:latin typeface="Cambria Math" panose="02040503050406030204" pitchFamily="18" charset="0"/>
                        <a:ea typeface="Cambria Math" panose="02040503050406030204" pitchFamily="18" charset="0"/>
                        <a:cs typeface="Arial" panose="020B0604020202020204" pitchFamily="34" charset="0"/>
                      </a:rPr>
                      <m:t>𝑢</m:t>
                    </m:r>
                    <m:r>
                      <a:rPr lang="de-DE" sz="1600" b="0" i="1" baseline="-25000"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𝑡</m:t>
                    </m:r>
                    <m:r>
                      <a:rPr lang="de-DE" sz="1600" b="0" i="1" baseline="-25000"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 </m:t>
                    </m:r>
                  </m:oMath>
                </a14:m>
                <a:r>
                  <a:rPr lang="en-US" sz="1600" i="1" dirty="0">
                    <a:solidFill>
                      <a:srgbClr val="404155"/>
                    </a:solidFill>
                    <a:latin typeface="Arial" panose="020B0604020202020204" pitchFamily="34" charset="0"/>
                    <a:ea typeface="Nobile" pitchFamily="34" charset="-122"/>
                    <a:cs typeface="Arial" panose="020B0604020202020204" pitchFamily="34" charset="0"/>
                  </a:rPr>
                  <a:t>&lt; 0</a:t>
                </a:r>
                <a:endParaRPr lang="en-US" sz="1600" dirty="0">
                  <a:latin typeface="Arial" panose="020B0604020202020204" pitchFamily="34" charset="0"/>
                  <a:cs typeface="Arial" panose="020B0604020202020204" pitchFamily="34" charset="0"/>
                </a:endParaRPr>
              </a:p>
            </p:txBody>
          </p:sp>
        </mc:Choice>
        <mc:Fallback xmlns="">
          <p:sp>
            <p:nvSpPr>
              <p:cNvPr id="14" name="Text 10">
                <a:extLst>
                  <a:ext uri="{FF2B5EF4-FFF2-40B4-BE49-F238E27FC236}">
                    <a16:creationId xmlns:a16="http://schemas.microsoft.com/office/drawing/2014/main" id="{122D99D7-D316-B577-F8F8-8552BCB1D6DF}"/>
                  </a:ext>
                </a:extLst>
              </p:cNvPr>
              <p:cNvSpPr>
                <a:spLocks noRot="1" noChangeAspect="1" noMove="1" noResize="1" noEditPoints="1" noAdjustHandles="1" noChangeArrowheads="1" noChangeShapeType="1" noTextEdit="1"/>
              </p:cNvSpPr>
              <p:nvPr/>
            </p:nvSpPr>
            <p:spPr>
              <a:xfrm>
                <a:off x="4265890" y="5342751"/>
                <a:ext cx="2749629" cy="626745"/>
              </a:xfrm>
              <a:prstGeom prst="rect">
                <a:avLst/>
              </a:prstGeom>
              <a:blipFill>
                <a:blip r:embed="rId7"/>
                <a:stretch>
                  <a:fillRect l="-4656" t="-3883" r="-887" b="-13592"/>
                </a:stretch>
              </a:blipFill>
              <a:ln/>
            </p:spPr>
            <p:txBody>
              <a:bodyPr/>
              <a:lstStyle/>
              <a:p>
                <a:r>
                  <a:rPr lang="de-DE">
                    <a:noFill/>
                  </a:rPr>
                  <a:t> </a:t>
                </a:r>
              </a:p>
            </p:txBody>
          </p:sp>
        </mc:Fallback>
      </mc:AlternateContent>
      <p:sp>
        <p:nvSpPr>
          <p:cNvPr id="15" name="Shape 11">
            <a:extLst>
              <a:ext uri="{FF2B5EF4-FFF2-40B4-BE49-F238E27FC236}">
                <a16:creationId xmlns:a16="http://schemas.microsoft.com/office/drawing/2014/main" id="{9B4DB584-7A73-B3F2-4F5C-B59049940855}"/>
              </a:ext>
            </a:extLst>
          </p:cNvPr>
          <p:cNvSpPr/>
          <p:nvPr/>
        </p:nvSpPr>
        <p:spPr>
          <a:xfrm>
            <a:off x="7405211" y="4690883"/>
            <a:ext cx="3168848" cy="1488281"/>
          </a:xfrm>
          <a:prstGeom prst="roundRect">
            <a:avLst>
              <a:gd name="adj" fmla="val 5704"/>
            </a:avLst>
          </a:prstGeom>
          <a:solidFill>
            <a:srgbClr val="D2DDF9"/>
          </a:solidFill>
          <a:ln w="7620">
            <a:solidFill>
              <a:srgbClr val="B8C3DF"/>
            </a:solidFill>
            <a:prstDash val="solid"/>
          </a:ln>
        </p:spPr>
        <p:txBody>
          <a:bodyPr/>
          <a:lstStyle/>
          <a:p>
            <a:endParaRPr lang="de-DE">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 12">
                <a:extLst>
                  <a:ext uri="{FF2B5EF4-FFF2-40B4-BE49-F238E27FC236}">
                    <a16:creationId xmlns:a16="http://schemas.microsoft.com/office/drawing/2014/main" id="{0BB3F0FC-A678-7B97-B37C-8D0B169BE764}"/>
                  </a:ext>
                </a:extLst>
              </p:cNvPr>
              <p:cNvSpPr/>
              <p:nvPr/>
            </p:nvSpPr>
            <p:spPr>
              <a:xfrm>
                <a:off x="7614880" y="4900552"/>
                <a:ext cx="2526506" cy="334208"/>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14:m>
                  <m:oMathPara xmlns:m="http://schemas.openxmlformats.org/officeDocument/2006/math">
                    <m:oMathParaPr>
                      <m:jc m:val="centerGroup"/>
                    </m:oMathParaPr>
                    <m:oMath xmlns:m="http://schemas.openxmlformats.org/officeDocument/2006/math">
                      <m:r>
                        <a:rPr lang="en-US"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𝜎</m:t>
                      </m:r>
                      <m:r>
                        <m:rPr>
                          <m:nor/>
                        </m:rPr>
                        <a:rPr lang="en-US" i="1" baseline="-25000" dirty="0">
                          <a:solidFill>
                            <a:srgbClr val="404155"/>
                          </a:solidFill>
                          <a:latin typeface="Arial" panose="020B0604020202020204" pitchFamily="34" charset="0"/>
                          <a:ea typeface="Alexandria" pitchFamily="34" charset="-122"/>
                          <a:cs typeface="Arial" panose="020B0604020202020204" pitchFamily="34" charset="0"/>
                        </a:rPr>
                        <m:t>k</m:t>
                      </m:r>
                      <m:r>
                        <m:rPr>
                          <m:nor/>
                        </m:rPr>
                        <a:rPr lang="en-US" i="1" dirty="0">
                          <a:solidFill>
                            <a:srgbClr val="404155"/>
                          </a:solidFill>
                          <a:latin typeface="Arial" panose="020B0604020202020204" pitchFamily="34" charset="0"/>
                          <a:ea typeface="Alexandria" pitchFamily="34" charset="-122"/>
                          <a:cs typeface="Arial" panose="020B0604020202020204" pitchFamily="34" charset="0"/>
                        </a:rPr>
                        <m:t>(</m:t>
                      </m:r>
                      <m:r>
                        <a:rPr lang="de-DE" b="0" i="1" dirty="0" smtClean="0">
                          <a:solidFill>
                            <a:srgbClr val="404155"/>
                          </a:solidFill>
                          <a:latin typeface="Cambria Math" panose="02040503050406030204" pitchFamily="18" charset="0"/>
                          <a:ea typeface="Alexandria" pitchFamily="34" charset="-122"/>
                          <a:cs typeface="Arial" panose="020B0604020202020204" pitchFamily="34" charset="0"/>
                        </a:rPr>
                        <m:t>0.995</m:t>
                      </m:r>
                      <m:r>
                        <a:rPr lang="de-DE" i="1">
                          <a:solidFill>
                            <a:srgbClr val="404155"/>
                          </a:solidFill>
                          <a:latin typeface="Cambria Math" panose="02040503050406030204" pitchFamily="18" charset="0"/>
                          <a:ea typeface="Cambria Math" panose="02040503050406030204" pitchFamily="18" charset="0"/>
                          <a:cs typeface="Arial" panose="020B0604020202020204" pitchFamily="34" charset="0"/>
                        </a:rPr>
                        <m:t>−</m:t>
                      </m:r>
                      <m:r>
                        <a:rPr lang="de-DE" b="0"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𝑆𝑂𝐶</m:t>
                      </m:r>
                      <m:r>
                        <a:rPr lang="de-DE" b="0" i="1" baseline="-25000"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𝑡</m:t>
                      </m:r>
                      <m:r>
                        <a:rPr lang="de-DE" i="1">
                          <a:solidFill>
                            <a:srgbClr val="404155"/>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16" name="Text 12">
                <a:extLst>
                  <a:ext uri="{FF2B5EF4-FFF2-40B4-BE49-F238E27FC236}">
                    <a16:creationId xmlns:a16="http://schemas.microsoft.com/office/drawing/2014/main" id="{0BB3F0FC-A678-7B97-B37C-8D0B169BE764}"/>
                  </a:ext>
                </a:extLst>
              </p:cNvPr>
              <p:cNvSpPr>
                <a:spLocks noRot="1" noChangeAspect="1" noMove="1" noResize="1" noEditPoints="1" noAdjustHandles="1" noChangeArrowheads="1" noChangeShapeType="1" noTextEdit="1"/>
              </p:cNvSpPr>
              <p:nvPr/>
            </p:nvSpPr>
            <p:spPr>
              <a:xfrm>
                <a:off x="7614880" y="4900552"/>
                <a:ext cx="2526506" cy="334208"/>
              </a:xfrm>
              <a:prstGeom prst="rect">
                <a:avLst/>
              </a:prstGeom>
              <a:blipFill>
                <a:blip r:embed="rId8"/>
                <a:stretch>
                  <a:fillRect b="-18182"/>
                </a:stretch>
              </a:blipFill>
              <a:ln/>
            </p:spPr>
            <p:txBody>
              <a:bodyPr/>
              <a:lstStyle/>
              <a:p>
                <a:r>
                  <a:rPr lang="de-DE">
                    <a:noFill/>
                  </a:rPr>
                  <a:t> </a:t>
                </a:r>
              </a:p>
            </p:txBody>
          </p:sp>
        </mc:Fallback>
      </mc:AlternateContent>
      <p:sp>
        <p:nvSpPr>
          <p:cNvPr id="17" name="Text 13">
            <a:extLst>
              <a:ext uri="{FF2B5EF4-FFF2-40B4-BE49-F238E27FC236}">
                <a16:creationId xmlns:a16="http://schemas.microsoft.com/office/drawing/2014/main" id="{9BE3485A-E4A7-61A9-77C6-4EFC842F086F}"/>
              </a:ext>
            </a:extLst>
          </p:cNvPr>
          <p:cNvSpPr/>
          <p:nvPr/>
        </p:nvSpPr>
        <p:spPr>
          <a:xfrm>
            <a:off x="7614880" y="5342751"/>
            <a:ext cx="2749510" cy="626745"/>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Suppresses charging near full (</a:t>
            </a:r>
            <a:r>
              <a:rPr lang="en-US" sz="1600" i="1" dirty="0">
                <a:solidFill>
                  <a:srgbClr val="404155"/>
                </a:solidFill>
                <a:latin typeface="Arial" panose="020B0604020202020204" pitchFamily="34" charset="0"/>
                <a:ea typeface="Nobile" pitchFamily="34" charset="-122"/>
                <a:cs typeface="Arial" panose="020B0604020202020204" pitchFamily="34" charset="0"/>
              </a:rPr>
              <a:t>SOC</a:t>
            </a:r>
            <a:r>
              <a:rPr lang="el-GR" sz="1600" i="1" dirty="0">
                <a:solidFill>
                  <a:srgbClr val="404155"/>
                </a:solidFill>
                <a:latin typeface="Arial" panose="020B0604020202020204" pitchFamily="34" charset="0"/>
                <a:ea typeface="Nobile" pitchFamily="34" charset="-122"/>
                <a:cs typeface="Arial" panose="020B0604020202020204" pitchFamily="34" charset="0"/>
              </a:rPr>
              <a:t>≈</a:t>
            </a:r>
            <a:r>
              <a:rPr lang="en-US" sz="1600" i="1" dirty="0">
                <a:solidFill>
                  <a:srgbClr val="404155"/>
                </a:solidFill>
                <a:latin typeface="Arial" panose="020B0604020202020204" pitchFamily="34" charset="0"/>
                <a:ea typeface="Nobile" pitchFamily="34" charset="-122"/>
                <a:cs typeface="Arial" panose="020B0604020202020204" pitchFamily="34" charset="0"/>
              </a:rPr>
              <a:t>1</a:t>
            </a:r>
            <a:r>
              <a:rPr lang="en-US" sz="1600" dirty="0">
                <a:solidFill>
                  <a:srgbClr val="404155"/>
                </a:solidFill>
                <a:latin typeface="Arial" panose="020B0604020202020204" pitchFamily="34" charset="0"/>
                <a:ea typeface="Nobile" pitchFamily="34" charset="-122"/>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
        <p:nvSpPr>
          <p:cNvPr id="18" name="Shape 14">
            <a:extLst>
              <a:ext uri="{FF2B5EF4-FFF2-40B4-BE49-F238E27FC236}">
                <a16:creationId xmlns:a16="http://schemas.microsoft.com/office/drawing/2014/main" id="{B4A1738B-3AB3-9CCA-4B39-AF62AAE24B5E}"/>
              </a:ext>
            </a:extLst>
          </p:cNvPr>
          <p:cNvSpPr/>
          <p:nvPr/>
        </p:nvSpPr>
        <p:spPr>
          <a:xfrm>
            <a:off x="10754082" y="4690883"/>
            <a:ext cx="3168968" cy="1488281"/>
          </a:xfrm>
          <a:prstGeom prst="roundRect">
            <a:avLst>
              <a:gd name="adj" fmla="val 5704"/>
            </a:avLst>
          </a:prstGeom>
          <a:solidFill>
            <a:srgbClr val="D2DDF9"/>
          </a:solidFill>
          <a:ln w="7620">
            <a:solidFill>
              <a:srgbClr val="B8C3DF"/>
            </a:solidFill>
            <a:prstDash val="solid"/>
          </a:ln>
        </p:spPr>
        <p:txBody>
          <a:bodyPr/>
          <a:lstStyle/>
          <a:p>
            <a:endParaRPr lang="de-DE">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9" name="Text 15">
                <a:extLst>
                  <a:ext uri="{FF2B5EF4-FFF2-40B4-BE49-F238E27FC236}">
                    <a16:creationId xmlns:a16="http://schemas.microsoft.com/office/drawing/2014/main" id="{875840DB-81A9-B780-A69A-E8B8C9112246}"/>
                  </a:ext>
                </a:extLst>
              </p:cNvPr>
              <p:cNvSpPr/>
              <p:nvPr/>
            </p:nvSpPr>
            <p:spPr>
              <a:xfrm>
                <a:off x="10963751" y="4900552"/>
                <a:ext cx="2526506" cy="334208"/>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14:m>
                  <m:oMath xmlns:m="http://schemas.openxmlformats.org/officeDocument/2006/math">
                    <m:r>
                      <a:rPr lang="en-US"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𝜎</m:t>
                    </m:r>
                  </m:oMath>
                </a14:m>
                <a:r>
                  <a:rPr lang="en-US" i="1" baseline="-25000" dirty="0">
                    <a:solidFill>
                      <a:srgbClr val="404155"/>
                    </a:solidFill>
                    <a:latin typeface="Arial" panose="020B0604020202020204" pitchFamily="34" charset="0"/>
                    <a:ea typeface="Alexandria" pitchFamily="34" charset="-122"/>
                    <a:cs typeface="Arial" panose="020B0604020202020204" pitchFamily="34" charset="0"/>
                  </a:rPr>
                  <a:t>k</a:t>
                </a:r>
                <a:r>
                  <a:rPr lang="en-US" i="1" dirty="0">
                    <a:solidFill>
                      <a:srgbClr val="404155"/>
                    </a:solidFill>
                    <a:latin typeface="Arial" panose="020B0604020202020204" pitchFamily="34" charset="0"/>
                    <a:ea typeface="Alexandria" pitchFamily="34" charset="-122"/>
                    <a:cs typeface="Arial" panose="020B0604020202020204" pitchFamily="34" charset="0"/>
                  </a:rPr>
                  <a:t>(SOC</a:t>
                </a:r>
                <a:r>
                  <a:rPr lang="en-US" i="1" baseline="-25000" dirty="0">
                    <a:solidFill>
                      <a:srgbClr val="404155"/>
                    </a:solidFill>
                    <a:latin typeface="Arial" panose="020B0604020202020204" pitchFamily="34" charset="0"/>
                    <a:ea typeface="Alexandria" pitchFamily="34" charset="-122"/>
                    <a:cs typeface="Arial" panose="020B0604020202020204" pitchFamily="34" charset="0"/>
                  </a:rPr>
                  <a:t>t</a:t>
                </a:r>
                <a14:m>
                  <m:oMath xmlns:m="http://schemas.openxmlformats.org/officeDocument/2006/math">
                    <m:r>
                      <a:rPr lang="de-DE" b="0" i="1" baseline="-25000"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 </m:t>
                    </m:r>
                    <m:r>
                      <a:rPr lang="de-DE" b="0"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−0.005)</m:t>
                    </m:r>
                  </m:oMath>
                </a14:m>
                <a:endParaRPr lang="en-US" dirty="0">
                  <a:latin typeface="Arial" panose="020B0604020202020204" pitchFamily="34" charset="0"/>
                  <a:cs typeface="Arial" panose="020B0604020202020204" pitchFamily="34" charset="0"/>
                </a:endParaRPr>
              </a:p>
            </p:txBody>
          </p:sp>
        </mc:Choice>
        <mc:Fallback xmlns="">
          <p:sp>
            <p:nvSpPr>
              <p:cNvPr id="19" name="Text 15">
                <a:extLst>
                  <a:ext uri="{FF2B5EF4-FFF2-40B4-BE49-F238E27FC236}">
                    <a16:creationId xmlns:a16="http://schemas.microsoft.com/office/drawing/2014/main" id="{875840DB-81A9-B780-A69A-E8B8C9112246}"/>
                  </a:ext>
                </a:extLst>
              </p:cNvPr>
              <p:cNvSpPr>
                <a:spLocks noRot="1" noChangeAspect="1" noMove="1" noResize="1" noEditPoints="1" noAdjustHandles="1" noChangeArrowheads="1" noChangeShapeType="1" noTextEdit="1"/>
              </p:cNvSpPr>
              <p:nvPr/>
            </p:nvSpPr>
            <p:spPr>
              <a:xfrm>
                <a:off x="10963751" y="4900552"/>
                <a:ext cx="2526506" cy="334208"/>
              </a:xfrm>
              <a:prstGeom prst="rect">
                <a:avLst/>
              </a:prstGeom>
              <a:blipFill>
                <a:blip r:embed="rId9"/>
                <a:stretch>
                  <a:fillRect l="-2415" t="-18182" b="-29091"/>
                </a:stretch>
              </a:blipFill>
              <a:ln/>
            </p:spPr>
            <p:txBody>
              <a:bodyPr/>
              <a:lstStyle/>
              <a:p>
                <a:r>
                  <a:rPr lang="de-DE">
                    <a:noFill/>
                  </a:rPr>
                  <a:t> </a:t>
                </a:r>
              </a:p>
            </p:txBody>
          </p:sp>
        </mc:Fallback>
      </mc:AlternateContent>
      <p:sp>
        <p:nvSpPr>
          <p:cNvPr id="20" name="Text 16">
            <a:extLst>
              <a:ext uri="{FF2B5EF4-FFF2-40B4-BE49-F238E27FC236}">
                <a16:creationId xmlns:a16="http://schemas.microsoft.com/office/drawing/2014/main" id="{7FF2C070-ECE8-29B6-6EF4-974C90FEFADC}"/>
              </a:ext>
            </a:extLst>
          </p:cNvPr>
          <p:cNvSpPr/>
          <p:nvPr/>
        </p:nvSpPr>
        <p:spPr>
          <a:xfrm>
            <a:off x="10963751" y="5342751"/>
            <a:ext cx="2749629" cy="626745"/>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Suppresses discharging near empty (</a:t>
            </a:r>
            <a:r>
              <a:rPr lang="en-US" sz="1600" i="1" dirty="0">
                <a:solidFill>
                  <a:srgbClr val="404155"/>
                </a:solidFill>
                <a:latin typeface="Arial" panose="020B0604020202020204" pitchFamily="34" charset="0"/>
                <a:ea typeface="Nobile" pitchFamily="34" charset="-122"/>
                <a:cs typeface="Arial" panose="020B0604020202020204" pitchFamily="34" charset="0"/>
              </a:rPr>
              <a:t>SOC</a:t>
            </a:r>
            <a:r>
              <a:rPr lang="el-GR" sz="1600" i="1" dirty="0">
                <a:solidFill>
                  <a:srgbClr val="404155"/>
                </a:solidFill>
                <a:latin typeface="Arial" panose="020B0604020202020204" pitchFamily="34" charset="0"/>
                <a:ea typeface="Nobile" pitchFamily="34" charset="-122"/>
                <a:cs typeface="Arial" panose="020B0604020202020204" pitchFamily="34" charset="0"/>
              </a:rPr>
              <a:t>≈</a:t>
            </a:r>
            <a:r>
              <a:rPr lang="en-US" sz="1600" i="1" dirty="0">
                <a:solidFill>
                  <a:srgbClr val="404155"/>
                </a:solidFill>
                <a:latin typeface="Arial" panose="020B0604020202020204" pitchFamily="34" charset="0"/>
                <a:ea typeface="Nobile" pitchFamily="34" charset="-122"/>
                <a:cs typeface="Arial" panose="020B0604020202020204" pitchFamily="34" charset="0"/>
              </a:rPr>
              <a:t>0</a:t>
            </a:r>
            <a:r>
              <a:rPr lang="en-US" sz="1600" dirty="0">
                <a:solidFill>
                  <a:srgbClr val="404155"/>
                </a:solidFill>
                <a:latin typeface="Arial" panose="020B0604020202020204" pitchFamily="34" charset="0"/>
                <a:ea typeface="Nobile" pitchFamily="34" charset="-122"/>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
        <p:nvSpPr>
          <p:cNvPr id="21" name="Shape 17">
            <a:extLst>
              <a:ext uri="{FF2B5EF4-FFF2-40B4-BE49-F238E27FC236}">
                <a16:creationId xmlns:a16="http://schemas.microsoft.com/office/drawing/2014/main" id="{7192CCE8-125C-572F-55F6-9418A0D69F85}"/>
              </a:ext>
            </a:extLst>
          </p:cNvPr>
          <p:cNvSpPr/>
          <p:nvPr/>
        </p:nvSpPr>
        <p:spPr>
          <a:xfrm>
            <a:off x="707350" y="6381690"/>
            <a:ext cx="13215699" cy="1120259"/>
          </a:xfrm>
          <a:prstGeom prst="roundRect">
            <a:avLst>
              <a:gd name="adj" fmla="val 7578"/>
            </a:avLst>
          </a:prstGeom>
          <a:solidFill>
            <a:srgbClr val="BBCDF7"/>
          </a:solidFill>
          <a:ln/>
        </p:spPr>
        <p:txBody>
          <a:bodyPr/>
          <a:lstStyle/>
          <a:p>
            <a:endParaRPr lang="de-DE">
              <a:latin typeface="Arial" panose="020B0604020202020204" pitchFamily="34" charset="0"/>
              <a:cs typeface="Arial" panose="020B0604020202020204" pitchFamily="34" charset="0"/>
            </a:endParaRPr>
          </a:p>
        </p:txBody>
      </p:sp>
      <p:pic>
        <p:nvPicPr>
          <p:cNvPr id="22" name="Image 2">
            <a:extLst>
              <a:ext uri="{FF2B5EF4-FFF2-40B4-BE49-F238E27FC236}">
                <a16:creationId xmlns:a16="http://schemas.microsoft.com/office/drawing/2014/main" id="{A04BBEF4-BFAE-C57D-864B-4E7C76B4FE3A}"/>
              </a:ext>
            </a:extLst>
          </p:cNvPr>
          <p:cNvPicPr>
            <a:picLocks noChangeAspect="1"/>
          </p:cNvPicPr>
          <p:nvPr/>
        </p:nvPicPr>
        <p:blipFill>
          <a:blip r:embed="rId10"/>
          <a:stretch>
            <a:fillRect/>
          </a:stretch>
        </p:blipFill>
        <p:spPr>
          <a:xfrm>
            <a:off x="909399" y="6663154"/>
            <a:ext cx="252651" cy="202049"/>
          </a:xfrm>
          <a:prstGeom prst="rect">
            <a:avLst/>
          </a:prstGeom>
        </p:spPr>
      </p:pic>
      <mc:AlternateContent xmlns:mc="http://schemas.openxmlformats.org/markup-compatibility/2006" xmlns:a14="http://schemas.microsoft.com/office/drawing/2010/main">
        <mc:Choice Requires="a14">
          <p:sp>
            <p:nvSpPr>
              <p:cNvPr id="23" name="Text 18">
                <a:extLst>
                  <a:ext uri="{FF2B5EF4-FFF2-40B4-BE49-F238E27FC236}">
                    <a16:creationId xmlns:a16="http://schemas.microsoft.com/office/drawing/2014/main" id="{D7C88280-6432-B705-1E12-574E33783BAD}"/>
                  </a:ext>
                </a:extLst>
              </p:cNvPr>
              <p:cNvSpPr/>
              <p:nvPr/>
            </p:nvSpPr>
            <p:spPr>
              <a:xfrm>
                <a:off x="1364099" y="6612195"/>
                <a:ext cx="12356902" cy="626745"/>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600" b="1" dirty="0">
                    <a:solidFill>
                      <a:srgbClr val="000000"/>
                    </a:solidFill>
                    <a:latin typeface="Arial" panose="020B0604020202020204" pitchFamily="34" charset="0"/>
                    <a:ea typeface="Nobile" pitchFamily="34" charset="-122"/>
                    <a:cs typeface="Arial" panose="020B0604020202020204" pitchFamily="34" charset="0"/>
                  </a:rPr>
                  <a:t>Parameters:</a:t>
                </a:r>
                <a:r>
                  <a:rPr lang="en-US" sz="1600" dirty="0">
                    <a:solidFill>
                      <a:srgbClr val="000000"/>
                    </a:solidFill>
                    <a:latin typeface="Arial" panose="020B0604020202020204" pitchFamily="34" charset="0"/>
                    <a:ea typeface="Nobile" pitchFamily="34" charset="-122"/>
                    <a:cs typeface="Arial" panose="020B0604020202020204" pitchFamily="34" charset="0"/>
                  </a:rPr>
                  <a:t> dead-band offset</a:t>
                </a:r>
                <a:r>
                  <a:rPr lang="de-DE" sz="1600" b="0" dirty="0">
                    <a:solidFill>
                      <a:srgbClr val="404155"/>
                    </a:solidFill>
                    <a:ea typeface="Cambria Math" panose="02040503050406030204" pitchFamily="18" charset="0"/>
                    <a:cs typeface="Arial" panose="020B0604020202020204" pitchFamily="34" charset="0"/>
                  </a:rPr>
                  <a:t> </a:t>
                </a:r>
                <a14:m>
                  <m:oMath xmlns:m="http://schemas.openxmlformats.org/officeDocument/2006/math">
                    <m:r>
                      <a:rPr lang="de-DE" sz="1600" b="0" i="1" smtClean="0">
                        <a:solidFill>
                          <a:srgbClr val="404155"/>
                        </a:solidFill>
                        <a:latin typeface="Cambria Math" panose="02040503050406030204" pitchFamily="18" charset="0"/>
                        <a:ea typeface="Cambria Math" panose="02040503050406030204" pitchFamily="18" charset="0"/>
                        <a:cs typeface="Arial" panose="020B0604020202020204" pitchFamily="34" charset="0"/>
                      </a:rPr>
                      <m:t>𝜀</m:t>
                    </m:r>
                  </m:oMath>
                </a14:m>
                <a:r>
                  <a:rPr lang="en-US" sz="1600" dirty="0">
                    <a:solidFill>
                      <a:srgbClr val="000000"/>
                    </a:solidFill>
                    <a:latin typeface="Arial" panose="020B0604020202020204" pitchFamily="34" charset="0"/>
                    <a:ea typeface="Nobile" pitchFamily="34" charset="-122"/>
                    <a:cs typeface="Arial" panose="020B0604020202020204" pitchFamily="34" charset="0"/>
                  </a:rPr>
                  <a:t> </a:t>
                </a:r>
                <a:r>
                  <a:rPr lang="en-US" sz="1600" i="1" dirty="0">
                    <a:solidFill>
                      <a:srgbClr val="000000"/>
                    </a:solidFill>
                    <a:latin typeface="Arial" panose="020B0604020202020204" pitchFamily="34" charset="0"/>
                    <a:ea typeface="Nobile" pitchFamily="34" charset="-122"/>
                    <a:cs typeface="Arial" panose="020B0604020202020204" pitchFamily="34" charset="0"/>
                  </a:rPr>
                  <a:t>= 0.0025</a:t>
                </a:r>
                <a:r>
                  <a:rPr lang="en-US" sz="1600" dirty="0">
                    <a:solidFill>
                      <a:srgbClr val="000000"/>
                    </a:solidFill>
                    <a:latin typeface="Arial" panose="020B0604020202020204" pitchFamily="34" charset="0"/>
                    <a:ea typeface="Nobile" pitchFamily="34" charset="-122"/>
                    <a:cs typeface="Arial" panose="020B0604020202020204" pitchFamily="34" charset="0"/>
                  </a:rPr>
                  <a:t>; steepness </a:t>
                </a:r>
                <a:r>
                  <a:rPr lang="en-US" sz="1600" i="1" dirty="0">
                    <a:solidFill>
                      <a:srgbClr val="000000"/>
                    </a:solidFill>
                    <a:latin typeface="Arial" panose="020B0604020202020204" pitchFamily="34" charset="0"/>
                    <a:ea typeface="Nobile" pitchFamily="34" charset="-122"/>
                    <a:cs typeface="Arial" panose="020B0604020202020204" pitchFamily="34" charset="0"/>
                  </a:rPr>
                  <a:t>k</a:t>
                </a:r>
                <a:r>
                  <a:rPr lang="en-US" sz="1600" dirty="0">
                    <a:solidFill>
                      <a:srgbClr val="000000"/>
                    </a:solidFill>
                    <a:latin typeface="Arial" panose="020B0604020202020204" pitchFamily="34" charset="0"/>
                    <a:ea typeface="Nobile" pitchFamily="34" charset="-122"/>
                    <a:cs typeface="Arial" panose="020B0604020202020204" pitchFamily="34" charset="0"/>
                  </a:rPr>
                  <a:t> controls sharpness of the gate transition. Larger </a:t>
                </a:r>
                <a:r>
                  <a:rPr lang="en-US" sz="1600" i="1" dirty="0">
                    <a:solidFill>
                      <a:srgbClr val="000000"/>
                    </a:solidFill>
                    <a:latin typeface="Arial" panose="020B0604020202020204" pitchFamily="34" charset="0"/>
                    <a:ea typeface="Nobile" pitchFamily="34" charset="-122"/>
                    <a:cs typeface="Arial" panose="020B0604020202020204" pitchFamily="34" charset="0"/>
                  </a:rPr>
                  <a:t>k</a:t>
                </a:r>
                <a:r>
                  <a:rPr lang="en-US" sz="1600" dirty="0">
                    <a:solidFill>
                      <a:srgbClr val="000000"/>
                    </a:solidFill>
                    <a:latin typeface="Arial" panose="020B0604020202020204" pitchFamily="34" charset="0"/>
                    <a:ea typeface="Nobile" pitchFamily="34" charset="-122"/>
                    <a:cs typeface="Arial" panose="020B0604020202020204" pitchFamily="34" charset="0"/>
                  </a:rPr>
                  <a:t> approaches a hard switch.</a:t>
                </a:r>
                <a:endParaRPr lang="en-US" sz="1600" dirty="0">
                  <a:latin typeface="Arial" panose="020B0604020202020204" pitchFamily="34" charset="0"/>
                  <a:cs typeface="Arial" panose="020B0604020202020204" pitchFamily="34" charset="0"/>
                </a:endParaRPr>
              </a:p>
            </p:txBody>
          </p:sp>
        </mc:Choice>
        <mc:Fallback xmlns="">
          <p:sp>
            <p:nvSpPr>
              <p:cNvPr id="23" name="Text 18">
                <a:extLst>
                  <a:ext uri="{FF2B5EF4-FFF2-40B4-BE49-F238E27FC236}">
                    <a16:creationId xmlns:a16="http://schemas.microsoft.com/office/drawing/2014/main" id="{D7C88280-6432-B705-1E12-574E33783BAD}"/>
                  </a:ext>
                </a:extLst>
              </p:cNvPr>
              <p:cNvSpPr>
                <a:spLocks noRot="1" noChangeAspect="1" noMove="1" noResize="1" noEditPoints="1" noAdjustHandles="1" noChangeArrowheads="1" noChangeShapeType="1" noTextEdit="1"/>
              </p:cNvSpPr>
              <p:nvPr/>
            </p:nvSpPr>
            <p:spPr>
              <a:xfrm>
                <a:off x="1364099" y="6612195"/>
                <a:ext cx="12356902" cy="626745"/>
              </a:xfrm>
              <a:prstGeom prst="rect">
                <a:avLst/>
              </a:prstGeom>
              <a:blipFill>
                <a:blip r:embed="rId11"/>
                <a:stretch>
                  <a:fillRect l="-1036" t="-4902"/>
                </a:stretch>
              </a:blipFill>
              <a:ln/>
            </p:spPr>
            <p:txBody>
              <a:bodyPr/>
              <a:lstStyle/>
              <a:p>
                <a:r>
                  <a:rPr lang="de-DE">
                    <a:noFill/>
                  </a:rPr>
                  <a:t> </a:t>
                </a:r>
              </a:p>
            </p:txBody>
          </p:sp>
        </mc:Fallback>
      </mc:AlternateContent>
      <p:sp>
        <p:nvSpPr>
          <p:cNvPr id="25" name="Slide Number Placeholder 24">
            <a:extLst>
              <a:ext uri="{FF2B5EF4-FFF2-40B4-BE49-F238E27FC236}">
                <a16:creationId xmlns:a16="http://schemas.microsoft.com/office/drawing/2014/main" id="{FCBCEF0D-68CA-A31C-8AD9-594B25104507}"/>
              </a:ext>
            </a:extLst>
          </p:cNvPr>
          <p:cNvSpPr>
            <a:spLocks noGrp="1"/>
          </p:cNvSpPr>
          <p:nvPr>
            <p:ph type="sldNum" sz="quarter" idx="10"/>
          </p:nvPr>
        </p:nvSpPr>
        <p:spPr/>
        <p:txBody>
          <a:bodyPr/>
          <a:lstStyle/>
          <a:p>
            <a:fld id="{A02D9A9C-251E-4686-914B-47E3F39F30D8}" type="slidenum">
              <a:rPr lang="de-DE" smtClean="0"/>
              <a:t>5</a:t>
            </a:fld>
            <a:endParaRPr lang="de-DE"/>
          </a:p>
        </p:txBody>
      </p:sp>
    </p:spTree>
    <p:extLst>
      <p:ext uri="{BB962C8B-B14F-4D97-AF65-F5344CB8AC3E}">
        <p14:creationId xmlns:p14="http://schemas.microsoft.com/office/powerpoint/2010/main" val="1349229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A48312-B207-E549-5CFC-D8A89C9494D5}"/>
              </a:ext>
            </a:extLst>
          </p:cNvPr>
          <p:cNvSpPr>
            <a:spLocks noGrp="1"/>
          </p:cNvSpPr>
          <p:nvPr>
            <p:ph type="sldNum" sz="quarter" idx="10"/>
          </p:nvPr>
        </p:nvSpPr>
        <p:spPr/>
        <p:txBody>
          <a:bodyPr/>
          <a:lstStyle/>
          <a:p>
            <a:fld id="{A02D9A9C-251E-4686-914B-47E3F39F30D8}" type="slidenum">
              <a:rPr lang="de-DE" smtClean="0">
                <a:latin typeface="Arial" panose="020B0604020202020204" pitchFamily="34" charset="0"/>
                <a:cs typeface="Arial" panose="020B0604020202020204" pitchFamily="34" charset="0"/>
              </a:rPr>
              <a:t>6</a:t>
            </a:fld>
            <a:endParaRPr lang="de-DE">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E407536-61E1-7C66-0652-74EE0BE26B55}"/>
              </a:ext>
            </a:extLst>
          </p:cNvPr>
          <p:cNvPicPr>
            <a:picLocks noChangeAspect="1"/>
          </p:cNvPicPr>
          <p:nvPr/>
        </p:nvPicPr>
        <p:blipFill>
          <a:blip r:embed="rId2"/>
          <a:stretch>
            <a:fillRect/>
          </a:stretch>
        </p:blipFill>
        <p:spPr>
          <a:xfrm>
            <a:off x="339050" y="4499349"/>
            <a:ext cx="6480000" cy="3389722"/>
          </a:xfrm>
          <a:prstGeom prst="rect">
            <a:avLst/>
          </a:prstGeom>
        </p:spPr>
      </p:pic>
      <p:pic>
        <p:nvPicPr>
          <p:cNvPr id="8" name="Picture 7">
            <a:extLst>
              <a:ext uri="{FF2B5EF4-FFF2-40B4-BE49-F238E27FC236}">
                <a16:creationId xmlns:a16="http://schemas.microsoft.com/office/drawing/2014/main" id="{356F4251-F1C0-634C-97EE-B65EEEFE1EBD}"/>
              </a:ext>
            </a:extLst>
          </p:cNvPr>
          <p:cNvPicPr>
            <a:picLocks noChangeAspect="1"/>
          </p:cNvPicPr>
          <p:nvPr/>
        </p:nvPicPr>
        <p:blipFill>
          <a:blip r:embed="rId3"/>
          <a:stretch>
            <a:fillRect/>
          </a:stretch>
        </p:blipFill>
        <p:spPr>
          <a:xfrm>
            <a:off x="339050" y="863051"/>
            <a:ext cx="6480000" cy="3126211"/>
          </a:xfrm>
          <a:prstGeom prst="rect">
            <a:avLst/>
          </a:prstGeom>
        </p:spPr>
      </p:pic>
      <p:pic>
        <p:nvPicPr>
          <p:cNvPr id="12" name="Picture 11">
            <a:extLst>
              <a:ext uri="{FF2B5EF4-FFF2-40B4-BE49-F238E27FC236}">
                <a16:creationId xmlns:a16="http://schemas.microsoft.com/office/drawing/2014/main" id="{D483F423-DA30-766A-EADC-E01E0515071D}"/>
              </a:ext>
            </a:extLst>
          </p:cNvPr>
          <p:cNvPicPr>
            <a:picLocks noChangeAspect="1"/>
          </p:cNvPicPr>
          <p:nvPr/>
        </p:nvPicPr>
        <p:blipFill>
          <a:blip r:embed="rId4"/>
          <a:stretch>
            <a:fillRect/>
          </a:stretch>
        </p:blipFill>
        <p:spPr>
          <a:xfrm>
            <a:off x="7315200" y="1109627"/>
            <a:ext cx="6902573" cy="6408000"/>
          </a:xfrm>
          <a:prstGeom prst="rect">
            <a:avLst/>
          </a:prstGeom>
        </p:spPr>
      </p:pic>
      <p:sp>
        <p:nvSpPr>
          <p:cNvPr id="13" name="TextBox 12">
            <a:extLst>
              <a:ext uri="{FF2B5EF4-FFF2-40B4-BE49-F238E27FC236}">
                <a16:creationId xmlns:a16="http://schemas.microsoft.com/office/drawing/2014/main" id="{AFBC365D-07E4-5BE3-D31F-A690855F1A89}"/>
              </a:ext>
            </a:extLst>
          </p:cNvPr>
          <p:cNvSpPr txBox="1"/>
          <p:nvPr/>
        </p:nvSpPr>
        <p:spPr>
          <a:xfrm>
            <a:off x="787591" y="3958844"/>
            <a:ext cx="6031459" cy="276999"/>
          </a:xfrm>
          <a:prstGeom prst="rect">
            <a:avLst/>
          </a:prstGeom>
          <a:noFill/>
        </p:spPr>
        <p:txBody>
          <a:bodyPr wrap="none" rtlCol="0">
            <a:spAutoFit/>
          </a:bodyPr>
          <a:lstStyle/>
          <a:p>
            <a:r>
              <a:rPr lang="en-US" sz="1200" b="0" i="0" dirty="0">
                <a:effectLst/>
                <a:latin typeface="Arial" panose="020B0604020202020204" pitchFamily="34" charset="0"/>
                <a:cs typeface="Arial" panose="020B0604020202020204" pitchFamily="34" charset="0"/>
              </a:rPr>
              <a:t>Fig. 1: Charging and discharging activation gates with a small deadband around u = 0.</a:t>
            </a:r>
            <a:endParaRPr lang="de-DE" sz="12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9904FD2E-D79B-B2AF-FC2F-8F254FD3FFB5}"/>
              </a:ext>
            </a:extLst>
          </p:cNvPr>
          <p:cNvSpPr txBox="1"/>
          <p:nvPr/>
        </p:nvSpPr>
        <p:spPr>
          <a:xfrm>
            <a:off x="7895596" y="7494995"/>
            <a:ext cx="6163419" cy="276999"/>
          </a:xfrm>
          <a:prstGeom prst="rect">
            <a:avLst/>
          </a:prstGeom>
          <a:noFill/>
        </p:spPr>
        <p:txBody>
          <a:bodyPr wrap="none" rtlCol="0">
            <a:spAutoFit/>
          </a:bodyPr>
          <a:lstStyle/>
          <a:p>
            <a:r>
              <a:rPr lang="en-US" sz="1200" b="0" i="0" dirty="0">
                <a:effectLst/>
                <a:latin typeface="Arial" panose="020B0604020202020204" pitchFamily="34" charset="0"/>
                <a:cs typeface="Arial" panose="020B0604020202020204" pitchFamily="34" charset="0"/>
              </a:rPr>
              <a:t>Fig. 3: SOC boundary behavior, suppressing discharge near empty and charge near full.</a:t>
            </a:r>
            <a:endParaRPr lang="de-DE" sz="12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1E8537B-9D1B-5D9B-91A9-6CE1E75ED4BF}"/>
              </a:ext>
            </a:extLst>
          </p:cNvPr>
          <p:cNvSpPr txBox="1"/>
          <p:nvPr/>
        </p:nvSpPr>
        <p:spPr>
          <a:xfrm>
            <a:off x="1339494" y="7835210"/>
            <a:ext cx="4479111" cy="261610"/>
          </a:xfrm>
          <a:prstGeom prst="rect">
            <a:avLst/>
          </a:prstGeom>
          <a:noFill/>
        </p:spPr>
        <p:txBody>
          <a:bodyPr wrap="none" rtlCol="0">
            <a:spAutoFit/>
          </a:bodyPr>
          <a:lstStyle/>
          <a:p>
            <a:r>
              <a:rPr lang="en-US" sz="1100" b="0" i="0" dirty="0">
                <a:effectLst/>
                <a:latin typeface="Arial" panose="020B0604020202020204" pitchFamily="34" charset="0"/>
                <a:cs typeface="Arial" panose="020B0604020202020204" pitchFamily="34" charset="0"/>
              </a:rPr>
              <a:t>Fig. 2: Effect of k and epsilon on gate sharpness and threshold shift.</a:t>
            </a:r>
            <a:endParaRPr lang="de-DE"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6550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4">
            <a:extLst>
              <a:ext uri="{FF2B5EF4-FFF2-40B4-BE49-F238E27FC236}">
                <a16:creationId xmlns:a16="http://schemas.microsoft.com/office/drawing/2014/main" id="{4FEB6104-1CBA-2210-B1E6-3EF011411F23}"/>
              </a:ext>
            </a:extLst>
          </p:cNvPr>
          <p:cNvSpPr/>
          <p:nvPr/>
        </p:nvSpPr>
        <p:spPr>
          <a:xfrm>
            <a:off x="7432356" y="2337850"/>
            <a:ext cx="6766044" cy="4797349"/>
          </a:xfrm>
          <a:prstGeom prst="roundRect">
            <a:avLst>
              <a:gd name="adj" fmla="val 4335"/>
            </a:avLst>
          </a:prstGeom>
          <a:solidFill>
            <a:srgbClr val="D2DDF9"/>
          </a:solidFill>
          <a:ln/>
        </p:spPr>
        <p:txBody>
          <a:bodyPr/>
          <a:lstStyle/>
          <a:p>
            <a:endParaRPr lang="de-DE">
              <a:latin typeface="Arial" panose="020B0604020202020204" pitchFamily="34" charset="0"/>
              <a:cs typeface="Arial" panose="020B0604020202020204" pitchFamily="34" charset="0"/>
            </a:endParaRPr>
          </a:p>
        </p:txBody>
      </p:sp>
      <p:sp>
        <p:nvSpPr>
          <p:cNvPr id="16" name="Shape 4">
            <a:extLst>
              <a:ext uri="{FF2B5EF4-FFF2-40B4-BE49-F238E27FC236}">
                <a16:creationId xmlns:a16="http://schemas.microsoft.com/office/drawing/2014/main" id="{E93710BE-7035-78F2-20C1-E123C766B612}"/>
              </a:ext>
            </a:extLst>
          </p:cNvPr>
          <p:cNvSpPr/>
          <p:nvPr/>
        </p:nvSpPr>
        <p:spPr>
          <a:xfrm>
            <a:off x="339506" y="2337851"/>
            <a:ext cx="6766044" cy="4797349"/>
          </a:xfrm>
          <a:prstGeom prst="roundRect">
            <a:avLst>
              <a:gd name="adj" fmla="val 4335"/>
            </a:avLst>
          </a:prstGeom>
          <a:solidFill>
            <a:srgbClr val="D2DDF9"/>
          </a:solidFill>
          <a:ln/>
        </p:spPr>
        <p:txBody>
          <a:bodyPr/>
          <a:lstStyle/>
          <a:p>
            <a:endParaRPr lang="de-DE">
              <a:latin typeface="Arial" panose="020B0604020202020204" pitchFamily="34" charset="0"/>
              <a:cs typeface="Arial" panose="020B0604020202020204" pitchFamily="34" charset="0"/>
            </a:endParaRPr>
          </a:p>
        </p:txBody>
      </p:sp>
      <p:sp>
        <p:nvSpPr>
          <p:cNvPr id="2" name="Text 0">
            <a:extLst>
              <a:ext uri="{FF2B5EF4-FFF2-40B4-BE49-F238E27FC236}">
                <a16:creationId xmlns:a16="http://schemas.microsoft.com/office/drawing/2014/main" id="{8669845E-DD44-BE5E-0CCF-7158C5DF971F}"/>
              </a:ext>
            </a:extLst>
          </p:cNvPr>
          <p:cNvSpPr/>
          <p:nvPr/>
        </p:nvSpPr>
        <p:spPr>
          <a:xfrm>
            <a:off x="789980" y="1344334"/>
            <a:ext cx="9491186" cy="708779"/>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5550"/>
              </a:lnSpc>
              <a:buNone/>
            </a:pPr>
            <a:r>
              <a:rPr lang="en-US" sz="3600" dirty="0">
                <a:solidFill>
                  <a:srgbClr val="1B1B27"/>
                </a:solidFill>
                <a:latin typeface="Arial" panose="020B0604020202020204" pitchFamily="34" charset="0"/>
                <a:ea typeface="Alexandria" pitchFamily="34" charset="-122"/>
                <a:cs typeface="Arial" panose="020B0604020202020204" pitchFamily="34" charset="0"/>
              </a:rPr>
              <a:t>Constraints: Efficiency Model &amp; SOC Dynamics (3)</a:t>
            </a:r>
            <a:endParaRPr lang="en-US" sz="3600" dirty="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A4D66967-E49B-1715-C8E2-B6FE43B58480}"/>
              </a:ext>
            </a:extLst>
          </p:cNvPr>
          <p:cNvSpPr/>
          <p:nvPr/>
        </p:nvSpPr>
        <p:spPr>
          <a:xfrm>
            <a:off x="789980" y="2620089"/>
            <a:ext cx="2835235" cy="354330"/>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dirty="0">
                <a:solidFill>
                  <a:srgbClr val="1B1B27"/>
                </a:solidFill>
                <a:latin typeface="Arial" panose="020B0604020202020204" pitchFamily="34" charset="0"/>
                <a:ea typeface="Alexandria" pitchFamily="34" charset="-122"/>
                <a:cs typeface="Arial" panose="020B0604020202020204" pitchFamily="34" charset="0"/>
              </a:rPr>
              <a:t>Efficiency Map</a:t>
            </a: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Text 2">
                <a:extLst>
                  <a:ext uri="{FF2B5EF4-FFF2-40B4-BE49-F238E27FC236}">
                    <a16:creationId xmlns:a16="http://schemas.microsoft.com/office/drawing/2014/main" id="{4496DFF3-54FF-5290-59F4-B2624099FAE5}"/>
                  </a:ext>
                </a:extLst>
              </p:cNvPr>
              <p:cNvSpPr/>
              <p:nvPr/>
            </p:nvSpPr>
            <p:spPr>
              <a:xfrm>
                <a:off x="789980" y="3201233"/>
                <a:ext cx="6244709" cy="733425"/>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A factor </a:t>
                </a:r>
                <a14:m>
                  <m:oMath xmlns:m="http://schemas.openxmlformats.org/officeDocument/2006/math">
                    <m:r>
                      <m:rPr>
                        <m:sty m:val="p"/>
                      </m:rPr>
                      <a:rPr lang="el-GR" sz="1600" i="1" smtClean="0">
                        <a:solidFill>
                          <a:srgbClr val="404155"/>
                        </a:solidFill>
                        <a:latin typeface="Cambria Math" panose="02040503050406030204" pitchFamily="18" charset="0"/>
                        <a:ea typeface="Nobile" pitchFamily="34" charset="-122"/>
                        <a:cs typeface="Nobile" pitchFamily="34" charset="-120"/>
                      </a:rPr>
                      <m:t>η</m:t>
                    </m:r>
                  </m:oMath>
                </a14:m>
                <a:r>
                  <a:rPr lang="en-US" sz="1600" dirty="0">
                    <a:solidFill>
                      <a:srgbClr val="404155"/>
                    </a:solidFill>
                    <a:latin typeface="Arial" panose="020B0604020202020204" pitchFamily="34" charset="0"/>
                    <a:ea typeface="Nobile" pitchFamily="34" charset="-122"/>
                    <a:cs typeface="Arial" panose="020B0604020202020204" pitchFamily="34" charset="0"/>
                  </a:rPr>
                  <a:t> is applied to both charge and discharge:</a:t>
                </a:r>
                <a:endParaRPr lang="en-US" sz="1600" dirty="0">
                  <a:latin typeface="Arial" panose="020B0604020202020204" pitchFamily="34" charset="0"/>
                  <a:cs typeface="Arial" panose="020B0604020202020204" pitchFamily="34" charset="0"/>
                </a:endParaRPr>
              </a:p>
            </p:txBody>
          </p:sp>
        </mc:Choice>
        <mc:Fallback xmlns="">
          <p:sp>
            <p:nvSpPr>
              <p:cNvPr id="4" name="Text 2">
                <a:extLst>
                  <a:ext uri="{FF2B5EF4-FFF2-40B4-BE49-F238E27FC236}">
                    <a16:creationId xmlns:a16="http://schemas.microsoft.com/office/drawing/2014/main" id="{4496DFF3-54FF-5290-59F4-B2624099FAE5}"/>
                  </a:ext>
                </a:extLst>
              </p:cNvPr>
              <p:cNvSpPr>
                <a:spLocks noRot="1" noChangeAspect="1" noMove="1" noResize="1" noEditPoints="1" noAdjustHandles="1" noChangeArrowheads="1" noChangeShapeType="1" noTextEdit="1"/>
              </p:cNvSpPr>
              <p:nvPr/>
            </p:nvSpPr>
            <p:spPr>
              <a:xfrm>
                <a:off x="789980" y="3201233"/>
                <a:ext cx="6244709" cy="733425"/>
              </a:xfrm>
              <a:prstGeom prst="rect">
                <a:avLst/>
              </a:prstGeom>
              <a:blipFill>
                <a:blip r:embed="rId2"/>
                <a:stretch>
                  <a:fillRect l="-2051"/>
                </a:stretch>
              </a:blipFill>
              <a:ln/>
            </p:spPr>
            <p:txBody>
              <a:bodyPr/>
              <a:lstStyle/>
              <a:p>
                <a:r>
                  <a:rPr lang="de-DE">
                    <a:noFill/>
                  </a:rPr>
                  <a:t> </a:t>
                </a:r>
              </a:p>
            </p:txBody>
          </p:sp>
        </mc:Fallback>
      </mc:AlternateContent>
      <p:sp>
        <p:nvSpPr>
          <p:cNvPr id="5" name="Text 3">
            <a:extLst>
              <a:ext uri="{FF2B5EF4-FFF2-40B4-BE49-F238E27FC236}">
                <a16:creationId xmlns:a16="http://schemas.microsoft.com/office/drawing/2014/main" id="{1D37B948-B506-3275-A4AC-2DA87D7FA8E0}"/>
              </a:ext>
            </a:extLst>
          </p:cNvPr>
          <p:cNvSpPr/>
          <p:nvPr/>
        </p:nvSpPr>
        <p:spPr>
          <a:xfrm>
            <a:off x="789980" y="4221718"/>
            <a:ext cx="6244709" cy="393263"/>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200"/>
              </a:lnSpc>
              <a:buNone/>
            </a:pPr>
            <a:endParaRPr lang="en-US" sz="2000" dirty="0">
              <a:latin typeface="Arial" panose="020B0604020202020204" pitchFamily="34" charset="0"/>
              <a:cs typeface="Arial" panose="020B0604020202020204" pitchFamily="34" charset="0"/>
            </a:endParaRPr>
          </a:p>
        </p:txBody>
      </p:sp>
      <p:pic>
        <p:nvPicPr>
          <p:cNvPr id="6" name="Image 0">
            <a:extLst>
              <a:ext uri="{FF2B5EF4-FFF2-40B4-BE49-F238E27FC236}">
                <a16:creationId xmlns:a16="http://schemas.microsoft.com/office/drawing/2014/main" id="{10BE310A-DACE-787A-46D2-DB0D3FC27EC0}"/>
              </a:ext>
            </a:extLst>
          </p:cNvPr>
          <p:cNvPicPr>
            <a:picLocks noChangeAspect="1"/>
          </p:cNvPicPr>
          <p:nvPr/>
        </p:nvPicPr>
        <p:blipFill>
          <a:blip r:embed="rId3"/>
          <a:stretch>
            <a:fillRect/>
          </a:stretch>
        </p:blipFill>
        <p:spPr>
          <a:xfrm>
            <a:off x="789980" y="4221718"/>
            <a:ext cx="6244709" cy="393263"/>
          </a:xfrm>
          <a:prstGeom prst="rect">
            <a:avLst/>
          </a:prstGeom>
        </p:spPr>
      </p:pic>
      <mc:AlternateContent xmlns:mc="http://schemas.openxmlformats.org/markup-compatibility/2006" xmlns:a14="http://schemas.microsoft.com/office/drawing/2010/main">
        <mc:Choice Requires="a14">
          <p:sp>
            <p:nvSpPr>
              <p:cNvPr id="7" name="Text 4">
                <a:extLst>
                  <a:ext uri="{FF2B5EF4-FFF2-40B4-BE49-F238E27FC236}">
                    <a16:creationId xmlns:a16="http://schemas.microsoft.com/office/drawing/2014/main" id="{A860901A-E4EA-782B-EFAB-03471B3D8C95}"/>
                  </a:ext>
                </a:extLst>
              </p:cNvPr>
              <p:cNvSpPr/>
              <p:nvPr/>
            </p:nvSpPr>
            <p:spPr>
              <a:xfrm>
                <a:off x="789980" y="4902041"/>
                <a:ext cx="6244709" cy="1103948"/>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850"/>
                  </a:lnSpc>
                </a:pPr>
                <a:r>
                  <a:rPr lang="en-US" sz="1600" dirty="0">
                    <a:solidFill>
                      <a:srgbClr val="404155"/>
                    </a:solidFill>
                    <a:latin typeface="Arial" panose="020B0604020202020204" pitchFamily="34" charset="0"/>
                    <a:ea typeface="Nobile" pitchFamily="34" charset="-122"/>
                    <a:cs typeface="Arial" panose="020B0604020202020204" pitchFamily="34" charset="0"/>
                  </a:rPr>
                  <a:t>Implementation uses </a:t>
                </a:r>
                <a14:m>
                  <m:oMath xmlns:m="http://schemas.openxmlformats.org/officeDocument/2006/math">
                    <m:r>
                      <m:rPr>
                        <m:sty m:val="p"/>
                      </m:rPr>
                      <a:rPr lang="el-GR" sz="1600" i="1" smtClean="0">
                        <a:solidFill>
                          <a:srgbClr val="404155"/>
                        </a:solidFill>
                        <a:latin typeface="Cambria Math" panose="02040503050406030204" pitchFamily="18" charset="0"/>
                        <a:ea typeface="Nobile" pitchFamily="34" charset="-122"/>
                        <a:cs typeface="Nobile" pitchFamily="34" charset="-120"/>
                      </a:rPr>
                      <m:t>η</m:t>
                    </m:r>
                  </m:oMath>
                </a14:m>
                <a:r>
                  <a:rPr lang="en-US" sz="1600" i="1" dirty="0">
                    <a:solidFill>
                      <a:srgbClr val="404155"/>
                    </a:solidFill>
                    <a:latin typeface="Arial" panose="020B0604020202020204" pitchFamily="34" charset="0"/>
                    <a:ea typeface="Nobile" pitchFamily="34" charset="-122"/>
                    <a:cs typeface="Arial" panose="020B0604020202020204" pitchFamily="34" charset="0"/>
                  </a:rPr>
                  <a:t> = 0.9.</a:t>
                </a:r>
                <a:endParaRPr lang="en-US" sz="1600" dirty="0">
                  <a:latin typeface="Arial" panose="020B0604020202020204" pitchFamily="34" charset="0"/>
                  <a:cs typeface="Arial" panose="020B0604020202020204" pitchFamily="34" charset="0"/>
                </a:endParaRPr>
              </a:p>
            </p:txBody>
          </p:sp>
        </mc:Choice>
        <mc:Fallback xmlns="">
          <p:sp>
            <p:nvSpPr>
              <p:cNvPr id="7" name="Text 4">
                <a:extLst>
                  <a:ext uri="{FF2B5EF4-FFF2-40B4-BE49-F238E27FC236}">
                    <a16:creationId xmlns:a16="http://schemas.microsoft.com/office/drawing/2014/main" id="{A860901A-E4EA-782B-EFAB-03471B3D8C95}"/>
                  </a:ext>
                </a:extLst>
              </p:cNvPr>
              <p:cNvSpPr>
                <a:spLocks noRot="1" noChangeAspect="1" noMove="1" noResize="1" noEditPoints="1" noAdjustHandles="1" noChangeArrowheads="1" noChangeShapeType="1" noTextEdit="1"/>
              </p:cNvSpPr>
              <p:nvPr/>
            </p:nvSpPr>
            <p:spPr>
              <a:xfrm>
                <a:off x="789980" y="4902041"/>
                <a:ext cx="6244709" cy="1103948"/>
              </a:xfrm>
              <a:prstGeom prst="rect">
                <a:avLst/>
              </a:prstGeom>
              <a:blipFill>
                <a:blip r:embed="rId4"/>
                <a:stretch>
                  <a:fillRect l="-2051"/>
                </a:stretch>
              </a:blipFill>
              <a:ln/>
            </p:spPr>
            <p:txBody>
              <a:bodyPr/>
              <a:lstStyle/>
              <a:p>
                <a:r>
                  <a:rPr lang="de-DE">
                    <a:noFill/>
                  </a:rPr>
                  <a:t> </a:t>
                </a:r>
              </a:p>
            </p:txBody>
          </p:sp>
        </mc:Fallback>
      </mc:AlternateContent>
      <p:sp>
        <p:nvSpPr>
          <p:cNvPr id="8" name="Text 5">
            <a:extLst>
              <a:ext uri="{FF2B5EF4-FFF2-40B4-BE49-F238E27FC236}">
                <a16:creationId xmlns:a16="http://schemas.microsoft.com/office/drawing/2014/main" id="{D15F01C1-CED2-4482-E86B-22BBC54EBE70}"/>
              </a:ext>
            </a:extLst>
          </p:cNvPr>
          <p:cNvSpPr/>
          <p:nvPr/>
        </p:nvSpPr>
        <p:spPr>
          <a:xfrm>
            <a:off x="7595711" y="2620089"/>
            <a:ext cx="3718679" cy="354330"/>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dirty="0">
                <a:solidFill>
                  <a:srgbClr val="1B1B27"/>
                </a:solidFill>
                <a:latin typeface="Arial" panose="020B0604020202020204" pitchFamily="34" charset="0"/>
                <a:ea typeface="Alexandria" pitchFamily="34" charset="-122"/>
                <a:cs typeface="Arial" panose="020B0604020202020204" pitchFamily="34" charset="0"/>
              </a:rPr>
              <a:t>State-of-Charge Recursion</a:t>
            </a:r>
            <a:endParaRPr lang="en-US" dirty="0">
              <a:latin typeface="Arial" panose="020B0604020202020204" pitchFamily="34" charset="0"/>
              <a:cs typeface="Arial" panose="020B0604020202020204" pitchFamily="34" charset="0"/>
            </a:endParaRPr>
          </a:p>
        </p:txBody>
      </p:sp>
      <p:sp>
        <p:nvSpPr>
          <p:cNvPr id="9" name="Text 6">
            <a:extLst>
              <a:ext uri="{FF2B5EF4-FFF2-40B4-BE49-F238E27FC236}">
                <a16:creationId xmlns:a16="http://schemas.microsoft.com/office/drawing/2014/main" id="{29161238-D7E1-6485-19A5-2565436E340C}"/>
              </a:ext>
            </a:extLst>
          </p:cNvPr>
          <p:cNvSpPr/>
          <p:nvPr/>
        </p:nvSpPr>
        <p:spPr>
          <a:xfrm>
            <a:off x="7595711" y="3201233"/>
            <a:ext cx="6244709" cy="370523"/>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With </a:t>
            </a:r>
            <a:r>
              <a:rPr lang="en-US" sz="1600" i="1" dirty="0" err="1">
                <a:solidFill>
                  <a:srgbClr val="404155"/>
                </a:solidFill>
                <a:latin typeface="Arial" panose="020B0604020202020204" pitchFamily="34" charset="0"/>
                <a:ea typeface="Nobile" pitchFamily="34" charset="-122"/>
                <a:cs typeface="Arial" panose="020B0604020202020204" pitchFamily="34" charset="0"/>
              </a:rPr>
              <a:t>Δt</a:t>
            </a:r>
            <a:r>
              <a:rPr lang="en-US" sz="1600" i="1" dirty="0">
                <a:solidFill>
                  <a:srgbClr val="404155"/>
                </a:solidFill>
                <a:latin typeface="Arial" panose="020B0604020202020204" pitchFamily="34" charset="0"/>
                <a:ea typeface="Nobile" pitchFamily="34" charset="-122"/>
                <a:cs typeface="Arial" panose="020B0604020202020204" pitchFamily="34" charset="0"/>
              </a:rPr>
              <a:t> = </a:t>
            </a:r>
            <a:r>
              <a:rPr lang="en-US" sz="1600" dirty="0">
                <a:solidFill>
                  <a:srgbClr val="404155"/>
                </a:solidFill>
                <a:latin typeface="Arial" panose="020B0604020202020204" pitchFamily="34" charset="0"/>
                <a:ea typeface="Nobile" pitchFamily="34" charset="-122"/>
                <a:cs typeface="Arial" panose="020B0604020202020204" pitchFamily="34" charset="0"/>
              </a:rPr>
              <a:t>3600</a:t>
            </a:r>
            <a:r>
              <a:rPr lang="en-US" sz="1600" i="1" dirty="0">
                <a:solidFill>
                  <a:srgbClr val="404155"/>
                </a:solidFill>
                <a:latin typeface="Arial" panose="020B0604020202020204" pitchFamily="34" charset="0"/>
                <a:ea typeface="Nobile" pitchFamily="34" charset="-122"/>
                <a:cs typeface="Arial" panose="020B0604020202020204" pitchFamily="34" charset="0"/>
              </a:rPr>
              <a:t> s</a:t>
            </a:r>
            <a:r>
              <a:rPr lang="en-US" sz="1600" dirty="0">
                <a:solidFill>
                  <a:srgbClr val="404155"/>
                </a:solidFill>
                <a:latin typeface="Arial" panose="020B0604020202020204" pitchFamily="34" charset="0"/>
                <a:ea typeface="Nobile" pitchFamily="34" charset="-122"/>
                <a:cs typeface="Arial" panose="020B0604020202020204" pitchFamily="34" charset="0"/>
              </a:rPr>
              <a:t> and capacity </a:t>
            </a:r>
            <a:r>
              <a:rPr lang="en-US" sz="1600" i="1" dirty="0">
                <a:solidFill>
                  <a:srgbClr val="404155"/>
                </a:solidFill>
                <a:latin typeface="Arial" panose="020B0604020202020204" pitchFamily="34" charset="0"/>
                <a:ea typeface="Nobile" pitchFamily="34" charset="-122"/>
                <a:cs typeface="Arial" panose="020B0604020202020204" pitchFamily="34" charset="0"/>
              </a:rPr>
              <a:t>E</a:t>
            </a:r>
            <a:r>
              <a:rPr lang="en-US" sz="1600" i="1" baseline="-25000" dirty="0">
                <a:solidFill>
                  <a:srgbClr val="404155"/>
                </a:solidFill>
                <a:latin typeface="Arial" panose="020B0604020202020204" pitchFamily="34" charset="0"/>
                <a:ea typeface="Nobile" pitchFamily="34" charset="-122"/>
                <a:cs typeface="Arial" panose="020B0604020202020204" pitchFamily="34" charset="0"/>
              </a:rPr>
              <a:t>max</a:t>
            </a:r>
            <a:r>
              <a:rPr lang="en-US" sz="1600" i="1" dirty="0">
                <a:solidFill>
                  <a:srgbClr val="404155"/>
                </a:solidFill>
                <a:latin typeface="Arial" panose="020B0604020202020204" pitchFamily="34" charset="0"/>
                <a:ea typeface="Nobile" pitchFamily="34" charset="-122"/>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
        <p:nvSpPr>
          <p:cNvPr id="10" name="Text 7">
            <a:extLst>
              <a:ext uri="{FF2B5EF4-FFF2-40B4-BE49-F238E27FC236}">
                <a16:creationId xmlns:a16="http://schemas.microsoft.com/office/drawing/2014/main" id="{1966BCB7-202F-B67A-2D09-14599B53A054}"/>
              </a:ext>
            </a:extLst>
          </p:cNvPr>
          <p:cNvSpPr/>
          <p:nvPr/>
        </p:nvSpPr>
        <p:spPr>
          <a:xfrm>
            <a:off x="7595711" y="3858815"/>
            <a:ext cx="6244709" cy="678061"/>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200"/>
              </a:lnSpc>
              <a:buNone/>
            </a:pPr>
            <a:endParaRPr lang="en-US" sz="2000" dirty="0">
              <a:latin typeface="Arial" panose="020B0604020202020204" pitchFamily="34" charset="0"/>
              <a:cs typeface="Arial" panose="020B0604020202020204" pitchFamily="34" charset="0"/>
            </a:endParaRPr>
          </a:p>
        </p:txBody>
      </p:sp>
      <p:pic>
        <p:nvPicPr>
          <p:cNvPr id="11" name="Image 1">
            <a:extLst>
              <a:ext uri="{FF2B5EF4-FFF2-40B4-BE49-F238E27FC236}">
                <a16:creationId xmlns:a16="http://schemas.microsoft.com/office/drawing/2014/main" id="{9C55863C-670C-9FD8-DB41-1E05A6FF586A}"/>
              </a:ext>
            </a:extLst>
          </p:cNvPr>
          <p:cNvPicPr>
            <a:picLocks noChangeAspect="1"/>
          </p:cNvPicPr>
          <p:nvPr/>
        </p:nvPicPr>
        <p:blipFill>
          <a:blip r:embed="rId5"/>
          <a:stretch>
            <a:fillRect/>
          </a:stretch>
        </p:blipFill>
        <p:spPr>
          <a:xfrm>
            <a:off x="7595711" y="3858815"/>
            <a:ext cx="6244709" cy="678061"/>
          </a:xfrm>
          <a:prstGeom prst="rect">
            <a:avLst/>
          </a:prstGeom>
        </p:spPr>
      </p:pic>
      <p:sp>
        <p:nvSpPr>
          <p:cNvPr id="12" name="Text 8">
            <a:extLst>
              <a:ext uri="{FF2B5EF4-FFF2-40B4-BE49-F238E27FC236}">
                <a16:creationId xmlns:a16="http://schemas.microsoft.com/office/drawing/2014/main" id="{7C3B19E0-409D-6E0A-04A3-6E6189A8962E}"/>
              </a:ext>
            </a:extLst>
          </p:cNvPr>
          <p:cNvSpPr/>
          <p:nvPr/>
        </p:nvSpPr>
        <p:spPr>
          <a:xfrm>
            <a:off x="7595711" y="4823936"/>
            <a:ext cx="6244709" cy="1048464"/>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200"/>
              </a:lnSpc>
              <a:buNone/>
            </a:pPr>
            <a:endParaRPr lang="en-US" sz="2000" dirty="0">
              <a:latin typeface="Arial" panose="020B0604020202020204" pitchFamily="34" charset="0"/>
              <a:cs typeface="Arial" panose="020B0604020202020204" pitchFamily="34" charset="0"/>
            </a:endParaRPr>
          </a:p>
        </p:txBody>
      </p:sp>
      <p:sp>
        <p:nvSpPr>
          <p:cNvPr id="14" name="Text 9">
            <a:extLst>
              <a:ext uri="{FF2B5EF4-FFF2-40B4-BE49-F238E27FC236}">
                <a16:creationId xmlns:a16="http://schemas.microsoft.com/office/drawing/2014/main" id="{5B9AEE8A-5831-AC6D-2A2E-8D18D4D9C08C}"/>
              </a:ext>
            </a:extLst>
          </p:cNvPr>
          <p:cNvSpPr/>
          <p:nvPr/>
        </p:nvSpPr>
        <p:spPr>
          <a:xfrm>
            <a:off x="7595711" y="6159460"/>
            <a:ext cx="6244709" cy="725805"/>
          </a:xfrm>
          <a:prstGeom prst="rect">
            <a:avLst/>
          </a:prstGeom>
          <a:noFill/>
          <a:ln/>
        </p:spPr>
        <p:txBody>
          <a:bodyPr wrap="squar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600" dirty="0">
                <a:solidFill>
                  <a:srgbClr val="404155"/>
                </a:solidFill>
                <a:latin typeface="Arial" panose="020B0604020202020204" pitchFamily="34" charset="0"/>
                <a:ea typeface="Nobile" pitchFamily="34" charset="-122"/>
                <a:cs typeface="Arial" panose="020B0604020202020204" pitchFamily="34" charset="0"/>
              </a:rPr>
              <a:t>Each step integrates effective battery power into the energy state, enforcing causality across the horizon.</a:t>
            </a:r>
            <a:endParaRPr lang="en-US" sz="1600" dirty="0">
              <a:latin typeface="Arial" panose="020B0604020202020204" pitchFamily="34" charset="0"/>
              <a:cs typeface="Arial" panose="020B0604020202020204" pitchFamily="34" charset="0"/>
            </a:endParaRPr>
          </a:p>
        </p:txBody>
      </p:sp>
      <p:pic>
        <p:nvPicPr>
          <p:cNvPr id="15" name="Image 2">
            <a:extLst>
              <a:ext uri="{FF2B5EF4-FFF2-40B4-BE49-F238E27FC236}">
                <a16:creationId xmlns:a16="http://schemas.microsoft.com/office/drawing/2014/main" id="{DC4E9856-A129-0E54-64F9-767D24E6BCD6}"/>
              </a:ext>
            </a:extLst>
          </p:cNvPr>
          <p:cNvPicPr>
            <a:picLocks noChangeAspect="1"/>
          </p:cNvPicPr>
          <p:nvPr/>
        </p:nvPicPr>
        <p:blipFill>
          <a:blip r:embed="rId6"/>
          <a:stretch>
            <a:fillRect/>
          </a:stretch>
        </p:blipFill>
        <p:spPr>
          <a:xfrm>
            <a:off x="7595711" y="5114984"/>
            <a:ext cx="6516529" cy="678061"/>
          </a:xfrm>
          <a:prstGeom prst="rect">
            <a:avLst/>
          </a:prstGeom>
        </p:spPr>
      </p:pic>
      <p:sp>
        <p:nvSpPr>
          <p:cNvPr id="18" name="Slide Number Placeholder 17">
            <a:extLst>
              <a:ext uri="{FF2B5EF4-FFF2-40B4-BE49-F238E27FC236}">
                <a16:creationId xmlns:a16="http://schemas.microsoft.com/office/drawing/2014/main" id="{48D55A8E-4D2D-AC64-10C8-D899B48F66FF}"/>
              </a:ext>
            </a:extLst>
          </p:cNvPr>
          <p:cNvSpPr>
            <a:spLocks noGrp="1"/>
          </p:cNvSpPr>
          <p:nvPr>
            <p:ph type="sldNum" sz="quarter" idx="10"/>
          </p:nvPr>
        </p:nvSpPr>
        <p:spPr/>
        <p:txBody>
          <a:bodyPr/>
          <a:lstStyle/>
          <a:p>
            <a:fld id="{A02D9A9C-251E-4686-914B-47E3F39F30D8}" type="slidenum">
              <a:rPr lang="de-DE" smtClean="0"/>
              <a:t>7</a:t>
            </a:fld>
            <a:endParaRPr lang="de-DE"/>
          </a:p>
        </p:txBody>
      </p:sp>
    </p:spTree>
    <p:extLst>
      <p:ext uri="{BB962C8B-B14F-4D97-AF65-F5344CB8AC3E}">
        <p14:creationId xmlns:p14="http://schemas.microsoft.com/office/powerpoint/2010/main" val="3828837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3B640-ED4D-C8B4-EBAC-701A73132A1E}"/>
              </a:ext>
            </a:extLst>
          </p:cNvPr>
          <p:cNvSpPr>
            <a:spLocks noGrp="1"/>
          </p:cNvSpPr>
          <p:nvPr>
            <p:ph type="sldNum" sz="quarter" idx="10"/>
          </p:nvPr>
        </p:nvSpPr>
        <p:spPr/>
        <p:txBody>
          <a:bodyPr/>
          <a:lstStyle/>
          <a:p>
            <a:fld id="{A02D9A9C-251E-4686-914B-47E3F39F30D8}" type="slidenum">
              <a:rPr lang="de-DE" smtClean="0">
                <a:latin typeface="Arial" panose="020B0604020202020204" pitchFamily="34" charset="0"/>
                <a:cs typeface="Arial" panose="020B0604020202020204" pitchFamily="34" charset="0"/>
              </a:rPr>
              <a:t>8</a:t>
            </a:fld>
            <a:endParaRPr lang="de-DE">
              <a:latin typeface="Arial" panose="020B0604020202020204" pitchFamily="34" charset="0"/>
              <a:cs typeface="Arial" panose="020B0604020202020204" pitchFamily="34" charset="0"/>
            </a:endParaRPr>
          </a:p>
        </p:txBody>
      </p:sp>
      <p:sp>
        <p:nvSpPr>
          <p:cNvPr id="6" name="table panel">
            <a:extLst>
              <a:ext uri="{FF2B5EF4-FFF2-40B4-BE49-F238E27FC236}">
                <a16:creationId xmlns:a16="http://schemas.microsoft.com/office/drawing/2014/main" id="{1B00AB32-72F7-541D-4A71-543F6BB7979C}"/>
              </a:ext>
            </a:extLst>
          </p:cNvPr>
          <p:cNvSpPr/>
          <p:nvPr/>
        </p:nvSpPr>
        <p:spPr>
          <a:xfrm>
            <a:off x="500249" y="1716757"/>
            <a:ext cx="7230643" cy="5282561"/>
          </a:xfrm>
          <a:prstGeom prst="roundRect">
            <a:avLst/>
          </a:prstGeom>
          <a:solidFill>
            <a:srgbClr val="FFFFFF"/>
          </a:solidFill>
          <a:ln w="9525">
            <a:solidFill>
              <a:srgbClr val="CBD5E1"/>
            </a:solidFill>
          </a:ln>
        </p:spPr>
        <p:txBody>
          <a:bodyPr/>
          <a:lstStyle/>
          <a:p>
            <a:endParaRPr sz="1200">
              <a:latin typeface="Arial" panose="020B0604020202020204" pitchFamily="34" charset="0"/>
              <a:cs typeface="Arial" panose="020B0604020202020204" pitchFamily="34" charset="0"/>
            </a:endParaRPr>
          </a:p>
        </p:txBody>
      </p:sp>
      <p:sp>
        <p:nvSpPr>
          <p:cNvPr id="7" name="sac panel">
            <a:extLst>
              <a:ext uri="{FF2B5EF4-FFF2-40B4-BE49-F238E27FC236}">
                <a16:creationId xmlns:a16="http://schemas.microsoft.com/office/drawing/2014/main" id="{FC042166-572C-14C1-32EF-46056912F166}"/>
              </a:ext>
            </a:extLst>
          </p:cNvPr>
          <p:cNvSpPr/>
          <p:nvPr/>
        </p:nvSpPr>
        <p:spPr>
          <a:xfrm>
            <a:off x="8910262" y="1857154"/>
            <a:ext cx="4251960" cy="5120640"/>
          </a:xfrm>
          <a:prstGeom prst="roundRect">
            <a:avLst/>
          </a:prstGeom>
          <a:solidFill>
            <a:srgbClr val="EFF6FF"/>
          </a:solidFill>
          <a:ln w="9525">
            <a:solidFill>
              <a:srgbClr val="BFDBFE"/>
            </a:solidFill>
          </a:ln>
        </p:spPr>
        <p:txBody>
          <a:bodyPr/>
          <a:lstStyle/>
          <a:p>
            <a:endParaRPr sz="1200">
              <a:latin typeface="Arial" panose="020B0604020202020204" pitchFamily="34" charset="0"/>
              <a:cs typeface="Arial" panose="020B0604020202020204" pitchFamily="34" charset="0"/>
            </a:endParaRPr>
          </a:p>
        </p:txBody>
      </p:sp>
      <p:sp>
        <p:nvSpPr>
          <p:cNvPr id="8" name="title">
            <a:extLst>
              <a:ext uri="{FF2B5EF4-FFF2-40B4-BE49-F238E27FC236}">
                <a16:creationId xmlns:a16="http://schemas.microsoft.com/office/drawing/2014/main" id="{B13BEFEE-FB5A-3F3A-1F03-678A1920915B}"/>
              </a:ext>
            </a:extLst>
          </p:cNvPr>
          <p:cNvSpPr txBox="1"/>
          <p:nvPr/>
        </p:nvSpPr>
        <p:spPr>
          <a:xfrm>
            <a:off x="671724" y="676656"/>
            <a:ext cx="11155680" cy="502920"/>
          </a:xfrm>
          <a:prstGeom prst="rect">
            <a:avLst/>
          </a:prstGeom>
          <a:noFill/>
          <a:ln w="0">
            <a:noFill/>
          </a:ln>
        </p:spPr>
        <p:txBody>
          <a:bodyPr wrap="square" lIns="18288" tIns="18288" rIns="18288" bIns="18288" anchor="t"/>
          <a:lstStyle/>
          <a:p>
            <a:r>
              <a:rPr lang="en-US" sz="3000">
                <a:solidFill>
                  <a:srgbClr val="0F172A"/>
                </a:solidFill>
                <a:latin typeface="Arial" panose="020B0604020202020204" pitchFamily="34" charset="0"/>
                <a:cs typeface="Arial" panose="020B0604020202020204" pitchFamily="34" charset="0"/>
              </a:rPr>
              <a:t>Why Soft Actor-Critic (SAC)?</a:t>
            </a:r>
            <a:endParaRPr lang="en-US" sz="3000">
              <a:latin typeface="Arial" panose="020B0604020202020204" pitchFamily="34" charset="0"/>
              <a:cs typeface="Arial" panose="020B0604020202020204" pitchFamily="34" charset="0"/>
            </a:endParaRPr>
          </a:p>
        </p:txBody>
      </p:sp>
      <p:sp>
        <p:nvSpPr>
          <p:cNvPr id="9" name="subtitle">
            <a:extLst>
              <a:ext uri="{FF2B5EF4-FFF2-40B4-BE49-F238E27FC236}">
                <a16:creationId xmlns:a16="http://schemas.microsoft.com/office/drawing/2014/main" id="{9F5497E0-FAF2-3293-F8A7-C798B63721B6}"/>
              </a:ext>
            </a:extLst>
          </p:cNvPr>
          <p:cNvSpPr txBox="1"/>
          <p:nvPr/>
        </p:nvSpPr>
        <p:spPr>
          <a:xfrm>
            <a:off x="690012" y="1345090"/>
            <a:ext cx="11155680" cy="301752"/>
          </a:xfrm>
          <a:prstGeom prst="rect">
            <a:avLst/>
          </a:prstGeom>
          <a:noFill/>
          <a:ln w="0">
            <a:noFill/>
          </a:ln>
        </p:spPr>
        <p:txBody>
          <a:bodyPr wrap="square" lIns="18288" tIns="18288" rIns="18288" bIns="18288" anchor="t"/>
          <a:lstStyle/>
          <a:p>
            <a:r>
              <a:rPr lang="en-US" sz="1200" dirty="0">
                <a:solidFill>
                  <a:srgbClr val="475569"/>
                </a:solidFill>
                <a:latin typeface="Arial" panose="020B0604020202020204" pitchFamily="34" charset="0"/>
                <a:cs typeface="Arial" panose="020B0604020202020204" pitchFamily="34" charset="0"/>
              </a:rPr>
              <a:t>The control task needs continuous setpoints, sample-efficient learning, and stable exploration under changing electricity prices</a:t>
            </a:r>
            <a:endParaRPr lang="en-US" sz="1200" dirty="0">
              <a:latin typeface="Arial" panose="020B0604020202020204" pitchFamily="34" charset="0"/>
              <a:cs typeface="Arial" panose="020B0604020202020204" pitchFamily="34" charset="0"/>
            </a:endParaRPr>
          </a:p>
        </p:txBody>
      </p:sp>
      <p:sp>
        <p:nvSpPr>
          <p:cNvPr id="10" name="header fill">
            <a:extLst>
              <a:ext uri="{FF2B5EF4-FFF2-40B4-BE49-F238E27FC236}">
                <a16:creationId xmlns:a16="http://schemas.microsoft.com/office/drawing/2014/main" id="{2209A134-51B3-005F-34D0-9CD5B6DF1A88}"/>
              </a:ext>
            </a:extLst>
          </p:cNvPr>
          <p:cNvSpPr/>
          <p:nvPr/>
        </p:nvSpPr>
        <p:spPr>
          <a:xfrm>
            <a:off x="909468" y="2040034"/>
            <a:ext cx="6446520" cy="384048"/>
          </a:xfrm>
          <a:prstGeom prst="roundRect">
            <a:avLst/>
          </a:prstGeom>
          <a:solidFill>
            <a:srgbClr val="E2E8F0"/>
          </a:solidFill>
          <a:ln w="9525">
            <a:solidFill>
              <a:srgbClr val="E2E8F0"/>
            </a:solidFill>
          </a:ln>
        </p:spPr>
        <p:txBody>
          <a:bodyPr/>
          <a:lstStyle/>
          <a:p>
            <a:endParaRPr sz="1200">
              <a:latin typeface="Arial" panose="020B0604020202020204" pitchFamily="34" charset="0"/>
              <a:cs typeface="Arial" panose="020B0604020202020204" pitchFamily="34" charset="0"/>
            </a:endParaRPr>
          </a:p>
        </p:txBody>
      </p:sp>
      <p:sp>
        <p:nvSpPr>
          <p:cNvPr id="11" name="header left">
            <a:extLst>
              <a:ext uri="{FF2B5EF4-FFF2-40B4-BE49-F238E27FC236}">
                <a16:creationId xmlns:a16="http://schemas.microsoft.com/office/drawing/2014/main" id="{1CE8518F-6A8C-7702-55E9-33FC2E18307B}"/>
              </a:ext>
            </a:extLst>
          </p:cNvPr>
          <p:cNvSpPr txBox="1"/>
          <p:nvPr/>
        </p:nvSpPr>
        <p:spPr>
          <a:xfrm>
            <a:off x="1000908" y="2104042"/>
            <a:ext cx="1664208" cy="201168"/>
          </a:xfrm>
          <a:prstGeom prst="rect">
            <a:avLst/>
          </a:prstGeom>
          <a:solidFill>
            <a:srgbClr val="E2E8F0"/>
          </a:solidFill>
          <a:ln w="0">
            <a:solidFill>
              <a:srgbClr val="E2E8F0"/>
            </a:solidFill>
          </a:ln>
        </p:spPr>
        <p:txBody>
          <a:bodyPr wrap="square" lIns="9144" tIns="9144" rIns="9144" bIns="9144" anchor="t"/>
          <a:lstStyle/>
          <a:p>
            <a:r>
              <a:rPr lang="en-US" sz="1200">
                <a:solidFill>
                  <a:srgbClr val="0F172A"/>
                </a:solidFill>
                <a:latin typeface="Arial" panose="020B0604020202020204" pitchFamily="34" charset="0"/>
                <a:cs typeface="Arial" panose="020B0604020202020204" pitchFamily="34" charset="0"/>
              </a:rPr>
              <a:t>Algorithm</a:t>
            </a:r>
            <a:endParaRPr lang="en-US" sz="1200">
              <a:latin typeface="Arial" panose="020B0604020202020204" pitchFamily="34" charset="0"/>
              <a:cs typeface="Arial" panose="020B0604020202020204" pitchFamily="34" charset="0"/>
            </a:endParaRPr>
          </a:p>
        </p:txBody>
      </p:sp>
      <p:sp>
        <p:nvSpPr>
          <p:cNvPr id="12" name="header right">
            <a:extLst>
              <a:ext uri="{FF2B5EF4-FFF2-40B4-BE49-F238E27FC236}">
                <a16:creationId xmlns:a16="http://schemas.microsoft.com/office/drawing/2014/main" id="{C0DD0CD9-D7A5-2DC6-7864-A2181E68C525}"/>
              </a:ext>
            </a:extLst>
          </p:cNvPr>
          <p:cNvSpPr txBox="1"/>
          <p:nvPr/>
        </p:nvSpPr>
        <p:spPr>
          <a:xfrm>
            <a:off x="2500524" y="2104042"/>
            <a:ext cx="4645152" cy="201168"/>
          </a:xfrm>
          <a:prstGeom prst="rect">
            <a:avLst/>
          </a:prstGeom>
          <a:solidFill>
            <a:srgbClr val="E2E8F0"/>
          </a:solidFill>
          <a:ln w="0">
            <a:solidFill>
              <a:srgbClr val="E2E8F0"/>
            </a:solidFill>
          </a:ln>
        </p:spPr>
        <p:txBody>
          <a:bodyPr wrap="square" lIns="9144" tIns="9144" rIns="9144" bIns="9144" anchor="t"/>
          <a:lstStyle/>
          <a:p>
            <a:r>
              <a:rPr lang="en-US" sz="1200">
                <a:solidFill>
                  <a:srgbClr val="0F172A"/>
                </a:solidFill>
                <a:latin typeface="Arial" panose="020B0604020202020204" pitchFamily="34" charset="0"/>
                <a:cs typeface="Arial" panose="020B0604020202020204" pitchFamily="34" charset="0"/>
              </a:rPr>
              <a:t>Why it was not the main choice</a:t>
            </a:r>
            <a:endParaRPr lang="en-US" sz="1200">
              <a:latin typeface="Arial" panose="020B0604020202020204" pitchFamily="34" charset="0"/>
              <a:cs typeface="Arial" panose="020B0604020202020204" pitchFamily="34" charset="0"/>
            </a:endParaRPr>
          </a:p>
        </p:txBody>
      </p:sp>
      <p:cxnSp>
        <p:nvCxnSpPr>
          <p:cNvPr id="13" name="header line">
            <a:extLst>
              <a:ext uri="{FF2B5EF4-FFF2-40B4-BE49-F238E27FC236}">
                <a16:creationId xmlns:a16="http://schemas.microsoft.com/office/drawing/2014/main" id="{D8CB2E3A-A2D3-B2A8-75A9-D4F1B55B5DB1}"/>
              </a:ext>
            </a:extLst>
          </p:cNvPr>
          <p:cNvCxnSpPr>
            <a:cxnSpLocks/>
          </p:cNvCxnSpPr>
          <p:nvPr/>
        </p:nvCxnSpPr>
        <p:spPr>
          <a:xfrm>
            <a:off x="2390796" y="2049178"/>
            <a:ext cx="13357" cy="3227832"/>
          </a:xfrm>
          <a:prstGeom prst="line">
            <a:avLst/>
          </a:prstGeom>
          <a:ln w="12700">
            <a:solidFill>
              <a:srgbClr val="CBD5E1"/>
            </a:solidFill>
          </a:ln>
        </p:spPr>
      </p:cxnSp>
      <p:sp>
        <p:nvSpPr>
          <p:cNvPr id="14" name="alg Q-learning">
            <a:extLst>
              <a:ext uri="{FF2B5EF4-FFF2-40B4-BE49-F238E27FC236}">
                <a16:creationId xmlns:a16="http://schemas.microsoft.com/office/drawing/2014/main" id="{C8E68977-4072-1B75-7D50-D9F6A88BEA6C}"/>
              </a:ext>
            </a:extLst>
          </p:cNvPr>
          <p:cNvSpPr txBox="1"/>
          <p:nvPr/>
        </p:nvSpPr>
        <p:spPr>
          <a:xfrm>
            <a:off x="1000908" y="2561242"/>
            <a:ext cx="1261872" cy="411480"/>
          </a:xfrm>
          <a:prstGeom prst="rect">
            <a:avLst/>
          </a:prstGeom>
          <a:solidFill>
            <a:srgbClr val="FFFFFF"/>
          </a:solidFill>
          <a:ln w="0">
            <a:solidFill>
              <a:srgbClr val="FFFFFF"/>
            </a:solidFill>
          </a:ln>
        </p:spPr>
        <p:txBody>
          <a:bodyPr wrap="square" lIns="9144" tIns="9144" rIns="9144" bIns="9144" anchor="t"/>
          <a:lstStyle/>
          <a:p>
            <a:r>
              <a:rPr lang="en-US" sz="1200">
                <a:solidFill>
                  <a:srgbClr val="1E3A8A"/>
                </a:solidFill>
                <a:latin typeface="Arial" panose="020B0604020202020204" pitchFamily="34" charset="0"/>
                <a:cs typeface="Arial" panose="020B0604020202020204" pitchFamily="34" charset="0"/>
              </a:rPr>
              <a:t>Q-learning</a:t>
            </a:r>
            <a:endParaRPr lang="en-US" sz="1200">
              <a:latin typeface="Arial" panose="020B0604020202020204" pitchFamily="34" charset="0"/>
              <a:cs typeface="Arial" panose="020B0604020202020204" pitchFamily="34" charset="0"/>
            </a:endParaRPr>
          </a:p>
        </p:txBody>
      </p:sp>
      <p:sp>
        <p:nvSpPr>
          <p:cNvPr id="15" name="why Q-learning">
            <a:extLst>
              <a:ext uri="{FF2B5EF4-FFF2-40B4-BE49-F238E27FC236}">
                <a16:creationId xmlns:a16="http://schemas.microsoft.com/office/drawing/2014/main" id="{E1E05F8E-576A-E579-519D-91063C0E8951}"/>
              </a:ext>
            </a:extLst>
          </p:cNvPr>
          <p:cNvSpPr txBox="1"/>
          <p:nvPr/>
        </p:nvSpPr>
        <p:spPr>
          <a:xfrm>
            <a:off x="2500524" y="2552098"/>
            <a:ext cx="4617720" cy="502920"/>
          </a:xfrm>
          <a:prstGeom prst="rect">
            <a:avLst/>
          </a:prstGeom>
          <a:solidFill>
            <a:srgbClr val="FFFFFF"/>
          </a:solidFill>
          <a:ln w="0">
            <a:solidFill>
              <a:srgbClr val="FFFFFF"/>
            </a:solidFill>
          </a:ln>
        </p:spPr>
        <p:txBody>
          <a:bodyPr wrap="square" lIns="9144" tIns="9144" rIns="9144" bIns="9144" anchor="t"/>
          <a:lstStyle/>
          <a:p>
            <a:r>
              <a:rPr lang="en-US" sz="1200" dirty="0">
                <a:solidFill>
                  <a:srgbClr val="334155"/>
                </a:solidFill>
                <a:latin typeface="Arial" panose="020B0604020202020204" pitchFamily="34" charset="0"/>
                <a:cs typeface="Arial" panose="020B0604020202020204" pitchFamily="34" charset="0"/>
              </a:rPr>
              <a:t>Works best for small discrete states/actions; continuous battery power would need coarse discretization.</a:t>
            </a:r>
            <a:endParaRPr lang="en-US" sz="1200" dirty="0">
              <a:latin typeface="Arial" panose="020B0604020202020204" pitchFamily="34" charset="0"/>
              <a:cs typeface="Arial" panose="020B0604020202020204" pitchFamily="34" charset="0"/>
            </a:endParaRPr>
          </a:p>
        </p:txBody>
      </p:sp>
      <p:cxnSp>
        <p:nvCxnSpPr>
          <p:cNvPr id="16" name="row line 0">
            <a:extLst>
              <a:ext uri="{FF2B5EF4-FFF2-40B4-BE49-F238E27FC236}">
                <a16:creationId xmlns:a16="http://schemas.microsoft.com/office/drawing/2014/main" id="{D90AEB32-430B-CB73-0DFD-F8A77A50C9E5}"/>
              </a:ext>
            </a:extLst>
          </p:cNvPr>
          <p:cNvCxnSpPr/>
          <p:nvPr/>
        </p:nvCxnSpPr>
        <p:spPr>
          <a:xfrm>
            <a:off x="927756" y="3137314"/>
            <a:ext cx="6419088" cy="0"/>
          </a:xfrm>
          <a:prstGeom prst="line">
            <a:avLst/>
          </a:prstGeom>
          <a:ln w="6350">
            <a:solidFill>
              <a:srgbClr val="E2E8F0"/>
            </a:solidFill>
          </a:ln>
        </p:spPr>
      </p:cxnSp>
      <p:sp>
        <p:nvSpPr>
          <p:cNvPr id="17" name="row shade 1">
            <a:extLst>
              <a:ext uri="{FF2B5EF4-FFF2-40B4-BE49-F238E27FC236}">
                <a16:creationId xmlns:a16="http://schemas.microsoft.com/office/drawing/2014/main" id="{F8743495-A1F5-7B91-20E2-6E0CB6D82973}"/>
              </a:ext>
            </a:extLst>
          </p:cNvPr>
          <p:cNvSpPr/>
          <p:nvPr/>
        </p:nvSpPr>
        <p:spPr>
          <a:xfrm>
            <a:off x="909468" y="3201322"/>
            <a:ext cx="6446520" cy="658368"/>
          </a:xfrm>
          <a:prstGeom prst="rect">
            <a:avLst/>
          </a:prstGeom>
          <a:solidFill>
            <a:srgbClr val="F8FAFC"/>
          </a:solidFill>
          <a:ln w="9525">
            <a:solidFill>
              <a:srgbClr val="F8FAFC"/>
            </a:solidFill>
          </a:ln>
        </p:spPr>
        <p:txBody>
          <a:bodyPr/>
          <a:lstStyle/>
          <a:p>
            <a:endParaRPr sz="1200">
              <a:latin typeface="Arial" panose="020B0604020202020204" pitchFamily="34" charset="0"/>
              <a:cs typeface="Arial" panose="020B0604020202020204" pitchFamily="34" charset="0"/>
            </a:endParaRPr>
          </a:p>
        </p:txBody>
      </p:sp>
      <p:sp>
        <p:nvSpPr>
          <p:cNvPr id="18" name="alg DQN">
            <a:extLst>
              <a:ext uri="{FF2B5EF4-FFF2-40B4-BE49-F238E27FC236}">
                <a16:creationId xmlns:a16="http://schemas.microsoft.com/office/drawing/2014/main" id="{A9C59F2D-075D-08B7-DDF9-EFF04B190F2E}"/>
              </a:ext>
            </a:extLst>
          </p:cNvPr>
          <p:cNvSpPr txBox="1"/>
          <p:nvPr/>
        </p:nvSpPr>
        <p:spPr>
          <a:xfrm>
            <a:off x="1000908" y="3274474"/>
            <a:ext cx="1261872" cy="411480"/>
          </a:xfrm>
          <a:prstGeom prst="rect">
            <a:avLst/>
          </a:prstGeom>
          <a:solidFill>
            <a:srgbClr val="F8FAFC"/>
          </a:solidFill>
          <a:ln w="0">
            <a:solidFill>
              <a:srgbClr val="FFFFFF"/>
            </a:solidFill>
          </a:ln>
        </p:spPr>
        <p:txBody>
          <a:bodyPr wrap="square" lIns="9144" tIns="9144" rIns="9144" bIns="9144" anchor="t"/>
          <a:lstStyle/>
          <a:p>
            <a:r>
              <a:rPr lang="en-US" sz="1200">
                <a:solidFill>
                  <a:srgbClr val="1E3A8A"/>
                </a:solidFill>
                <a:latin typeface="Arial" panose="020B0604020202020204" pitchFamily="34" charset="0"/>
                <a:cs typeface="Arial" panose="020B0604020202020204" pitchFamily="34" charset="0"/>
              </a:rPr>
              <a:t>DQN</a:t>
            </a:r>
            <a:endParaRPr lang="en-US" sz="1200">
              <a:latin typeface="Arial" panose="020B0604020202020204" pitchFamily="34" charset="0"/>
              <a:cs typeface="Arial" panose="020B0604020202020204" pitchFamily="34" charset="0"/>
            </a:endParaRPr>
          </a:p>
        </p:txBody>
      </p:sp>
      <p:sp>
        <p:nvSpPr>
          <p:cNvPr id="19" name="why DQN">
            <a:extLst>
              <a:ext uri="{FF2B5EF4-FFF2-40B4-BE49-F238E27FC236}">
                <a16:creationId xmlns:a16="http://schemas.microsoft.com/office/drawing/2014/main" id="{C8CEA801-DC53-D98A-0A7A-6ABEA14ED48E}"/>
              </a:ext>
            </a:extLst>
          </p:cNvPr>
          <p:cNvSpPr txBox="1"/>
          <p:nvPr/>
        </p:nvSpPr>
        <p:spPr>
          <a:xfrm>
            <a:off x="2500524" y="3265330"/>
            <a:ext cx="4617720" cy="502920"/>
          </a:xfrm>
          <a:prstGeom prst="rect">
            <a:avLst/>
          </a:prstGeom>
          <a:solidFill>
            <a:srgbClr val="F8FAFC"/>
          </a:solidFill>
          <a:ln w="0">
            <a:solidFill>
              <a:srgbClr val="FFFFFF"/>
            </a:solidFill>
          </a:ln>
        </p:spPr>
        <p:txBody>
          <a:bodyPr wrap="square" lIns="9144" tIns="9144" rIns="9144" bIns="9144" anchor="t"/>
          <a:lstStyle/>
          <a:p>
            <a:r>
              <a:rPr lang="en-US" sz="1200" dirty="0">
                <a:solidFill>
                  <a:srgbClr val="334155"/>
                </a:solidFill>
                <a:latin typeface="Arial" panose="020B0604020202020204" pitchFamily="34" charset="0"/>
                <a:cs typeface="Arial" panose="020B0604020202020204" pitchFamily="34" charset="0"/>
              </a:rPr>
              <a:t>Deep version of Q-learning, but still mainly discrete-action; </a:t>
            </a:r>
            <a:endParaRPr lang="en-US" sz="1200" dirty="0">
              <a:latin typeface="Arial" panose="020B0604020202020204" pitchFamily="34" charset="0"/>
              <a:cs typeface="Arial" panose="020B0604020202020204" pitchFamily="34" charset="0"/>
            </a:endParaRPr>
          </a:p>
        </p:txBody>
      </p:sp>
      <p:cxnSp>
        <p:nvCxnSpPr>
          <p:cNvPr id="20" name="row line 1">
            <a:extLst>
              <a:ext uri="{FF2B5EF4-FFF2-40B4-BE49-F238E27FC236}">
                <a16:creationId xmlns:a16="http://schemas.microsoft.com/office/drawing/2014/main" id="{31B7A52A-4BF1-2E75-EC63-5E5C3C86D88B}"/>
              </a:ext>
            </a:extLst>
          </p:cNvPr>
          <p:cNvCxnSpPr/>
          <p:nvPr/>
        </p:nvCxnSpPr>
        <p:spPr>
          <a:xfrm>
            <a:off x="927756" y="3850546"/>
            <a:ext cx="6419088" cy="0"/>
          </a:xfrm>
          <a:prstGeom prst="line">
            <a:avLst/>
          </a:prstGeom>
          <a:ln w="6350">
            <a:solidFill>
              <a:srgbClr val="E2E8F0"/>
            </a:solidFill>
          </a:ln>
        </p:spPr>
      </p:cxnSp>
      <p:sp>
        <p:nvSpPr>
          <p:cNvPr id="21" name="alg PPO">
            <a:extLst>
              <a:ext uri="{FF2B5EF4-FFF2-40B4-BE49-F238E27FC236}">
                <a16:creationId xmlns:a16="http://schemas.microsoft.com/office/drawing/2014/main" id="{21044B98-C7B3-DEF1-AE04-6E26A438161E}"/>
              </a:ext>
            </a:extLst>
          </p:cNvPr>
          <p:cNvSpPr txBox="1"/>
          <p:nvPr/>
        </p:nvSpPr>
        <p:spPr>
          <a:xfrm>
            <a:off x="1000908" y="3987706"/>
            <a:ext cx="1261872" cy="411480"/>
          </a:xfrm>
          <a:prstGeom prst="rect">
            <a:avLst/>
          </a:prstGeom>
          <a:solidFill>
            <a:srgbClr val="FFFFFF"/>
          </a:solidFill>
          <a:ln w="0">
            <a:solidFill>
              <a:srgbClr val="FFFFFF"/>
            </a:solidFill>
          </a:ln>
        </p:spPr>
        <p:txBody>
          <a:bodyPr wrap="square" lIns="9144" tIns="9144" rIns="9144" bIns="9144" anchor="t"/>
          <a:lstStyle/>
          <a:p>
            <a:r>
              <a:rPr lang="en-US" sz="1200">
                <a:solidFill>
                  <a:srgbClr val="1E3A8A"/>
                </a:solidFill>
                <a:latin typeface="Arial" panose="020B0604020202020204" pitchFamily="34" charset="0"/>
                <a:cs typeface="Arial" panose="020B0604020202020204" pitchFamily="34" charset="0"/>
              </a:rPr>
              <a:t>PPO</a:t>
            </a:r>
            <a:endParaRPr lang="en-US" sz="1200">
              <a:latin typeface="Arial" panose="020B0604020202020204" pitchFamily="34" charset="0"/>
              <a:cs typeface="Arial" panose="020B0604020202020204" pitchFamily="34" charset="0"/>
            </a:endParaRPr>
          </a:p>
        </p:txBody>
      </p:sp>
      <p:sp>
        <p:nvSpPr>
          <p:cNvPr id="22" name="why PPO">
            <a:extLst>
              <a:ext uri="{FF2B5EF4-FFF2-40B4-BE49-F238E27FC236}">
                <a16:creationId xmlns:a16="http://schemas.microsoft.com/office/drawing/2014/main" id="{7DBD0F20-1283-3D64-8E8E-74CFE588D4F6}"/>
              </a:ext>
            </a:extLst>
          </p:cNvPr>
          <p:cNvSpPr txBox="1"/>
          <p:nvPr/>
        </p:nvSpPr>
        <p:spPr>
          <a:xfrm>
            <a:off x="2500524" y="3978562"/>
            <a:ext cx="4617720" cy="502920"/>
          </a:xfrm>
          <a:prstGeom prst="rect">
            <a:avLst/>
          </a:prstGeom>
          <a:solidFill>
            <a:srgbClr val="FFFFFF"/>
          </a:solidFill>
          <a:ln w="0">
            <a:solidFill>
              <a:srgbClr val="FFFFFF"/>
            </a:solidFill>
          </a:ln>
        </p:spPr>
        <p:txBody>
          <a:bodyPr wrap="square" lIns="9144" tIns="9144" rIns="9144" bIns="9144" anchor="t"/>
          <a:lstStyle/>
          <a:p>
            <a:r>
              <a:rPr lang="en-US" sz="1200" dirty="0">
                <a:solidFill>
                  <a:srgbClr val="334155"/>
                </a:solidFill>
                <a:latin typeface="Arial" panose="020B0604020202020204" pitchFamily="34" charset="0"/>
                <a:cs typeface="Arial" panose="020B0604020202020204" pitchFamily="34" charset="0"/>
              </a:rPr>
              <a:t>Can handle continuous actions and is stable, but on-policy learning usually needs more fresh simulation data.</a:t>
            </a:r>
            <a:endParaRPr lang="en-US" sz="1200" dirty="0">
              <a:latin typeface="Arial" panose="020B0604020202020204" pitchFamily="34" charset="0"/>
              <a:cs typeface="Arial" panose="020B0604020202020204" pitchFamily="34" charset="0"/>
            </a:endParaRPr>
          </a:p>
        </p:txBody>
      </p:sp>
      <p:cxnSp>
        <p:nvCxnSpPr>
          <p:cNvPr id="23" name="row line 2">
            <a:extLst>
              <a:ext uri="{FF2B5EF4-FFF2-40B4-BE49-F238E27FC236}">
                <a16:creationId xmlns:a16="http://schemas.microsoft.com/office/drawing/2014/main" id="{EF453E85-3395-830A-93B5-E5A3599399B8}"/>
              </a:ext>
            </a:extLst>
          </p:cNvPr>
          <p:cNvCxnSpPr/>
          <p:nvPr/>
        </p:nvCxnSpPr>
        <p:spPr>
          <a:xfrm>
            <a:off x="927756" y="4563778"/>
            <a:ext cx="6419088" cy="0"/>
          </a:xfrm>
          <a:prstGeom prst="line">
            <a:avLst/>
          </a:prstGeom>
          <a:ln w="6350">
            <a:solidFill>
              <a:srgbClr val="E2E8F0"/>
            </a:solidFill>
          </a:ln>
        </p:spPr>
      </p:cxnSp>
      <p:sp>
        <p:nvSpPr>
          <p:cNvPr id="24" name="row shade 3">
            <a:extLst>
              <a:ext uri="{FF2B5EF4-FFF2-40B4-BE49-F238E27FC236}">
                <a16:creationId xmlns:a16="http://schemas.microsoft.com/office/drawing/2014/main" id="{DDD2462F-D465-E771-CE41-AC93FF87498E}"/>
              </a:ext>
            </a:extLst>
          </p:cNvPr>
          <p:cNvSpPr/>
          <p:nvPr/>
        </p:nvSpPr>
        <p:spPr>
          <a:xfrm>
            <a:off x="909468" y="4627786"/>
            <a:ext cx="6446520" cy="658368"/>
          </a:xfrm>
          <a:prstGeom prst="rect">
            <a:avLst/>
          </a:prstGeom>
          <a:solidFill>
            <a:srgbClr val="F8FAFC"/>
          </a:solidFill>
          <a:ln w="9525">
            <a:solidFill>
              <a:srgbClr val="F8FAFC"/>
            </a:solidFill>
          </a:ln>
        </p:spPr>
        <p:txBody>
          <a:bodyPr/>
          <a:lstStyle/>
          <a:p>
            <a:endParaRPr sz="1200">
              <a:latin typeface="Arial" panose="020B0604020202020204" pitchFamily="34" charset="0"/>
              <a:cs typeface="Arial" panose="020B0604020202020204" pitchFamily="34" charset="0"/>
            </a:endParaRPr>
          </a:p>
        </p:txBody>
      </p:sp>
      <p:cxnSp>
        <p:nvCxnSpPr>
          <p:cNvPr id="27" name="row line 3">
            <a:extLst>
              <a:ext uri="{FF2B5EF4-FFF2-40B4-BE49-F238E27FC236}">
                <a16:creationId xmlns:a16="http://schemas.microsoft.com/office/drawing/2014/main" id="{E4EC5775-A992-D09A-6CEF-108377E76E96}"/>
              </a:ext>
            </a:extLst>
          </p:cNvPr>
          <p:cNvCxnSpPr/>
          <p:nvPr/>
        </p:nvCxnSpPr>
        <p:spPr>
          <a:xfrm>
            <a:off x="927756" y="5277010"/>
            <a:ext cx="6419088" cy="0"/>
          </a:xfrm>
          <a:prstGeom prst="line">
            <a:avLst/>
          </a:prstGeom>
          <a:ln w="6350">
            <a:solidFill>
              <a:srgbClr val="E2E8F0"/>
            </a:solidFill>
          </a:ln>
        </p:spPr>
      </p:cxnSp>
      <p:sp>
        <p:nvSpPr>
          <p:cNvPr id="28" name="alg TD3">
            <a:extLst>
              <a:ext uri="{FF2B5EF4-FFF2-40B4-BE49-F238E27FC236}">
                <a16:creationId xmlns:a16="http://schemas.microsoft.com/office/drawing/2014/main" id="{2B632C48-F9A0-E6C2-789C-692C1D746E8E}"/>
              </a:ext>
            </a:extLst>
          </p:cNvPr>
          <p:cNvSpPr txBox="1"/>
          <p:nvPr/>
        </p:nvSpPr>
        <p:spPr>
          <a:xfrm>
            <a:off x="1000908" y="4736076"/>
            <a:ext cx="1261872" cy="411480"/>
          </a:xfrm>
          <a:prstGeom prst="rect">
            <a:avLst/>
          </a:prstGeom>
          <a:solidFill>
            <a:srgbClr val="F8FAFC"/>
          </a:solidFill>
          <a:ln w="0">
            <a:solidFill>
              <a:srgbClr val="FFFFFF"/>
            </a:solidFill>
          </a:ln>
        </p:spPr>
        <p:txBody>
          <a:bodyPr wrap="square" lIns="9144" tIns="9144" rIns="9144" bIns="9144" anchor="t"/>
          <a:lstStyle/>
          <a:p>
            <a:r>
              <a:rPr lang="en-US" sz="1200" dirty="0">
                <a:solidFill>
                  <a:srgbClr val="1E3A8A"/>
                </a:solidFill>
                <a:latin typeface="Arial" panose="020B0604020202020204" pitchFamily="34" charset="0"/>
                <a:cs typeface="Arial" panose="020B0604020202020204" pitchFamily="34" charset="0"/>
              </a:rPr>
              <a:t>TD3</a:t>
            </a:r>
            <a:endParaRPr lang="en-US" sz="1200" dirty="0">
              <a:latin typeface="Arial" panose="020B0604020202020204" pitchFamily="34" charset="0"/>
              <a:cs typeface="Arial" panose="020B0604020202020204" pitchFamily="34" charset="0"/>
            </a:endParaRPr>
          </a:p>
        </p:txBody>
      </p:sp>
      <p:sp>
        <p:nvSpPr>
          <p:cNvPr id="29" name="why TD3">
            <a:extLst>
              <a:ext uri="{FF2B5EF4-FFF2-40B4-BE49-F238E27FC236}">
                <a16:creationId xmlns:a16="http://schemas.microsoft.com/office/drawing/2014/main" id="{6AAFEDEE-0CDA-F166-8E37-CF9FF8C9B734}"/>
              </a:ext>
            </a:extLst>
          </p:cNvPr>
          <p:cNvSpPr txBox="1"/>
          <p:nvPr/>
        </p:nvSpPr>
        <p:spPr>
          <a:xfrm>
            <a:off x="2500524" y="4716661"/>
            <a:ext cx="4617720" cy="502920"/>
          </a:xfrm>
          <a:prstGeom prst="rect">
            <a:avLst/>
          </a:prstGeom>
          <a:solidFill>
            <a:srgbClr val="F8FAFC"/>
          </a:solidFill>
          <a:ln w="0">
            <a:solidFill>
              <a:srgbClr val="FFFFFF"/>
            </a:solidFill>
          </a:ln>
        </p:spPr>
        <p:txBody>
          <a:bodyPr wrap="square" lIns="9144" tIns="9144" rIns="9144" bIns="9144" anchor="t"/>
          <a:lstStyle/>
          <a:p>
            <a:r>
              <a:rPr lang="en-US" sz="1200" dirty="0">
                <a:solidFill>
                  <a:srgbClr val="334155"/>
                </a:solidFill>
                <a:latin typeface="Arial" panose="020B0604020202020204" pitchFamily="34" charset="0"/>
                <a:cs typeface="Arial" panose="020B0604020202020204" pitchFamily="34" charset="0"/>
              </a:rPr>
              <a:t>Strong deterministic baseline, but SAC gives more deliberate exploration through entropy regularization.</a:t>
            </a:r>
            <a:endParaRPr lang="en-US" sz="1200" dirty="0">
              <a:latin typeface="Arial" panose="020B0604020202020204" pitchFamily="34" charset="0"/>
              <a:cs typeface="Arial" panose="020B0604020202020204" pitchFamily="34" charset="0"/>
            </a:endParaRPr>
          </a:p>
        </p:txBody>
      </p:sp>
      <p:sp>
        <p:nvSpPr>
          <p:cNvPr id="31" name="sac fit title">
            <a:extLst>
              <a:ext uri="{FF2B5EF4-FFF2-40B4-BE49-F238E27FC236}">
                <a16:creationId xmlns:a16="http://schemas.microsoft.com/office/drawing/2014/main" id="{E33DBC0C-023F-320E-D055-FC74885ED0AE}"/>
              </a:ext>
            </a:extLst>
          </p:cNvPr>
          <p:cNvSpPr txBox="1"/>
          <p:nvPr/>
        </p:nvSpPr>
        <p:spPr>
          <a:xfrm>
            <a:off x="9152578" y="2178427"/>
            <a:ext cx="3794760" cy="320040"/>
          </a:xfrm>
          <a:prstGeom prst="rect">
            <a:avLst/>
          </a:prstGeom>
          <a:solidFill>
            <a:srgbClr val="EFF6FF"/>
          </a:solidFill>
          <a:ln w="0">
            <a:solidFill>
              <a:srgbClr val="EFF6FF"/>
            </a:solidFill>
          </a:ln>
        </p:spPr>
        <p:txBody>
          <a:bodyPr wrap="square" lIns="18288" tIns="18288" rIns="18288" bIns="18288" anchor="t"/>
          <a:lstStyle/>
          <a:p>
            <a:r>
              <a:rPr lang="en-US" sz="1200" dirty="0">
                <a:solidFill>
                  <a:srgbClr val="1E3A8A"/>
                </a:solidFill>
                <a:latin typeface="Arial" panose="020B0604020202020204" pitchFamily="34" charset="0"/>
                <a:cs typeface="Arial" panose="020B0604020202020204" pitchFamily="34" charset="0"/>
              </a:rPr>
              <a:t>Why SAC fits this thesis</a:t>
            </a:r>
            <a:endParaRPr lang="en-US" sz="1200" dirty="0">
              <a:latin typeface="Arial" panose="020B0604020202020204" pitchFamily="34" charset="0"/>
              <a:cs typeface="Arial" panose="020B0604020202020204" pitchFamily="34" charset="0"/>
            </a:endParaRPr>
          </a:p>
        </p:txBody>
      </p:sp>
      <p:sp>
        <p:nvSpPr>
          <p:cNvPr id="32" name="sac bullets">
            <a:extLst>
              <a:ext uri="{FF2B5EF4-FFF2-40B4-BE49-F238E27FC236}">
                <a16:creationId xmlns:a16="http://schemas.microsoft.com/office/drawing/2014/main" id="{AA1E59B0-582B-BA52-17B3-5A73B3C47632}"/>
              </a:ext>
            </a:extLst>
          </p:cNvPr>
          <p:cNvSpPr txBox="1"/>
          <p:nvPr/>
        </p:nvSpPr>
        <p:spPr>
          <a:xfrm>
            <a:off x="9120574" y="2533810"/>
            <a:ext cx="3730752" cy="2697480"/>
          </a:xfrm>
          <a:prstGeom prst="rect">
            <a:avLst/>
          </a:prstGeom>
          <a:solidFill>
            <a:srgbClr val="EFF6FF"/>
          </a:solidFill>
          <a:ln w="0">
            <a:solidFill>
              <a:srgbClr val="EFF6FF"/>
            </a:solidFill>
          </a:ln>
        </p:spPr>
        <p:txBody>
          <a:bodyPr wrap="square" lIns="18288" tIns="18288" rIns="18288" bIns="18288" anchor="t"/>
          <a:lstStyle/>
          <a:p>
            <a:pPr marL="228600" indent="-171450">
              <a:buChar char="•"/>
            </a:pPr>
            <a:r>
              <a:rPr lang="en-US" sz="1200" dirty="0">
                <a:solidFill>
                  <a:srgbClr val="334155"/>
                </a:solidFill>
                <a:latin typeface="Arial" panose="020B0604020202020204" pitchFamily="34" charset="0"/>
                <a:cs typeface="Arial" panose="020B0604020202020204" pitchFamily="34" charset="0"/>
              </a:rPr>
              <a:t>Continuous actor outputs the charge/discharge setpoint directly</a:t>
            </a:r>
            <a:endParaRPr lang="en-US" sz="1200" dirty="0">
              <a:latin typeface="Arial" panose="020B0604020202020204" pitchFamily="34" charset="0"/>
              <a:cs typeface="Arial" panose="020B0604020202020204" pitchFamily="34" charset="0"/>
            </a:endParaRPr>
          </a:p>
          <a:p>
            <a:pPr marL="228600" indent="-171450">
              <a:buChar char="•"/>
            </a:pPr>
            <a:r>
              <a:rPr lang="en-US" sz="1200" dirty="0">
                <a:solidFill>
                  <a:srgbClr val="334155"/>
                </a:solidFill>
                <a:latin typeface="Arial" panose="020B0604020202020204" pitchFamily="34" charset="0"/>
                <a:cs typeface="Arial" panose="020B0604020202020204" pitchFamily="34" charset="0"/>
              </a:rPr>
              <a:t>Off-policy replay reuses simulation data efficiently</a:t>
            </a:r>
            <a:endParaRPr lang="en-US" sz="1200" dirty="0">
              <a:latin typeface="Arial" panose="020B0604020202020204" pitchFamily="34" charset="0"/>
              <a:cs typeface="Arial" panose="020B0604020202020204" pitchFamily="34" charset="0"/>
            </a:endParaRPr>
          </a:p>
          <a:p>
            <a:pPr marL="228600" indent="-171450">
              <a:buChar char="•"/>
            </a:pPr>
            <a:r>
              <a:rPr lang="en-US" sz="1200" dirty="0">
                <a:solidFill>
                  <a:srgbClr val="334155"/>
                </a:solidFill>
                <a:latin typeface="Arial" panose="020B0604020202020204" pitchFamily="34" charset="0"/>
                <a:cs typeface="Arial" panose="020B0604020202020204" pitchFamily="34" charset="0"/>
              </a:rPr>
              <a:t>Entropy term keeps exploration alive during price spikes and SOC trade-offs</a:t>
            </a:r>
            <a:endParaRPr lang="en-US" sz="1200" dirty="0">
              <a:latin typeface="Arial" panose="020B0604020202020204" pitchFamily="34" charset="0"/>
              <a:cs typeface="Arial" panose="020B0604020202020204" pitchFamily="34" charset="0"/>
            </a:endParaRPr>
          </a:p>
          <a:p>
            <a:pPr marL="228600" indent="-171450">
              <a:buChar char="•"/>
            </a:pPr>
            <a:r>
              <a:rPr lang="en-US" sz="1200" dirty="0">
                <a:solidFill>
                  <a:srgbClr val="334155"/>
                </a:solidFill>
                <a:latin typeface="Arial" panose="020B0604020202020204" pitchFamily="34" charset="0"/>
                <a:cs typeface="Arial" panose="020B0604020202020204" pitchFamily="34" charset="0"/>
              </a:rPr>
              <a:t>After training, inference is a direct state-to-action mapping</a:t>
            </a:r>
            <a:endParaRPr lang="en-US" sz="1200" dirty="0">
              <a:latin typeface="Arial" panose="020B0604020202020204" pitchFamily="34" charset="0"/>
              <a:cs typeface="Arial" panose="020B0604020202020204" pitchFamily="34" charset="0"/>
            </a:endParaRPr>
          </a:p>
          <a:p>
            <a:pPr marL="228600" indent="-171450">
              <a:buChar char="•"/>
            </a:pPr>
            <a:r>
              <a:rPr lang="en-US" sz="1200" dirty="0">
                <a:solidFill>
                  <a:srgbClr val="334155"/>
                </a:solidFill>
                <a:latin typeface="Arial" panose="020B0604020202020204" pitchFamily="34" charset="0"/>
                <a:cs typeface="Arial" panose="020B0604020202020204" pitchFamily="34" charset="0"/>
              </a:rPr>
              <a:t>Same algorithm family can scale from battery power to cookie-factory continuous controls</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3876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4E0541-4C20-369B-A2DC-C7A49F11D4EB}"/>
              </a:ext>
            </a:extLst>
          </p:cNvPr>
          <p:cNvSpPr txBox="1"/>
          <p:nvPr/>
        </p:nvSpPr>
        <p:spPr>
          <a:xfrm>
            <a:off x="1252800" y="634032"/>
            <a:ext cx="8510400" cy="461665"/>
          </a:xfrm>
          <a:prstGeom prst="rect">
            <a:avLst/>
          </a:prstGeom>
          <a:noFill/>
        </p:spPr>
        <p:txBody>
          <a:bodyPr wrap="square" rtlCol="0">
            <a:spAutoFit/>
          </a:bodyPr>
          <a:lstStyle/>
          <a:p>
            <a:r>
              <a:rPr lang="en-US" sz="2400" b="1" i="0" dirty="0">
                <a:effectLst/>
                <a:latin typeface="Arial" panose="020B0604020202020204" pitchFamily="34" charset="0"/>
                <a:cs typeface="Arial" panose="020B0604020202020204" pitchFamily="34" charset="0"/>
              </a:rPr>
              <a:t>Analysis of RL Battery Optimization Box Plot (32 Runs)</a:t>
            </a:r>
            <a:endParaRPr lang="de-DE" sz="2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5CDAD08-B60C-704E-5A81-EB6F890CE8F3}"/>
              </a:ext>
            </a:extLst>
          </p:cNvPr>
          <p:cNvSpPr txBox="1"/>
          <p:nvPr/>
        </p:nvSpPr>
        <p:spPr>
          <a:xfrm>
            <a:off x="5162400" y="6889200"/>
            <a:ext cx="4795200" cy="923330"/>
          </a:xfrm>
          <a:prstGeom prst="rect">
            <a:avLst/>
          </a:prstGeom>
          <a:noFill/>
        </p:spPr>
        <p:txBody>
          <a:bodyPr wrap="square" rtlCol="0">
            <a:spAutoFit/>
          </a:bodyPr>
          <a:lstStyle/>
          <a:p>
            <a:r>
              <a:rPr lang="en-US" dirty="0"/>
              <a:t>Fig.: Distribution of total cost from 32 RL models trained with identical hyperparameters and evaluated over the same time horizon.</a:t>
            </a:r>
          </a:p>
        </p:txBody>
      </p:sp>
      <p:sp>
        <p:nvSpPr>
          <p:cNvPr id="6" name="TextBox 5">
            <a:extLst>
              <a:ext uri="{FF2B5EF4-FFF2-40B4-BE49-F238E27FC236}">
                <a16:creationId xmlns:a16="http://schemas.microsoft.com/office/drawing/2014/main" id="{6A508730-589C-B759-C491-7E80F65C4E93}"/>
              </a:ext>
            </a:extLst>
          </p:cNvPr>
          <p:cNvSpPr txBox="1"/>
          <p:nvPr/>
        </p:nvSpPr>
        <p:spPr>
          <a:xfrm>
            <a:off x="10749600" y="7365976"/>
            <a:ext cx="3910944" cy="338554"/>
          </a:xfrm>
          <a:prstGeom prst="rect">
            <a:avLst/>
          </a:prstGeom>
          <a:noFill/>
        </p:spPr>
        <p:txBody>
          <a:bodyPr wrap="square" rtlCol="0">
            <a:spAutoFit/>
          </a:bodyPr>
          <a:lstStyle/>
          <a:p>
            <a:r>
              <a:rPr lang="de-DE" sz="1600" dirty="0"/>
              <a:t>* </a:t>
            </a:r>
            <a:r>
              <a:rPr lang="de-DE" sz="1600" dirty="0" err="1"/>
              <a:t>Mathematical</a:t>
            </a:r>
            <a:r>
              <a:rPr lang="de-DE" sz="1600" dirty="0"/>
              <a:t> </a:t>
            </a:r>
            <a:r>
              <a:rPr lang="de-DE" sz="1600" dirty="0" err="1"/>
              <a:t>Optimization</a:t>
            </a:r>
            <a:r>
              <a:rPr lang="de-DE" sz="1600" dirty="0"/>
              <a:t> </a:t>
            </a:r>
            <a:r>
              <a:rPr lang="de-DE" sz="1600" dirty="0" err="1"/>
              <a:t>Cost</a:t>
            </a:r>
            <a:r>
              <a:rPr lang="de-DE" sz="1600" dirty="0"/>
              <a:t>:  -10.12 €</a:t>
            </a:r>
          </a:p>
        </p:txBody>
      </p:sp>
      <p:sp>
        <p:nvSpPr>
          <p:cNvPr id="8" name="Slide Number Placeholder 7">
            <a:extLst>
              <a:ext uri="{FF2B5EF4-FFF2-40B4-BE49-F238E27FC236}">
                <a16:creationId xmlns:a16="http://schemas.microsoft.com/office/drawing/2014/main" id="{3679400A-F841-24FE-6153-DB33CCB19068}"/>
              </a:ext>
            </a:extLst>
          </p:cNvPr>
          <p:cNvSpPr>
            <a:spLocks noGrp="1"/>
          </p:cNvSpPr>
          <p:nvPr>
            <p:ph type="sldNum" sz="quarter" idx="10"/>
          </p:nvPr>
        </p:nvSpPr>
        <p:spPr/>
        <p:txBody>
          <a:bodyPr/>
          <a:lstStyle/>
          <a:p>
            <a:fld id="{A02D9A9C-251E-4686-914B-47E3F39F30D8}" type="slidenum">
              <a:rPr lang="de-DE" smtClean="0"/>
              <a:t>9</a:t>
            </a:fld>
            <a:endParaRPr lang="de-DE"/>
          </a:p>
        </p:txBody>
      </p:sp>
      <p:pic>
        <p:nvPicPr>
          <p:cNvPr id="10" name="Picture 9">
            <a:extLst>
              <a:ext uri="{FF2B5EF4-FFF2-40B4-BE49-F238E27FC236}">
                <a16:creationId xmlns:a16="http://schemas.microsoft.com/office/drawing/2014/main" id="{045EC1E4-49CC-0CCB-76AF-2C2FE37C2263}"/>
              </a:ext>
            </a:extLst>
          </p:cNvPr>
          <p:cNvPicPr>
            <a:picLocks noChangeAspect="1"/>
          </p:cNvPicPr>
          <p:nvPr/>
        </p:nvPicPr>
        <p:blipFill>
          <a:blip r:embed="rId2"/>
          <a:stretch>
            <a:fillRect/>
          </a:stretch>
        </p:blipFill>
        <p:spPr>
          <a:xfrm>
            <a:off x="2908080" y="1419685"/>
            <a:ext cx="7546320" cy="5390229"/>
          </a:xfrm>
          <a:prstGeom prst="rect">
            <a:avLst/>
          </a:prstGeom>
        </p:spPr>
      </p:pic>
    </p:spTree>
    <p:extLst>
      <p:ext uri="{BB962C8B-B14F-4D97-AF65-F5344CB8AC3E}">
        <p14:creationId xmlns:p14="http://schemas.microsoft.com/office/powerpoint/2010/main" val="444764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4">
            <a:extLst>
              <a:ext uri="{FF2B5EF4-FFF2-40B4-BE49-F238E27FC236}">
                <a16:creationId xmlns:a16="http://schemas.microsoft.com/office/drawing/2014/main" id="{01E4604A-A2F2-75F3-0A53-CA6CEEF5588D}"/>
              </a:ext>
            </a:extLst>
          </p:cNvPr>
          <p:cNvSpPr/>
          <p:nvPr/>
        </p:nvSpPr>
        <p:spPr>
          <a:xfrm>
            <a:off x="1252800" y="2697493"/>
            <a:ext cx="6608494" cy="3522054"/>
          </a:xfrm>
          <a:prstGeom prst="roundRect">
            <a:avLst>
              <a:gd name="adj" fmla="val 4335"/>
            </a:avLst>
          </a:prstGeom>
          <a:solidFill>
            <a:srgbClr val="D2DDF9"/>
          </a:solidFill>
          <a:ln/>
        </p:spPr>
        <p:txBody>
          <a:bodyPr/>
          <a:lstStyle/>
          <a:p>
            <a:endParaRPr lang="de-DE">
              <a:latin typeface="Arial" panose="020B0604020202020204" pitchFamily="34" charset="0"/>
              <a:cs typeface="Arial" panose="020B0604020202020204" pitchFamily="34" charset="0"/>
            </a:endParaRPr>
          </a:p>
        </p:txBody>
      </p:sp>
      <p:sp>
        <p:nvSpPr>
          <p:cNvPr id="2" name="Text 1">
            <a:extLst>
              <a:ext uri="{FF2B5EF4-FFF2-40B4-BE49-F238E27FC236}">
                <a16:creationId xmlns:a16="http://schemas.microsoft.com/office/drawing/2014/main" id="{C62DF92F-1163-B150-A05D-661A035DACD9}"/>
              </a:ext>
            </a:extLst>
          </p:cNvPr>
          <p:cNvSpPr/>
          <p:nvPr/>
        </p:nvSpPr>
        <p:spPr>
          <a:xfrm>
            <a:off x="1483201" y="2600711"/>
            <a:ext cx="6127200" cy="3715618"/>
          </a:xfrm>
          <a:prstGeom prst="rect">
            <a:avLst/>
          </a:prstGeom>
          <a:noFill/>
          <a:ln/>
        </p:spPr>
        <p:txBody>
          <a:bodyPr wrap="none" lIns="0" tIns="0" rIns="0" bIns="0" rtlCol="0" anchor="t"/>
          <a:lstStyle/>
          <a:p>
            <a:pPr marL="0" indent="0" algn="l">
              <a:lnSpc>
                <a:spcPts val="2850"/>
              </a:lnSpc>
              <a:buNone/>
            </a:pPr>
            <a:endParaRPr lang="en-US" sz="1750" dirty="0">
              <a:latin typeface="Arial" panose="020B0604020202020204" pitchFamily="34" charset="0"/>
              <a:ea typeface="Heebo" pitchFamily="34" charset="-122"/>
              <a:cs typeface="Arial" panose="020B0604020202020204" pitchFamily="34" charset="0"/>
            </a:endParaRPr>
          </a:p>
          <a:p>
            <a:pPr marL="0" indent="0" algn="l">
              <a:lnSpc>
                <a:spcPts val="2850"/>
              </a:lnSpc>
              <a:buNone/>
            </a:pPr>
            <a:r>
              <a:rPr lang="en-US" sz="2400" b="1" dirty="0">
                <a:latin typeface="Arial" panose="020B0604020202020204" pitchFamily="34" charset="0"/>
                <a:ea typeface="Heebo" pitchFamily="34" charset="-122"/>
                <a:cs typeface="Arial" panose="020B0604020202020204" pitchFamily="34" charset="0"/>
              </a:rPr>
              <a:t>Strengths:</a:t>
            </a:r>
          </a:p>
          <a:p>
            <a:pPr marL="285750" indent="-285750" algn="l">
              <a:lnSpc>
                <a:spcPts val="2850"/>
              </a:lnSpc>
              <a:buFont typeface="Arial" panose="020B0604020202020204" pitchFamily="34" charset="0"/>
              <a:buChar char="•"/>
            </a:pPr>
            <a:r>
              <a:rPr lang="en-US" dirty="0">
                <a:latin typeface="Arial" panose="020B0604020202020204" pitchFamily="34" charset="0"/>
                <a:ea typeface="Heebo" pitchFamily="34" charset="-122"/>
                <a:cs typeface="Arial" panose="020B0604020202020204" pitchFamily="34" charset="0"/>
              </a:rPr>
              <a:t>31/32 runs (96%) achieved near-optimal performance</a:t>
            </a:r>
          </a:p>
          <a:p>
            <a:pPr marL="285750" indent="-285750" algn="l">
              <a:lnSpc>
                <a:spcPts val="2850"/>
              </a:lnSpc>
              <a:buFont typeface="Arial" panose="020B0604020202020204" pitchFamily="34" charset="0"/>
              <a:buChar char="•"/>
            </a:pPr>
            <a:r>
              <a:rPr lang="en-US" dirty="0">
                <a:latin typeface="Arial" panose="020B0604020202020204" pitchFamily="34" charset="0"/>
                <a:ea typeface="Heebo" pitchFamily="34" charset="-122"/>
                <a:cs typeface="Arial" panose="020B0604020202020204" pitchFamily="34" charset="0"/>
              </a:rPr>
              <a:t>Stable and consistent learning behavior</a:t>
            </a:r>
          </a:p>
          <a:p>
            <a:pPr marL="285750" indent="-285750" algn="l">
              <a:lnSpc>
                <a:spcPts val="2850"/>
              </a:lnSpc>
              <a:buFont typeface="Arial" panose="020B0604020202020204" pitchFamily="34" charset="0"/>
              <a:buChar char="•"/>
            </a:pPr>
            <a:r>
              <a:rPr lang="en-US" dirty="0">
                <a:latin typeface="Arial" panose="020B0604020202020204" pitchFamily="34" charset="0"/>
                <a:ea typeface="Heebo" pitchFamily="34" charset="-122"/>
                <a:cs typeface="Arial" panose="020B0604020202020204" pitchFamily="34" charset="0"/>
              </a:rPr>
              <a:t>Model is robust to random initialization</a:t>
            </a:r>
          </a:p>
          <a:p>
            <a:pPr marL="0" indent="0" algn="l">
              <a:lnSpc>
                <a:spcPts val="2850"/>
              </a:lnSpc>
              <a:buNone/>
            </a:pPr>
            <a:endParaRPr lang="en-US" sz="1750" dirty="0">
              <a:latin typeface="Arial" panose="020B0604020202020204" pitchFamily="34" charset="0"/>
              <a:ea typeface="Heebo" pitchFamily="34" charset="-122"/>
              <a:cs typeface="Arial" panose="020B0604020202020204" pitchFamily="34" charset="0"/>
            </a:endParaRPr>
          </a:p>
          <a:p>
            <a:pPr marL="0" indent="0" algn="l">
              <a:lnSpc>
                <a:spcPts val="2850"/>
              </a:lnSpc>
              <a:buNone/>
            </a:pPr>
            <a:r>
              <a:rPr lang="en-US" sz="2400" b="1" dirty="0">
                <a:latin typeface="Arial" panose="020B0604020202020204" pitchFamily="34" charset="0"/>
                <a:ea typeface="Heebo" pitchFamily="34" charset="-122"/>
                <a:cs typeface="Arial" panose="020B0604020202020204" pitchFamily="34" charset="0"/>
              </a:rPr>
              <a:t>Weaknesses:</a:t>
            </a:r>
          </a:p>
          <a:p>
            <a:pPr marL="285750" indent="-285750" algn="l">
              <a:lnSpc>
                <a:spcPts val="2850"/>
              </a:lnSpc>
              <a:buFont typeface="Arial" panose="020B0604020202020204" pitchFamily="34" charset="0"/>
              <a:buChar char="•"/>
            </a:pPr>
            <a:r>
              <a:rPr lang="en-US" dirty="0">
                <a:latin typeface="Arial" panose="020B0604020202020204" pitchFamily="34" charset="0"/>
                <a:ea typeface="Heebo" pitchFamily="34" charset="-122"/>
                <a:cs typeface="Arial" panose="020B0604020202020204" pitchFamily="34" charset="0"/>
              </a:rPr>
              <a:t>4% chance of suboptimal convergence (1 outliers)</a:t>
            </a:r>
          </a:p>
          <a:p>
            <a:pPr marL="285750" indent="-285750" algn="l">
              <a:lnSpc>
                <a:spcPts val="2850"/>
              </a:lnSpc>
              <a:buFont typeface="Arial" panose="020B0604020202020204" pitchFamily="34" charset="0"/>
              <a:buChar char="•"/>
            </a:pPr>
            <a:r>
              <a:rPr lang="en-US" dirty="0">
                <a:latin typeface="Arial" panose="020B0604020202020204" pitchFamily="34" charset="0"/>
                <a:ea typeface="Heebo" pitchFamily="34" charset="-122"/>
                <a:cs typeface="Arial" panose="020B0604020202020204" pitchFamily="34" charset="0"/>
              </a:rPr>
              <a:t>Optimality of the learned policy cannot be guaranteed</a:t>
            </a:r>
          </a:p>
        </p:txBody>
      </p:sp>
      <p:sp>
        <p:nvSpPr>
          <p:cNvPr id="3" name="TextBox 2">
            <a:extLst>
              <a:ext uri="{FF2B5EF4-FFF2-40B4-BE49-F238E27FC236}">
                <a16:creationId xmlns:a16="http://schemas.microsoft.com/office/drawing/2014/main" id="{F520DBB0-400F-6963-5E18-A67AA7D3E61D}"/>
              </a:ext>
            </a:extLst>
          </p:cNvPr>
          <p:cNvSpPr txBox="1"/>
          <p:nvPr/>
        </p:nvSpPr>
        <p:spPr>
          <a:xfrm>
            <a:off x="1252800" y="634032"/>
            <a:ext cx="8510400" cy="461665"/>
          </a:xfrm>
          <a:prstGeom prst="rect">
            <a:avLst/>
          </a:prstGeom>
          <a:noFill/>
        </p:spPr>
        <p:txBody>
          <a:bodyPr wrap="square" rtlCol="0">
            <a:spAutoFit/>
          </a:bodyPr>
          <a:lstStyle/>
          <a:p>
            <a:r>
              <a:rPr lang="en-US" sz="2400" b="1" i="0" dirty="0">
                <a:effectLst/>
                <a:latin typeface="Arial" panose="020B0604020202020204" pitchFamily="34" charset="0"/>
                <a:cs typeface="Arial" panose="020B0604020202020204" pitchFamily="34" charset="0"/>
              </a:rPr>
              <a:t>Analysis of RL Battery Optimization Box Plot (32 Runs)</a:t>
            </a:r>
            <a:endParaRPr lang="de-DE" sz="2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DC33ECBD-FB5C-26D7-0EBE-F0CD0278B8AA}"/>
              </a:ext>
            </a:extLst>
          </p:cNvPr>
          <p:cNvSpPr txBox="1"/>
          <p:nvPr/>
        </p:nvSpPr>
        <p:spPr>
          <a:xfrm>
            <a:off x="1252800" y="1304257"/>
            <a:ext cx="10021132" cy="923330"/>
          </a:xfrm>
          <a:prstGeom prst="rect">
            <a:avLst/>
          </a:prstGeom>
          <a:noFill/>
        </p:spPr>
        <p:txBody>
          <a:bodyPr wrap="square" rtlCol="0">
            <a:spAutoFit/>
          </a:bodyPr>
          <a:lstStyle/>
          <a:p>
            <a:r>
              <a:rPr lang="en-US" dirty="0"/>
              <a:t>The linear learning rate schedule performs best because it achieves the lowest median cost and maintains a tight distribution across runs, indicating stable and reliable convergence. The linear decay allows large updates during early exploration and smaller updates for fine policy refinement later in training.</a:t>
            </a:r>
            <a:endParaRPr lang="de-DE" dirty="0"/>
          </a:p>
        </p:txBody>
      </p:sp>
      <p:sp>
        <p:nvSpPr>
          <p:cNvPr id="7" name="Slide Number Placeholder 6">
            <a:extLst>
              <a:ext uri="{FF2B5EF4-FFF2-40B4-BE49-F238E27FC236}">
                <a16:creationId xmlns:a16="http://schemas.microsoft.com/office/drawing/2014/main" id="{CB67F05D-BF83-0E4E-252C-F73DCCA6881F}"/>
              </a:ext>
            </a:extLst>
          </p:cNvPr>
          <p:cNvSpPr>
            <a:spLocks noGrp="1"/>
          </p:cNvSpPr>
          <p:nvPr>
            <p:ph type="sldNum" sz="quarter" idx="10"/>
          </p:nvPr>
        </p:nvSpPr>
        <p:spPr/>
        <p:txBody>
          <a:bodyPr/>
          <a:lstStyle/>
          <a:p>
            <a:fld id="{A02D9A9C-251E-4686-914B-47E3F39F30D8}" type="slidenum">
              <a:rPr lang="de-DE" smtClean="0"/>
              <a:t>10</a:t>
            </a:fld>
            <a:endParaRPr lang="de-DE"/>
          </a:p>
        </p:txBody>
      </p:sp>
    </p:spTree>
    <p:extLst>
      <p:ext uri="{BB962C8B-B14F-4D97-AF65-F5344CB8AC3E}">
        <p14:creationId xmlns:p14="http://schemas.microsoft.com/office/powerpoint/2010/main" val="3161864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D72380-5DF0-D67E-173E-3C446309BDC0}"/>
              </a:ext>
            </a:extLst>
          </p:cNvPr>
          <p:cNvPicPr>
            <a:picLocks noChangeAspect="1"/>
          </p:cNvPicPr>
          <p:nvPr/>
        </p:nvPicPr>
        <p:blipFill>
          <a:blip r:embed="rId2"/>
          <a:srcRect l="491" t="2158" r="606" b="1248"/>
          <a:stretch/>
        </p:blipFill>
        <p:spPr>
          <a:xfrm>
            <a:off x="1152000" y="2342304"/>
            <a:ext cx="12326400" cy="3544991"/>
          </a:xfrm>
          <a:prstGeom prst="rect">
            <a:avLst/>
          </a:prstGeom>
        </p:spPr>
      </p:pic>
      <p:sp>
        <p:nvSpPr>
          <p:cNvPr id="4" name="TextBox 3">
            <a:extLst>
              <a:ext uri="{FF2B5EF4-FFF2-40B4-BE49-F238E27FC236}">
                <a16:creationId xmlns:a16="http://schemas.microsoft.com/office/drawing/2014/main" id="{81B785F4-E247-BA39-4A4D-8D2C841D2BCB}"/>
              </a:ext>
            </a:extLst>
          </p:cNvPr>
          <p:cNvSpPr txBox="1"/>
          <p:nvPr/>
        </p:nvSpPr>
        <p:spPr>
          <a:xfrm>
            <a:off x="1252800" y="634032"/>
            <a:ext cx="9223200" cy="461665"/>
          </a:xfrm>
          <a:prstGeom prst="rect">
            <a:avLst/>
          </a:prstGeom>
          <a:noFill/>
        </p:spPr>
        <p:txBody>
          <a:bodyPr wrap="square" rtlCol="0">
            <a:spAutoFit/>
          </a:bodyPr>
          <a:lstStyle/>
          <a:p>
            <a:r>
              <a:rPr lang="en-US" sz="2400" b="1" i="0" dirty="0">
                <a:effectLst/>
                <a:latin typeface="Arial" panose="020B0604020202020204" pitchFamily="34" charset="0"/>
                <a:cs typeface="Arial" panose="020B0604020202020204" pitchFamily="34" charset="0"/>
              </a:rPr>
              <a:t>Hyperparameter Tuning: Training Performance Comparison</a:t>
            </a:r>
            <a:endParaRPr lang="de-DE" sz="24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65A4DB6-10C0-3314-0EEE-EABDD99CE04E}"/>
              </a:ext>
            </a:extLst>
          </p:cNvPr>
          <p:cNvSpPr txBox="1"/>
          <p:nvPr/>
        </p:nvSpPr>
        <p:spPr>
          <a:xfrm>
            <a:off x="2413153" y="6029414"/>
            <a:ext cx="9804094" cy="338554"/>
          </a:xfrm>
          <a:prstGeom prst="rect">
            <a:avLst/>
          </a:prstGeom>
          <a:noFill/>
        </p:spPr>
        <p:txBody>
          <a:bodyPr wrap="none" rtlCol="0">
            <a:spAutoFit/>
          </a:bodyPr>
          <a:lstStyle/>
          <a:p>
            <a:r>
              <a:rPr lang="en-US" sz="1600" dirty="0"/>
              <a:t>Fig: Comparison of episode rewards across multiple SAC training runs with different hyperparameter configurations.</a:t>
            </a:r>
            <a:endParaRPr lang="de-DE" sz="1600" dirty="0"/>
          </a:p>
        </p:txBody>
      </p:sp>
      <p:sp>
        <p:nvSpPr>
          <p:cNvPr id="7" name="Slide Number Placeholder 6">
            <a:extLst>
              <a:ext uri="{FF2B5EF4-FFF2-40B4-BE49-F238E27FC236}">
                <a16:creationId xmlns:a16="http://schemas.microsoft.com/office/drawing/2014/main" id="{EC754541-8172-F8AB-3ABD-29361CB9F933}"/>
              </a:ext>
            </a:extLst>
          </p:cNvPr>
          <p:cNvSpPr>
            <a:spLocks noGrp="1"/>
          </p:cNvSpPr>
          <p:nvPr>
            <p:ph type="sldNum" sz="quarter" idx="10"/>
          </p:nvPr>
        </p:nvSpPr>
        <p:spPr/>
        <p:txBody>
          <a:bodyPr/>
          <a:lstStyle/>
          <a:p>
            <a:fld id="{A02D9A9C-251E-4686-914B-47E3F39F30D8}" type="slidenum">
              <a:rPr lang="de-DE" smtClean="0"/>
              <a:t>11</a:t>
            </a:fld>
            <a:endParaRPr lang="de-DE"/>
          </a:p>
        </p:txBody>
      </p:sp>
    </p:spTree>
    <p:extLst>
      <p:ext uri="{BB962C8B-B14F-4D97-AF65-F5344CB8AC3E}">
        <p14:creationId xmlns:p14="http://schemas.microsoft.com/office/powerpoint/2010/main" val="143437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a:extLst>
              <a:ext uri="{FF2B5EF4-FFF2-40B4-BE49-F238E27FC236}">
                <a16:creationId xmlns:a16="http://schemas.microsoft.com/office/drawing/2014/main" id="{EC3C7384-AEAE-4348-9968-E247A8458E81}"/>
              </a:ext>
            </a:extLst>
          </p:cNvPr>
          <p:cNvSpPr/>
          <p:nvPr/>
        </p:nvSpPr>
        <p:spPr>
          <a:xfrm>
            <a:off x="2256799" y="4354688"/>
            <a:ext cx="7165179" cy="1483360"/>
          </a:xfrm>
          <a:prstGeom prst="roundRect">
            <a:avLst>
              <a:gd name="adj" fmla="val 4335"/>
            </a:avLst>
          </a:prstGeom>
          <a:solidFill>
            <a:srgbClr val="D2DDF9"/>
          </a:solidFill>
          <a:ln/>
        </p:spPr>
        <p:txBody>
          <a:bodyPr/>
          <a:lstStyle/>
          <a:p>
            <a:endParaRPr lang="de-DE">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4CDADA77-20A8-090C-EB57-F115E2CF8EEE}"/>
              </a:ext>
            </a:extLst>
          </p:cNvPr>
          <p:cNvSpPr>
            <a:spLocks noGrp="1"/>
          </p:cNvSpPr>
          <p:nvPr>
            <p:ph type="sldNum" sz="quarter" idx="10"/>
          </p:nvPr>
        </p:nvSpPr>
        <p:spPr/>
        <p:txBody>
          <a:bodyPr/>
          <a:lstStyle/>
          <a:p>
            <a:fld id="{A02D9A9C-251E-4686-914B-47E3F39F30D8}" type="slidenum">
              <a:rPr lang="de-DE" smtClean="0"/>
              <a:t>12</a:t>
            </a:fld>
            <a:endParaRPr lang="de-DE"/>
          </a:p>
        </p:txBody>
      </p:sp>
      <p:graphicFrame>
        <p:nvGraphicFramePr>
          <p:cNvPr id="3" name="Table 2">
            <a:extLst>
              <a:ext uri="{FF2B5EF4-FFF2-40B4-BE49-F238E27FC236}">
                <a16:creationId xmlns:a16="http://schemas.microsoft.com/office/drawing/2014/main" id="{F0BF3F32-6BE2-D05C-79ED-8530DF65CD20}"/>
              </a:ext>
            </a:extLst>
          </p:cNvPr>
          <p:cNvGraphicFramePr>
            <a:graphicFrameLocks noGrp="1"/>
          </p:cNvGraphicFramePr>
          <p:nvPr>
            <p:extLst>
              <p:ext uri="{D42A27DB-BD31-4B8C-83A1-F6EECF244321}">
                <p14:modId xmlns:p14="http://schemas.microsoft.com/office/powerpoint/2010/main" val="2839162506"/>
              </p:ext>
            </p:extLst>
          </p:nvPr>
        </p:nvGraphicFramePr>
        <p:xfrm>
          <a:off x="2256800" y="2123520"/>
          <a:ext cx="7165178" cy="1483360"/>
        </p:xfrm>
        <a:graphic>
          <a:graphicData uri="http://schemas.openxmlformats.org/drawingml/2006/table">
            <a:tbl>
              <a:tblPr firstRow="1" bandRow="1">
                <a:tableStyleId>{5C22544A-7EE6-4342-B048-85BDC9FD1C3A}</a:tableStyleId>
              </a:tblPr>
              <a:tblGrid>
                <a:gridCol w="3582589">
                  <a:extLst>
                    <a:ext uri="{9D8B030D-6E8A-4147-A177-3AD203B41FA5}">
                      <a16:colId xmlns:a16="http://schemas.microsoft.com/office/drawing/2014/main" val="4264151599"/>
                    </a:ext>
                  </a:extLst>
                </a:gridCol>
                <a:gridCol w="3582589">
                  <a:extLst>
                    <a:ext uri="{9D8B030D-6E8A-4147-A177-3AD203B41FA5}">
                      <a16:colId xmlns:a16="http://schemas.microsoft.com/office/drawing/2014/main" val="2744044451"/>
                    </a:ext>
                  </a:extLst>
                </a:gridCol>
              </a:tblGrid>
              <a:tr h="370840">
                <a:tc>
                  <a:txBody>
                    <a:bodyPr/>
                    <a:lstStyle/>
                    <a:p>
                      <a:r>
                        <a:rPr lang="de-DE" dirty="0"/>
                        <a:t>Method</a:t>
                      </a:r>
                    </a:p>
                  </a:txBody>
                  <a:tcPr/>
                </a:tc>
                <a:tc>
                  <a:txBody>
                    <a:bodyPr/>
                    <a:lstStyle/>
                    <a:p>
                      <a:r>
                        <a:rPr lang="de-DE" dirty="0"/>
                        <a:t>Time</a:t>
                      </a:r>
                    </a:p>
                  </a:txBody>
                  <a:tcPr/>
                </a:tc>
                <a:extLst>
                  <a:ext uri="{0D108BD9-81ED-4DB2-BD59-A6C34878D82A}">
                    <a16:rowId xmlns:a16="http://schemas.microsoft.com/office/drawing/2014/main" val="559821681"/>
                  </a:ext>
                </a:extLst>
              </a:tr>
              <a:tr h="370840">
                <a:tc>
                  <a:txBody>
                    <a:bodyPr/>
                    <a:lstStyle/>
                    <a:p>
                      <a:r>
                        <a:rPr lang="de-DE" dirty="0"/>
                        <a:t>RL Training</a:t>
                      </a:r>
                    </a:p>
                  </a:txBody>
                  <a:tcPr/>
                </a:tc>
                <a:tc>
                  <a:txBody>
                    <a:bodyPr/>
                    <a:lstStyle/>
                    <a:p>
                      <a:r>
                        <a:rPr lang="de-DE" dirty="0"/>
                        <a:t>≈ 16 </a:t>
                      </a:r>
                      <a:r>
                        <a:rPr lang="de-DE" dirty="0" err="1"/>
                        <a:t>minutes</a:t>
                      </a:r>
                      <a:endParaRPr lang="de-DE" dirty="0"/>
                    </a:p>
                  </a:txBody>
                  <a:tcPr/>
                </a:tc>
                <a:extLst>
                  <a:ext uri="{0D108BD9-81ED-4DB2-BD59-A6C34878D82A}">
                    <a16:rowId xmlns:a16="http://schemas.microsoft.com/office/drawing/2014/main" val="2794316075"/>
                  </a:ext>
                </a:extLst>
              </a:tr>
              <a:tr h="370840">
                <a:tc>
                  <a:txBody>
                    <a:bodyPr/>
                    <a:lstStyle/>
                    <a:p>
                      <a:r>
                        <a:rPr lang="de-DE" dirty="0"/>
                        <a:t>RL Policy </a:t>
                      </a:r>
                      <a:r>
                        <a:rPr lang="de-DE" dirty="0" err="1"/>
                        <a:t>Execution</a:t>
                      </a:r>
                      <a:endParaRPr lang="de-DE" dirty="0"/>
                    </a:p>
                  </a:txBody>
                  <a:tcPr/>
                </a:tc>
                <a:tc>
                  <a:txBody>
                    <a:bodyPr/>
                    <a:lstStyle/>
                    <a:p>
                      <a:r>
                        <a:rPr lang="de-DE" dirty="0"/>
                        <a:t>0.02 </a:t>
                      </a:r>
                      <a:r>
                        <a:rPr lang="de-DE" dirty="0" err="1"/>
                        <a:t>seconds</a:t>
                      </a:r>
                      <a:endParaRPr lang="de-DE" dirty="0"/>
                    </a:p>
                  </a:txBody>
                  <a:tcPr/>
                </a:tc>
                <a:extLst>
                  <a:ext uri="{0D108BD9-81ED-4DB2-BD59-A6C34878D82A}">
                    <a16:rowId xmlns:a16="http://schemas.microsoft.com/office/drawing/2014/main" val="2924975378"/>
                  </a:ext>
                </a:extLst>
              </a:tr>
              <a:tr h="370840">
                <a:tc>
                  <a:txBody>
                    <a:bodyPr/>
                    <a:lstStyle/>
                    <a:p>
                      <a:r>
                        <a:rPr lang="de-DE" dirty="0" err="1"/>
                        <a:t>Optimization</a:t>
                      </a:r>
                      <a:endParaRPr lang="de-DE" dirty="0"/>
                    </a:p>
                  </a:txBody>
                  <a:tcPr/>
                </a:tc>
                <a:tc>
                  <a:txBody>
                    <a:bodyPr/>
                    <a:lstStyle/>
                    <a:p>
                      <a:r>
                        <a:rPr lang="de-DE" dirty="0"/>
                        <a:t>0.16 </a:t>
                      </a:r>
                      <a:r>
                        <a:rPr lang="de-DE" dirty="0" err="1"/>
                        <a:t>seconds</a:t>
                      </a:r>
                      <a:endParaRPr lang="de-DE" dirty="0"/>
                    </a:p>
                  </a:txBody>
                  <a:tcPr/>
                </a:tc>
                <a:extLst>
                  <a:ext uri="{0D108BD9-81ED-4DB2-BD59-A6C34878D82A}">
                    <a16:rowId xmlns:a16="http://schemas.microsoft.com/office/drawing/2014/main" val="2472572493"/>
                  </a:ext>
                </a:extLst>
              </a:tr>
            </a:tbl>
          </a:graphicData>
        </a:graphic>
      </p:graphicFrame>
      <p:sp>
        <p:nvSpPr>
          <p:cNvPr id="4" name="TextBox 3">
            <a:extLst>
              <a:ext uri="{FF2B5EF4-FFF2-40B4-BE49-F238E27FC236}">
                <a16:creationId xmlns:a16="http://schemas.microsoft.com/office/drawing/2014/main" id="{FFB7F202-C223-8731-249A-39A01B066187}"/>
              </a:ext>
            </a:extLst>
          </p:cNvPr>
          <p:cNvSpPr txBox="1"/>
          <p:nvPr/>
        </p:nvSpPr>
        <p:spPr>
          <a:xfrm>
            <a:off x="1252800" y="634032"/>
            <a:ext cx="8510400" cy="461665"/>
          </a:xfrm>
          <a:prstGeom prst="rect">
            <a:avLst/>
          </a:prstGeom>
          <a:noFill/>
        </p:spPr>
        <p:txBody>
          <a:bodyPr wrap="square" rtlCol="0">
            <a:spAutoFit/>
          </a:bodyPr>
          <a:lstStyle/>
          <a:p>
            <a:r>
              <a:rPr lang="de-DE" sz="2400" dirty="0">
                <a:latin typeface="Arial" panose="020B0604020202020204" pitchFamily="34" charset="0"/>
                <a:cs typeface="Arial" panose="020B0604020202020204" pitchFamily="34" charset="0"/>
              </a:rPr>
              <a:t>Computational Time </a:t>
            </a:r>
            <a:r>
              <a:rPr lang="de-DE" sz="2400" dirty="0" err="1">
                <a:latin typeface="Arial" panose="020B0604020202020204" pitchFamily="34" charset="0"/>
                <a:cs typeface="Arial" panose="020B0604020202020204" pitchFamily="34" charset="0"/>
              </a:rPr>
              <a:t>Comparison</a:t>
            </a:r>
            <a:endParaRPr lang="de-DE" sz="24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965F9FDA-A2C1-5593-6CE2-8FBAD88A8E50}"/>
              </a:ext>
            </a:extLst>
          </p:cNvPr>
          <p:cNvSpPr txBox="1"/>
          <p:nvPr/>
        </p:nvSpPr>
        <p:spPr>
          <a:xfrm>
            <a:off x="2256800" y="4634703"/>
            <a:ext cx="7165179" cy="923330"/>
          </a:xfrm>
          <a:prstGeom prst="rect">
            <a:avLst/>
          </a:prstGeom>
          <a:noFill/>
        </p:spPr>
        <p:txBody>
          <a:bodyPr wrap="square" rtlCol="0">
            <a:spAutoFit/>
          </a:bodyPr>
          <a:lstStyle/>
          <a:p>
            <a:r>
              <a:rPr lang="en-US" dirty="0"/>
              <a:t>Although RL requires higher upfront training time, the decision-making during operation is significantly faster than classical optimization, making RL suitable for real-time control applications.</a:t>
            </a:r>
            <a:endParaRPr lang="de-DE" dirty="0"/>
          </a:p>
        </p:txBody>
      </p:sp>
    </p:spTree>
    <p:extLst>
      <p:ext uri="{BB962C8B-B14F-4D97-AF65-F5344CB8AC3E}">
        <p14:creationId xmlns:p14="http://schemas.microsoft.com/office/powerpoint/2010/main" val="3369951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FD8683-0C60-B51C-39B0-886FFC7863F1}"/>
              </a:ext>
            </a:extLst>
          </p:cNvPr>
          <p:cNvSpPr>
            <a:spLocks noGrp="1"/>
          </p:cNvSpPr>
          <p:nvPr>
            <p:ph type="sldNum" sz="quarter" idx="10"/>
          </p:nvPr>
        </p:nvSpPr>
        <p:spPr/>
        <p:txBody>
          <a:bodyPr/>
          <a:lstStyle/>
          <a:p>
            <a:fld id="{A02D9A9C-251E-4686-914B-47E3F39F30D8}" type="slidenum">
              <a:rPr lang="de-DE" smtClean="0"/>
              <a:t>13</a:t>
            </a:fld>
            <a:endParaRPr lang="de-DE"/>
          </a:p>
        </p:txBody>
      </p:sp>
      <p:pic>
        <p:nvPicPr>
          <p:cNvPr id="4" name="Picture 3">
            <a:extLst>
              <a:ext uri="{FF2B5EF4-FFF2-40B4-BE49-F238E27FC236}">
                <a16:creationId xmlns:a16="http://schemas.microsoft.com/office/drawing/2014/main" id="{F02F8BFA-7B03-0F03-335C-4F562268FCA6}"/>
              </a:ext>
            </a:extLst>
          </p:cNvPr>
          <p:cNvPicPr>
            <a:picLocks noChangeAspect="1"/>
          </p:cNvPicPr>
          <p:nvPr/>
        </p:nvPicPr>
        <p:blipFill>
          <a:blip r:embed="rId2"/>
          <a:stretch>
            <a:fillRect/>
          </a:stretch>
        </p:blipFill>
        <p:spPr>
          <a:xfrm>
            <a:off x="796247" y="1442803"/>
            <a:ext cx="13037906" cy="5343994"/>
          </a:xfrm>
          <a:prstGeom prst="rect">
            <a:avLst/>
          </a:prstGeom>
        </p:spPr>
      </p:pic>
      <p:sp>
        <p:nvSpPr>
          <p:cNvPr id="5" name="TextBox 4">
            <a:extLst>
              <a:ext uri="{FF2B5EF4-FFF2-40B4-BE49-F238E27FC236}">
                <a16:creationId xmlns:a16="http://schemas.microsoft.com/office/drawing/2014/main" id="{4D03FD8E-AE43-26D7-EDED-65C8456F852D}"/>
              </a:ext>
            </a:extLst>
          </p:cNvPr>
          <p:cNvSpPr txBox="1"/>
          <p:nvPr/>
        </p:nvSpPr>
        <p:spPr>
          <a:xfrm>
            <a:off x="4419503" y="6933146"/>
            <a:ext cx="5791394" cy="338554"/>
          </a:xfrm>
          <a:prstGeom prst="rect">
            <a:avLst/>
          </a:prstGeom>
          <a:noFill/>
        </p:spPr>
        <p:txBody>
          <a:bodyPr wrap="none" rtlCol="0">
            <a:spAutoFit/>
          </a:bodyPr>
          <a:lstStyle/>
          <a:p>
            <a:r>
              <a:rPr lang="en-US" sz="1600" dirty="0"/>
              <a:t>Fig: Visualization of system dynamics and control for one trajectory.</a:t>
            </a:r>
            <a:endParaRPr lang="de-DE" sz="1600" dirty="0"/>
          </a:p>
        </p:txBody>
      </p:sp>
    </p:spTree>
    <p:extLst>
      <p:ext uri="{BB962C8B-B14F-4D97-AF65-F5344CB8AC3E}">
        <p14:creationId xmlns:p14="http://schemas.microsoft.com/office/powerpoint/2010/main" val="3753974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487D02-6950-31EE-9075-CE462E154503}"/>
              </a:ext>
            </a:extLst>
          </p:cNvPr>
          <p:cNvSpPr>
            <a:spLocks noGrp="1"/>
          </p:cNvSpPr>
          <p:nvPr>
            <p:ph type="sldNum" sz="quarter" idx="10"/>
          </p:nvPr>
        </p:nvSpPr>
        <p:spPr/>
        <p:txBody>
          <a:bodyPr/>
          <a:lstStyle/>
          <a:p>
            <a:fld id="{A02D9A9C-251E-4686-914B-47E3F39F30D8}" type="slidenum">
              <a:rPr lang="de-DE" smtClean="0"/>
              <a:t>14</a:t>
            </a:fld>
            <a:endParaRPr lang="de-DE"/>
          </a:p>
        </p:txBody>
      </p:sp>
      <p:sp>
        <p:nvSpPr>
          <p:cNvPr id="11" name="TextBox 10">
            <a:extLst>
              <a:ext uri="{FF2B5EF4-FFF2-40B4-BE49-F238E27FC236}">
                <a16:creationId xmlns:a16="http://schemas.microsoft.com/office/drawing/2014/main" id="{F3027F4B-361D-A062-F5BF-7B4E7ED5E83E}"/>
              </a:ext>
            </a:extLst>
          </p:cNvPr>
          <p:cNvSpPr txBox="1"/>
          <p:nvPr/>
        </p:nvSpPr>
        <p:spPr>
          <a:xfrm>
            <a:off x="954850" y="172367"/>
            <a:ext cx="9223200" cy="461665"/>
          </a:xfrm>
          <a:prstGeom prst="rect">
            <a:avLst/>
          </a:prstGeom>
          <a:noFill/>
        </p:spPr>
        <p:txBody>
          <a:bodyPr wrap="square" rtlCol="0">
            <a:spAutoFit/>
          </a:bodyPr>
          <a:lstStyle/>
          <a:p>
            <a:r>
              <a:rPr lang="en-US" sz="2400" b="1" i="0" dirty="0">
                <a:effectLst/>
                <a:latin typeface="Arial" panose="020B0604020202020204" pitchFamily="34" charset="0"/>
                <a:cs typeface="Arial" panose="020B0604020202020204" pitchFamily="34" charset="0"/>
              </a:rPr>
              <a:t>Multiple Runs: </a:t>
            </a:r>
            <a:r>
              <a:rPr lang="en-US" sz="2400" b="1" dirty="0">
                <a:latin typeface="Arial" panose="020B0604020202020204" pitchFamily="34" charset="0"/>
                <a:cs typeface="Arial" panose="020B0604020202020204" pitchFamily="34" charset="0"/>
              </a:rPr>
              <a:t>Inference</a:t>
            </a:r>
            <a:r>
              <a:rPr lang="en-US" sz="2400" b="1" i="0" dirty="0">
                <a:effectLst/>
                <a:latin typeface="Arial" panose="020B0604020202020204" pitchFamily="34" charset="0"/>
                <a:cs typeface="Arial" panose="020B0604020202020204" pitchFamily="34" charset="0"/>
              </a:rPr>
              <a:t> Performance Comparison</a:t>
            </a:r>
            <a:endParaRPr lang="de-DE" sz="24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3928F39F-A005-F729-AF8B-736F686388C0}"/>
              </a:ext>
            </a:extLst>
          </p:cNvPr>
          <p:cNvPicPr>
            <a:picLocks noChangeAspect="1"/>
          </p:cNvPicPr>
          <p:nvPr/>
        </p:nvPicPr>
        <p:blipFill>
          <a:blip r:embed="rId2"/>
          <a:stretch>
            <a:fillRect/>
          </a:stretch>
        </p:blipFill>
        <p:spPr>
          <a:xfrm>
            <a:off x="2148740" y="1027365"/>
            <a:ext cx="10332919" cy="6606130"/>
          </a:xfrm>
          <a:prstGeom prst="rect">
            <a:avLst/>
          </a:prstGeom>
        </p:spPr>
      </p:pic>
    </p:spTree>
    <p:extLst>
      <p:ext uri="{BB962C8B-B14F-4D97-AF65-F5344CB8AC3E}">
        <p14:creationId xmlns:p14="http://schemas.microsoft.com/office/powerpoint/2010/main" val="281696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9BDF97-2CEC-5516-F91C-C69A562E04EA}"/>
              </a:ext>
            </a:extLst>
          </p:cNvPr>
          <p:cNvSpPr/>
          <p:nvPr/>
        </p:nvSpPr>
        <p:spPr>
          <a:xfrm>
            <a:off x="793790" y="2643307"/>
            <a:ext cx="13042821" cy="2126456"/>
          </a:xfrm>
          <a:prstGeom prst="rect">
            <a:avLst/>
          </a:prstGeom>
          <a:noFill/>
          <a:ln/>
        </p:spPr>
        <p:txBody>
          <a:bodyPr wrap="none" lIns="0" tIns="0" rIns="0" bIns="0" rtlCol="0" anchor="t"/>
          <a:lstStyle/>
          <a:p>
            <a:pPr marL="0" indent="0" algn="l">
              <a:lnSpc>
                <a:spcPts val="16700"/>
              </a:lnSpc>
              <a:buNone/>
            </a:pPr>
            <a:r>
              <a:rPr lang="en-US" sz="13350" dirty="0">
                <a:latin typeface="Arial" panose="020B0604020202020204" pitchFamily="34" charset="0"/>
                <a:ea typeface="Crimson Pro Semi Bold" pitchFamily="34" charset="-122"/>
                <a:cs typeface="Arial" panose="020B0604020202020204" pitchFamily="34" charset="0"/>
              </a:rPr>
              <a:t>Thank You!</a:t>
            </a:r>
            <a:endParaRPr lang="en-US" sz="13350" dirty="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162051C1-87FA-AC88-FEC3-B65825AC80B1}"/>
              </a:ext>
            </a:extLst>
          </p:cNvPr>
          <p:cNvSpPr/>
          <p:nvPr/>
        </p:nvSpPr>
        <p:spPr>
          <a:xfrm>
            <a:off x="793790" y="5223391"/>
            <a:ext cx="13042821" cy="362903"/>
          </a:xfrm>
          <a:prstGeom prst="rect">
            <a:avLst/>
          </a:prstGeom>
          <a:noFill/>
          <a:ln/>
        </p:spPr>
        <p:txBody>
          <a:bodyPr wrap="none" lIns="0" tIns="0" rIns="0" bIns="0" rtlCol="0" anchor="t"/>
          <a:lstStyle/>
          <a:p>
            <a:pPr marL="0" indent="0" algn="l">
              <a:lnSpc>
                <a:spcPts val="2850"/>
              </a:lnSpc>
              <a:buNone/>
            </a:pPr>
            <a:r>
              <a:rPr lang="en-US" sz="1750" dirty="0">
                <a:latin typeface="Arial" panose="020B0604020202020204" pitchFamily="34" charset="0"/>
                <a:ea typeface="Heebo" pitchFamily="34" charset="-122"/>
                <a:cs typeface="Arial" panose="020B0604020202020204" pitchFamily="34" charset="0"/>
              </a:rPr>
              <a:t>I appreciate your time and attention.</a:t>
            </a:r>
            <a:endParaRPr lang="en-US" sz="175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09EA9E87-DD33-F803-A787-B1528EFB82A4}"/>
              </a:ext>
            </a:extLst>
          </p:cNvPr>
          <p:cNvSpPr>
            <a:spLocks noGrp="1"/>
          </p:cNvSpPr>
          <p:nvPr>
            <p:ph type="sldNum" sz="quarter" idx="10"/>
          </p:nvPr>
        </p:nvSpPr>
        <p:spPr/>
        <p:txBody>
          <a:bodyPr/>
          <a:lstStyle/>
          <a:p>
            <a:fld id="{A02D9A9C-251E-4686-914B-47E3F39F30D8}" type="slidenum">
              <a:rPr lang="de-DE" smtClean="0"/>
              <a:t>15</a:t>
            </a:fld>
            <a:endParaRPr lang="de-DE"/>
          </a:p>
        </p:txBody>
      </p:sp>
    </p:spTree>
    <p:extLst>
      <p:ext uri="{BB962C8B-B14F-4D97-AF65-F5344CB8AC3E}">
        <p14:creationId xmlns:p14="http://schemas.microsoft.com/office/powerpoint/2010/main" val="3645203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B959B7-EFE5-32A3-50D9-D1DB5967DAFC}"/>
              </a:ext>
            </a:extLst>
          </p:cNvPr>
          <p:cNvSpPr>
            <a:spLocks noGrp="1"/>
          </p:cNvSpPr>
          <p:nvPr>
            <p:ph type="sldNum" sz="quarter" idx="10"/>
          </p:nvPr>
        </p:nvSpPr>
        <p:spPr/>
        <p:txBody>
          <a:bodyPr/>
          <a:lstStyle/>
          <a:p>
            <a:fld id="{A02D9A9C-251E-4686-914B-47E3F39F30D8}" type="slidenum">
              <a:rPr lang="de-DE" smtClean="0"/>
              <a:t>16</a:t>
            </a:fld>
            <a:endParaRPr lang="de-DE"/>
          </a:p>
        </p:txBody>
      </p:sp>
      <p:pic>
        <p:nvPicPr>
          <p:cNvPr id="6" name="Picture 5">
            <a:extLst>
              <a:ext uri="{FF2B5EF4-FFF2-40B4-BE49-F238E27FC236}">
                <a16:creationId xmlns:a16="http://schemas.microsoft.com/office/drawing/2014/main" id="{782C1992-3888-5B47-2E82-A8334E0B851C}"/>
              </a:ext>
            </a:extLst>
          </p:cNvPr>
          <p:cNvPicPr>
            <a:picLocks noChangeAspect="1"/>
          </p:cNvPicPr>
          <p:nvPr/>
        </p:nvPicPr>
        <p:blipFill>
          <a:blip r:embed="rId2"/>
          <a:stretch>
            <a:fillRect/>
          </a:stretch>
        </p:blipFill>
        <p:spPr>
          <a:xfrm>
            <a:off x="1242165" y="1040481"/>
            <a:ext cx="12146070" cy="4963218"/>
          </a:xfrm>
          <a:prstGeom prst="rect">
            <a:avLst/>
          </a:prstGeom>
        </p:spPr>
      </p:pic>
      <p:sp>
        <p:nvSpPr>
          <p:cNvPr id="3" name="TextBox 2">
            <a:extLst>
              <a:ext uri="{FF2B5EF4-FFF2-40B4-BE49-F238E27FC236}">
                <a16:creationId xmlns:a16="http://schemas.microsoft.com/office/drawing/2014/main" id="{080535F2-175F-9034-9D06-C073EEBDCAD8}"/>
              </a:ext>
            </a:extLst>
          </p:cNvPr>
          <p:cNvSpPr txBox="1"/>
          <p:nvPr/>
        </p:nvSpPr>
        <p:spPr>
          <a:xfrm>
            <a:off x="1979017" y="6316238"/>
            <a:ext cx="10672365" cy="1477328"/>
          </a:xfrm>
          <a:prstGeom prst="rect">
            <a:avLst/>
          </a:prstGeom>
          <a:noFill/>
        </p:spPr>
        <p:txBody>
          <a:bodyPr wrap="square" rtlCol="0">
            <a:spAutoFit/>
          </a:bodyPr>
          <a:lstStyle/>
          <a:p>
            <a:r>
              <a:rPr lang="en-US" dirty="0"/>
              <a:t>Fig: Illustration of the investigated industrial energy conversion system for electrified steam generation. The system consists of a HTHP, a TES and a SG, where the HTHP is powered by electricity from a wind turbine or the power grid. The HTHP uses waste heat air stream as a heat source and enables charging and discharging of the TES via an intermediate thermal oil stream. Furthermore, constant heat demand for the steam consumer factory must be satisfied.</a:t>
            </a:r>
            <a:endParaRPr lang="de-DE" dirty="0"/>
          </a:p>
        </p:txBody>
      </p:sp>
      <p:sp>
        <p:nvSpPr>
          <p:cNvPr id="4" name="Text 0">
            <a:extLst>
              <a:ext uri="{FF2B5EF4-FFF2-40B4-BE49-F238E27FC236}">
                <a16:creationId xmlns:a16="http://schemas.microsoft.com/office/drawing/2014/main" id="{DE957822-0B68-9DDF-98AA-CFF17F293EF2}"/>
              </a:ext>
            </a:extLst>
          </p:cNvPr>
          <p:cNvSpPr/>
          <p:nvPr/>
        </p:nvSpPr>
        <p:spPr>
          <a:xfrm>
            <a:off x="994906" y="578615"/>
            <a:ext cx="9858256" cy="485775"/>
          </a:xfrm>
          <a:prstGeom prst="rect">
            <a:avLst/>
          </a:prstGeom>
          <a:noFill/>
          <a:ln/>
        </p:spPr>
        <p:txBody>
          <a:bodyPr wrap="none" lIns="0" tIns="0" rIns="0" bIns="0" rtlCol="0" anchor="t"/>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800"/>
              </a:lnSpc>
              <a:buNone/>
            </a:pPr>
            <a:r>
              <a:rPr lang="en-US" sz="3600" dirty="0">
                <a:solidFill>
                  <a:srgbClr val="1B1B27"/>
                </a:solidFill>
                <a:latin typeface="Arial" panose="020B0604020202020204" pitchFamily="34" charset="0"/>
                <a:ea typeface="Alexandria" pitchFamily="34" charset="-122"/>
                <a:cs typeface="Arial" panose="020B0604020202020204" pitchFamily="34" charset="0"/>
              </a:rPr>
              <a:t>Cookie Factory </a:t>
            </a:r>
            <a:endParaRPr 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3040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840C5A-C840-A584-A219-DBDFF7A5300B}"/>
              </a:ext>
            </a:extLst>
          </p:cNvPr>
          <p:cNvSpPr>
            <a:spLocks noGrp="1"/>
          </p:cNvSpPr>
          <p:nvPr>
            <p:ph type="sldNum" sz="quarter" idx="10"/>
          </p:nvPr>
        </p:nvSpPr>
        <p:spPr/>
        <p:txBody>
          <a:bodyPr/>
          <a:lstStyle/>
          <a:p>
            <a:fld id="{A02D9A9C-251E-4686-914B-47E3F39F30D8}" type="slidenum">
              <a:rPr lang="de-DE" smtClean="0"/>
              <a:t>17</a:t>
            </a:fld>
            <a:endParaRPr lang="de-DE"/>
          </a:p>
        </p:txBody>
      </p:sp>
      <p:pic>
        <p:nvPicPr>
          <p:cNvPr id="4" name="Picture 3">
            <a:extLst>
              <a:ext uri="{FF2B5EF4-FFF2-40B4-BE49-F238E27FC236}">
                <a16:creationId xmlns:a16="http://schemas.microsoft.com/office/drawing/2014/main" id="{AFD42D65-F2E9-1253-FC65-DD1F51F190FF}"/>
              </a:ext>
            </a:extLst>
          </p:cNvPr>
          <p:cNvPicPr>
            <a:picLocks noChangeAspect="1"/>
          </p:cNvPicPr>
          <p:nvPr/>
        </p:nvPicPr>
        <p:blipFill>
          <a:blip r:embed="rId2"/>
          <a:stretch>
            <a:fillRect/>
          </a:stretch>
        </p:blipFill>
        <p:spPr>
          <a:xfrm>
            <a:off x="1708955" y="1355924"/>
            <a:ext cx="11212490" cy="2676899"/>
          </a:xfrm>
          <a:prstGeom prst="rect">
            <a:avLst/>
          </a:prstGeom>
        </p:spPr>
      </p:pic>
      <p:sp>
        <p:nvSpPr>
          <p:cNvPr id="8" name="TextBox 7">
            <a:extLst>
              <a:ext uri="{FF2B5EF4-FFF2-40B4-BE49-F238E27FC236}">
                <a16:creationId xmlns:a16="http://schemas.microsoft.com/office/drawing/2014/main" id="{86D4685C-FA54-A401-EDA9-D5131F1A891A}"/>
              </a:ext>
            </a:extLst>
          </p:cNvPr>
          <p:cNvSpPr txBox="1"/>
          <p:nvPr/>
        </p:nvSpPr>
        <p:spPr>
          <a:xfrm>
            <a:off x="1708955" y="4780599"/>
            <a:ext cx="11212490" cy="2031325"/>
          </a:xfrm>
          <a:prstGeom prst="rect">
            <a:avLst/>
          </a:prstGeom>
          <a:noFill/>
        </p:spPr>
        <p:txBody>
          <a:bodyPr wrap="square">
            <a:spAutoFit/>
          </a:bodyPr>
          <a:lstStyle/>
          <a:p>
            <a:r>
              <a:rPr lang="de-DE" dirty="0"/>
              <a:t>Fig: </a:t>
            </a:r>
            <a:r>
              <a:rPr lang="de-DE" dirty="0" err="1"/>
              <a:t>Detailed</a:t>
            </a:r>
            <a:r>
              <a:rPr lang="de-DE" dirty="0"/>
              <a:t> </a:t>
            </a:r>
            <a:r>
              <a:rPr lang="de-DE" dirty="0" err="1"/>
              <a:t>flow</a:t>
            </a:r>
            <a:r>
              <a:rPr lang="de-DE" dirty="0"/>
              <a:t> </a:t>
            </a:r>
            <a:r>
              <a:rPr lang="de-DE" dirty="0" err="1"/>
              <a:t>chart</a:t>
            </a:r>
            <a:r>
              <a:rPr lang="de-DE" dirty="0"/>
              <a:t> </a:t>
            </a:r>
            <a:r>
              <a:rPr lang="de-DE" dirty="0" err="1"/>
              <a:t>of</a:t>
            </a:r>
            <a:r>
              <a:rPr lang="de-DE" dirty="0"/>
              <a:t> </a:t>
            </a:r>
            <a:r>
              <a:rPr lang="de-DE" dirty="0" err="1"/>
              <a:t>studied</a:t>
            </a:r>
            <a:r>
              <a:rPr lang="de-DE" dirty="0"/>
              <a:t> </a:t>
            </a:r>
            <a:r>
              <a:rPr lang="de-DE" dirty="0" err="1"/>
              <a:t>system</a:t>
            </a:r>
            <a:r>
              <a:rPr lang="de-DE" dirty="0"/>
              <a:t> </a:t>
            </a:r>
            <a:r>
              <a:rPr lang="de-DE" dirty="0" err="1"/>
              <a:t>including</a:t>
            </a:r>
            <a:r>
              <a:rPr lang="de-DE" dirty="0"/>
              <a:t> HTHP, TES and SG. HTHP and SG </a:t>
            </a:r>
            <a:r>
              <a:rPr lang="de-DE" dirty="0" err="1"/>
              <a:t>are</a:t>
            </a:r>
            <a:r>
              <a:rPr lang="de-DE" dirty="0"/>
              <a:t> </a:t>
            </a:r>
            <a:r>
              <a:rPr lang="de-DE" dirty="0" err="1"/>
              <a:t>represented</a:t>
            </a:r>
            <a:r>
              <a:rPr lang="de-DE" dirty="0"/>
              <a:t> </a:t>
            </a:r>
            <a:r>
              <a:rPr lang="de-DE" dirty="0" err="1"/>
              <a:t>by</a:t>
            </a:r>
            <a:r>
              <a:rPr lang="de-DE" dirty="0"/>
              <a:t> polynomial </a:t>
            </a:r>
            <a:r>
              <a:rPr lang="de-DE" dirty="0" err="1"/>
              <a:t>surrogate</a:t>
            </a:r>
            <a:r>
              <a:rPr lang="de-DE" dirty="0"/>
              <a:t> </a:t>
            </a:r>
            <a:r>
              <a:rPr lang="de-DE" dirty="0" err="1"/>
              <a:t>models</a:t>
            </a:r>
            <a:r>
              <a:rPr lang="de-DE" dirty="0"/>
              <a:t>, </a:t>
            </a:r>
            <a:r>
              <a:rPr lang="de-DE" dirty="0" err="1"/>
              <a:t>while</a:t>
            </a:r>
            <a:r>
              <a:rPr lang="de-DE" dirty="0"/>
              <a:t> TES </a:t>
            </a:r>
            <a:r>
              <a:rPr lang="de-DE" dirty="0" err="1"/>
              <a:t>is</a:t>
            </a:r>
            <a:r>
              <a:rPr lang="de-DE" dirty="0"/>
              <a:t> </a:t>
            </a:r>
            <a:r>
              <a:rPr lang="de-DE" dirty="0" err="1"/>
              <a:t>modeled</a:t>
            </a:r>
            <a:r>
              <a:rPr lang="de-DE" dirty="0"/>
              <a:t> </a:t>
            </a:r>
            <a:r>
              <a:rPr lang="de-DE" dirty="0" err="1"/>
              <a:t>by</a:t>
            </a:r>
            <a:r>
              <a:rPr lang="de-DE" dirty="0"/>
              <a:t> an </a:t>
            </a:r>
            <a:r>
              <a:rPr lang="de-DE" dirty="0" err="1"/>
              <a:t>effectiveness</a:t>
            </a:r>
            <a:r>
              <a:rPr lang="de-DE" dirty="0"/>
              <a:t> </a:t>
            </a:r>
            <a:r>
              <a:rPr lang="de-DE" dirty="0" err="1"/>
              <a:t>model</a:t>
            </a:r>
            <a:r>
              <a:rPr lang="de-DE" dirty="0"/>
              <a:t>. </a:t>
            </a:r>
            <a:r>
              <a:rPr lang="en-US" dirty="0"/>
              <a:t>An adjustable fluid bypass β1 ∈ [0, 1] is used to control the heat input to the TES and SG, conversely the bypass β2 ∈ [0, 1] regulates the heat input to the HTHP depending on the thermal state Ts of the TES and SG outlet stream. The solid and dashed lines indicate the charging and discharging mode in a simplified way. In addition, simultaneous charging and discharging is not allowed. For example, charge mode is β1 ∈ [0, 1), β2 = 1, discharge mode implies β2 ∈ [0, 1), β1 = 1, and idle mode represents β1 = β2 = 1</a:t>
            </a:r>
            <a:endParaRPr lang="de-DE" dirty="0"/>
          </a:p>
        </p:txBody>
      </p:sp>
    </p:spTree>
    <p:extLst>
      <p:ext uri="{BB962C8B-B14F-4D97-AF65-F5344CB8AC3E}">
        <p14:creationId xmlns:p14="http://schemas.microsoft.com/office/powerpoint/2010/main" val="4269060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18C556-3C2D-B3BD-EC7B-BA4299B0CE58}"/>
              </a:ext>
            </a:extLst>
          </p:cNvPr>
          <p:cNvSpPr>
            <a:spLocks noGrp="1"/>
          </p:cNvSpPr>
          <p:nvPr>
            <p:ph type="sldNum" sz="quarter" idx="10"/>
          </p:nvPr>
        </p:nvSpPr>
        <p:spPr/>
        <p:txBody>
          <a:bodyPr/>
          <a:lstStyle/>
          <a:p>
            <a:fld id="{A02D9A9C-251E-4686-914B-47E3F39F30D8}" type="slidenum">
              <a:rPr lang="de-DE" smtClean="0">
                <a:latin typeface="Arial" panose="020B0604020202020204" pitchFamily="34" charset="0"/>
                <a:cs typeface="Arial" panose="020B0604020202020204" pitchFamily="34" charset="0"/>
              </a:rPr>
              <a:t>18</a:t>
            </a:fld>
            <a:endParaRPr lang="de-DE">
              <a:latin typeface="Arial" panose="020B0604020202020204" pitchFamily="34" charset="0"/>
              <a:cs typeface="Arial" panose="020B0604020202020204" pitchFamily="34" charset="0"/>
            </a:endParaRPr>
          </a:p>
        </p:txBody>
      </p:sp>
      <p:sp>
        <p:nvSpPr>
          <p:cNvPr id="5" name="title">
            <a:extLst>
              <a:ext uri="{FF2B5EF4-FFF2-40B4-BE49-F238E27FC236}">
                <a16:creationId xmlns:a16="http://schemas.microsoft.com/office/drawing/2014/main" id="{AC12215E-42B3-2F9E-DD89-C2C231A3B5E7}"/>
              </a:ext>
            </a:extLst>
          </p:cNvPr>
          <p:cNvSpPr txBox="1"/>
          <p:nvPr/>
        </p:nvSpPr>
        <p:spPr>
          <a:xfrm>
            <a:off x="530352" y="694581"/>
            <a:ext cx="11201400" cy="502920"/>
          </a:xfrm>
          <a:prstGeom prst="rect">
            <a:avLst/>
          </a:prstGeom>
          <a:noFill/>
          <a:ln w="0">
            <a:noFill/>
          </a:ln>
        </p:spPr>
        <p:txBody>
          <a:bodyPr wrap="square" lIns="18288" tIns="18288" rIns="18288" bIns="18288" anchor="t"/>
          <a:lstStyle/>
          <a:p>
            <a:r>
              <a:rPr lang="en-US" sz="3600" dirty="0">
                <a:solidFill>
                  <a:srgbClr val="0F172A"/>
                </a:solidFill>
                <a:latin typeface="Arial" panose="020B0604020202020204" pitchFamily="34" charset="0"/>
                <a:cs typeface="Arial" panose="020B0604020202020204" pitchFamily="34" charset="0"/>
              </a:rPr>
              <a:t>Second Use Case: RL vs Mathematical Optimization</a:t>
            </a:r>
            <a:endParaRPr lang="en-US" sz="3600" dirty="0">
              <a:latin typeface="Arial" panose="020B0604020202020204" pitchFamily="34" charset="0"/>
              <a:cs typeface="Arial" panose="020B0604020202020204" pitchFamily="34" charset="0"/>
            </a:endParaRPr>
          </a:p>
        </p:txBody>
      </p:sp>
      <p:sp>
        <p:nvSpPr>
          <p:cNvPr id="6" name="subtitle">
            <a:extLst>
              <a:ext uri="{FF2B5EF4-FFF2-40B4-BE49-F238E27FC236}">
                <a16:creationId xmlns:a16="http://schemas.microsoft.com/office/drawing/2014/main" id="{9FE79D97-1B72-8F86-A807-3FE6F92BA812}"/>
              </a:ext>
            </a:extLst>
          </p:cNvPr>
          <p:cNvSpPr txBox="1"/>
          <p:nvPr/>
        </p:nvSpPr>
        <p:spPr>
          <a:xfrm>
            <a:off x="548640" y="1645557"/>
            <a:ext cx="11064240" cy="301752"/>
          </a:xfrm>
          <a:prstGeom prst="rect">
            <a:avLst/>
          </a:prstGeom>
          <a:noFill/>
          <a:ln w="0">
            <a:noFill/>
          </a:ln>
        </p:spPr>
        <p:txBody>
          <a:bodyPr wrap="square" lIns="18288" tIns="18288" rIns="18288" bIns="18288" anchor="t"/>
          <a:lstStyle/>
          <a:p>
            <a:r>
              <a:rPr lang="en-US" sz="1400" dirty="0">
                <a:solidFill>
                  <a:srgbClr val="475569"/>
                </a:solidFill>
                <a:latin typeface="Arial" panose="020B0604020202020204" pitchFamily="34" charset="0"/>
                <a:cs typeface="Arial" panose="020B0604020202020204" pitchFamily="34" charset="0"/>
              </a:rPr>
              <a:t>Same time horizon comparison for the cookie-factory energy system; prioritize decision time for real-time operation</a:t>
            </a:r>
            <a:endParaRPr lang="en-US" sz="1400" dirty="0">
              <a:latin typeface="Arial" panose="020B0604020202020204" pitchFamily="34" charset="0"/>
              <a:cs typeface="Arial" panose="020B0604020202020204" pitchFamily="34" charset="0"/>
            </a:endParaRPr>
          </a:p>
        </p:txBody>
      </p:sp>
      <p:sp>
        <p:nvSpPr>
          <p:cNvPr id="7" name="speed panel">
            <a:extLst>
              <a:ext uri="{FF2B5EF4-FFF2-40B4-BE49-F238E27FC236}">
                <a16:creationId xmlns:a16="http://schemas.microsoft.com/office/drawing/2014/main" id="{F4FEB0F3-9E22-ABF6-5BFF-A9121EDD7581}"/>
              </a:ext>
            </a:extLst>
          </p:cNvPr>
          <p:cNvSpPr/>
          <p:nvPr/>
        </p:nvSpPr>
        <p:spPr>
          <a:xfrm>
            <a:off x="649224" y="2281065"/>
            <a:ext cx="5715000" cy="3429000"/>
          </a:xfrm>
          <a:prstGeom prst="roundRect">
            <a:avLst/>
          </a:prstGeom>
          <a:solidFill>
            <a:srgbClr val="D2DDF9"/>
          </a:solidFill>
          <a:ln w="9525">
            <a:solidFill>
              <a:srgbClr val="BFDBFE"/>
            </a:solidFill>
          </a:ln>
        </p:spPr>
        <p:txBody>
          <a:bodyPr/>
          <a:lstStyle/>
          <a:p>
            <a:endParaRPr sz="1400">
              <a:latin typeface="Arial" panose="020B0604020202020204" pitchFamily="34" charset="0"/>
              <a:cs typeface="Arial" panose="020B0604020202020204" pitchFamily="34" charset="0"/>
            </a:endParaRPr>
          </a:p>
        </p:txBody>
      </p:sp>
      <p:sp>
        <p:nvSpPr>
          <p:cNvPr id="8" name="speed label">
            <a:extLst>
              <a:ext uri="{FF2B5EF4-FFF2-40B4-BE49-F238E27FC236}">
                <a16:creationId xmlns:a16="http://schemas.microsoft.com/office/drawing/2014/main" id="{006410CF-67B1-E1E5-868A-5D89167D6995}"/>
              </a:ext>
            </a:extLst>
          </p:cNvPr>
          <p:cNvSpPr txBox="1"/>
          <p:nvPr/>
        </p:nvSpPr>
        <p:spPr>
          <a:xfrm>
            <a:off x="950976" y="2555385"/>
            <a:ext cx="5102352" cy="292608"/>
          </a:xfrm>
          <a:prstGeom prst="rect">
            <a:avLst/>
          </a:prstGeom>
          <a:solidFill>
            <a:srgbClr val="D2DDF9"/>
          </a:solidFill>
          <a:ln w="0">
            <a:solidFill>
              <a:srgbClr val="D2DDF9"/>
            </a:solidFill>
          </a:ln>
        </p:spPr>
        <p:txBody>
          <a:bodyPr wrap="square" lIns="18288" tIns="18288" rIns="18288" bIns="18288" anchor="t"/>
          <a:lstStyle/>
          <a:p>
            <a:r>
              <a:rPr lang="en-US" sz="1400">
                <a:solidFill>
                  <a:srgbClr val="1E3A8A"/>
                </a:solidFill>
                <a:latin typeface="Arial" panose="020B0604020202020204" pitchFamily="34" charset="0"/>
                <a:cs typeface="Arial" panose="020B0604020202020204" pitchFamily="34" charset="0"/>
              </a:rPr>
              <a:t>Primary result: computation time</a:t>
            </a:r>
            <a:endParaRPr lang="en-US" sz="1400">
              <a:latin typeface="Arial" panose="020B0604020202020204" pitchFamily="34" charset="0"/>
              <a:cs typeface="Arial" panose="020B0604020202020204" pitchFamily="34" charset="0"/>
            </a:endParaRPr>
          </a:p>
        </p:txBody>
      </p:sp>
      <p:sp>
        <p:nvSpPr>
          <p:cNvPr id="9" name="speedup">
            <a:extLst>
              <a:ext uri="{FF2B5EF4-FFF2-40B4-BE49-F238E27FC236}">
                <a16:creationId xmlns:a16="http://schemas.microsoft.com/office/drawing/2014/main" id="{10EE3FA0-28EA-AC49-6384-641369615CD2}"/>
              </a:ext>
            </a:extLst>
          </p:cNvPr>
          <p:cNvSpPr txBox="1"/>
          <p:nvPr/>
        </p:nvSpPr>
        <p:spPr>
          <a:xfrm>
            <a:off x="932688" y="3069603"/>
            <a:ext cx="5166360" cy="731520"/>
          </a:xfrm>
          <a:prstGeom prst="rect">
            <a:avLst/>
          </a:prstGeom>
          <a:solidFill>
            <a:srgbClr val="D2DDF9"/>
          </a:solidFill>
          <a:ln w="0">
            <a:solidFill>
              <a:srgbClr val="D2DDF9"/>
            </a:solidFill>
          </a:ln>
        </p:spPr>
        <p:txBody>
          <a:bodyPr wrap="square" lIns="18288" tIns="18288" rIns="18288" bIns="18288" anchor="t"/>
          <a:lstStyle/>
          <a:p>
            <a:r>
              <a:rPr lang="en-US" dirty="0">
                <a:solidFill>
                  <a:srgbClr val="16A34A"/>
                </a:solidFill>
                <a:latin typeface="Arial" panose="020B0604020202020204" pitchFamily="34" charset="0"/>
                <a:cs typeface="Arial" panose="020B0604020202020204" pitchFamily="34" charset="0"/>
              </a:rPr>
              <a:t>922.5x faster</a:t>
            </a:r>
            <a:endParaRPr lang="en-US" dirty="0">
              <a:latin typeface="Arial" panose="020B0604020202020204" pitchFamily="34" charset="0"/>
              <a:cs typeface="Arial" panose="020B0604020202020204" pitchFamily="34" charset="0"/>
            </a:endParaRPr>
          </a:p>
        </p:txBody>
      </p:sp>
      <p:sp>
        <p:nvSpPr>
          <p:cNvPr id="10" name="time numbers">
            <a:extLst>
              <a:ext uri="{FF2B5EF4-FFF2-40B4-BE49-F238E27FC236}">
                <a16:creationId xmlns:a16="http://schemas.microsoft.com/office/drawing/2014/main" id="{9C9EFF1A-3174-CD54-07E9-7504B221848D}"/>
              </a:ext>
            </a:extLst>
          </p:cNvPr>
          <p:cNvSpPr txBox="1"/>
          <p:nvPr/>
        </p:nvSpPr>
        <p:spPr>
          <a:xfrm>
            <a:off x="969264" y="3718827"/>
            <a:ext cx="5074920" cy="530352"/>
          </a:xfrm>
          <a:prstGeom prst="rect">
            <a:avLst/>
          </a:prstGeom>
          <a:solidFill>
            <a:srgbClr val="D2DDF9"/>
          </a:solidFill>
          <a:ln w="0">
            <a:solidFill>
              <a:srgbClr val="D2DDF9"/>
            </a:solidFill>
          </a:ln>
        </p:spPr>
        <p:txBody>
          <a:bodyPr wrap="square" lIns="18288" tIns="18288" rIns="18288" bIns="18288" anchor="t"/>
          <a:lstStyle/>
          <a:p>
            <a:r>
              <a:rPr lang="en-US" sz="1400" dirty="0">
                <a:solidFill>
                  <a:srgbClr val="0F172A"/>
                </a:solidFill>
                <a:latin typeface="Arial" panose="020B0604020202020204" pitchFamily="34" charset="0"/>
                <a:cs typeface="Arial" panose="020B0604020202020204" pitchFamily="34" charset="0"/>
              </a:rPr>
              <a:t>RL: 0.02 s    |    Optimization: 18.45 s</a:t>
            </a:r>
            <a:endParaRPr lang="en-US" sz="1400" dirty="0">
              <a:latin typeface="Arial" panose="020B0604020202020204" pitchFamily="34" charset="0"/>
              <a:cs typeface="Arial" panose="020B0604020202020204" pitchFamily="34" charset="0"/>
            </a:endParaRPr>
          </a:p>
        </p:txBody>
      </p:sp>
      <p:sp>
        <p:nvSpPr>
          <p:cNvPr id="11" name="speed interpretation">
            <a:extLst>
              <a:ext uri="{FF2B5EF4-FFF2-40B4-BE49-F238E27FC236}">
                <a16:creationId xmlns:a16="http://schemas.microsoft.com/office/drawing/2014/main" id="{3BE27A70-1AD6-F05F-361E-D9137C5C2472}"/>
              </a:ext>
            </a:extLst>
          </p:cNvPr>
          <p:cNvSpPr txBox="1"/>
          <p:nvPr/>
        </p:nvSpPr>
        <p:spPr>
          <a:xfrm>
            <a:off x="969264" y="4548777"/>
            <a:ext cx="5074920" cy="685800"/>
          </a:xfrm>
          <a:prstGeom prst="rect">
            <a:avLst/>
          </a:prstGeom>
          <a:solidFill>
            <a:srgbClr val="D2DDF9"/>
          </a:solidFill>
          <a:ln w="0">
            <a:solidFill>
              <a:srgbClr val="D2DDF9"/>
            </a:solidFill>
          </a:ln>
        </p:spPr>
        <p:txBody>
          <a:bodyPr wrap="square" lIns="18288" tIns="18288" rIns="18288" bIns="18288" anchor="t"/>
          <a:lstStyle/>
          <a:p>
            <a:r>
              <a:rPr lang="en-US" sz="1400">
                <a:solidFill>
                  <a:srgbClr val="334155"/>
                </a:solidFill>
                <a:latin typeface="Arial" panose="020B0604020202020204" pitchFamily="34" charset="0"/>
                <a:cs typeface="Arial" panose="020B0604020202020204" pitchFamily="34" charset="0"/>
              </a:rPr>
              <a:t>This is the strongest argument for RL in the second use case: once trained, the policy gives a near-instant setpoint decision while the mathematical optimizer must solve the nonlinear problem again.</a:t>
            </a:r>
            <a:endParaRPr lang="en-US" sz="1400">
              <a:latin typeface="Arial" panose="020B0604020202020204" pitchFamily="34" charset="0"/>
              <a:cs typeface="Arial" panose="020B0604020202020204" pitchFamily="34" charset="0"/>
            </a:endParaRPr>
          </a:p>
        </p:txBody>
      </p:sp>
      <p:sp>
        <p:nvSpPr>
          <p:cNvPr id="12" name="objective panel">
            <a:extLst>
              <a:ext uri="{FF2B5EF4-FFF2-40B4-BE49-F238E27FC236}">
                <a16:creationId xmlns:a16="http://schemas.microsoft.com/office/drawing/2014/main" id="{8CEE2612-4988-2FB1-B4ED-5CDD21F2716E}"/>
              </a:ext>
            </a:extLst>
          </p:cNvPr>
          <p:cNvSpPr/>
          <p:nvPr/>
        </p:nvSpPr>
        <p:spPr>
          <a:xfrm>
            <a:off x="7620238" y="2281065"/>
            <a:ext cx="5285232" cy="3429000"/>
          </a:xfrm>
          <a:prstGeom prst="roundRect">
            <a:avLst/>
          </a:prstGeom>
          <a:solidFill>
            <a:srgbClr val="D2DDF9"/>
          </a:solidFill>
          <a:ln w="9525">
            <a:solidFill>
              <a:srgbClr val="D2DDF9"/>
            </a:solidFill>
          </a:ln>
        </p:spPr>
        <p:txBody>
          <a:bodyPr/>
          <a:lstStyle/>
          <a:p>
            <a:endParaRPr sz="1400">
              <a:latin typeface="Arial" panose="020B0604020202020204" pitchFamily="34" charset="0"/>
              <a:cs typeface="Arial" panose="020B0604020202020204" pitchFamily="34" charset="0"/>
            </a:endParaRPr>
          </a:p>
        </p:txBody>
      </p:sp>
      <p:sp>
        <p:nvSpPr>
          <p:cNvPr id="13" name="objective label">
            <a:extLst>
              <a:ext uri="{FF2B5EF4-FFF2-40B4-BE49-F238E27FC236}">
                <a16:creationId xmlns:a16="http://schemas.microsoft.com/office/drawing/2014/main" id="{408481D2-BC1A-04B2-9427-78543641C88A}"/>
              </a:ext>
            </a:extLst>
          </p:cNvPr>
          <p:cNvSpPr txBox="1"/>
          <p:nvPr/>
        </p:nvSpPr>
        <p:spPr>
          <a:xfrm>
            <a:off x="7903702" y="2555385"/>
            <a:ext cx="4754880" cy="292608"/>
          </a:xfrm>
          <a:prstGeom prst="rect">
            <a:avLst/>
          </a:prstGeom>
          <a:solidFill>
            <a:srgbClr val="D2DDF9"/>
          </a:solidFill>
          <a:ln w="0">
            <a:solidFill>
              <a:srgbClr val="D2DDF9"/>
            </a:solidFill>
          </a:ln>
        </p:spPr>
        <p:txBody>
          <a:bodyPr wrap="square" lIns="18288" tIns="18288" rIns="18288" bIns="18288" anchor="t"/>
          <a:lstStyle/>
          <a:p>
            <a:r>
              <a:rPr lang="en-US" sz="1400" dirty="0">
                <a:solidFill>
                  <a:srgbClr val="0F172A"/>
                </a:solidFill>
                <a:latin typeface="Arial" panose="020B0604020202020204" pitchFamily="34" charset="0"/>
                <a:cs typeface="Arial" panose="020B0604020202020204" pitchFamily="34" charset="0"/>
              </a:rPr>
              <a:t>Objective value (in €)</a:t>
            </a:r>
            <a:endParaRPr lang="en-US" sz="1400" dirty="0">
              <a:latin typeface="Arial" panose="020B0604020202020204" pitchFamily="34" charset="0"/>
              <a:cs typeface="Arial" panose="020B0604020202020204" pitchFamily="34" charset="0"/>
            </a:endParaRPr>
          </a:p>
        </p:txBody>
      </p:sp>
      <p:sp>
        <p:nvSpPr>
          <p:cNvPr id="15" name="rl objective">
            <a:extLst>
              <a:ext uri="{FF2B5EF4-FFF2-40B4-BE49-F238E27FC236}">
                <a16:creationId xmlns:a16="http://schemas.microsoft.com/office/drawing/2014/main" id="{1F7FA57C-901A-B2D0-2ED1-3A6228B363F1}"/>
              </a:ext>
            </a:extLst>
          </p:cNvPr>
          <p:cNvSpPr txBox="1"/>
          <p:nvPr/>
        </p:nvSpPr>
        <p:spPr>
          <a:xfrm>
            <a:off x="7958566" y="3104025"/>
            <a:ext cx="2148840" cy="804672"/>
          </a:xfrm>
          <a:prstGeom prst="rect">
            <a:avLst/>
          </a:prstGeom>
          <a:solidFill>
            <a:srgbClr val="D2DDF9"/>
          </a:solidFill>
          <a:ln w="0">
            <a:solidFill>
              <a:srgbClr val="D2DDF9"/>
            </a:solidFill>
          </a:ln>
        </p:spPr>
        <p:txBody>
          <a:bodyPr wrap="square" lIns="18288" tIns="18288" rIns="18288" bIns="18288" anchor="t"/>
          <a:lstStyle/>
          <a:p>
            <a:r>
              <a:rPr lang="en-US" sz="1400">
                <a:solidFill>
                  <a:srgbClr val="475569"/>
                </a:solidFill>
                <a:latin typeface="Arial" panose="020B0604020202020204" pitchFamily="34" charset="0"/>
                <a:cs typeface="Arial" panose="020B0604020202020204" pitchFamily="34" charset="0"/>
              </a:rPr>
              <a:t>RL</a:t>
            </a:r>
            <a:endParaRPr lang="en-US" sz="1400">
              <a:latin typeface="Arial" panose="020B0604020202020204" pitchFamily="34" charset="0"/>
              <a:cs typeface="Arial" panose="020B0604020202020204" pitchFamily="34" charset="0"/>
            </a:endParaRPr>
          </a:p>
          <a:p>
            <a:r>
              <a:rPr lang="en-US" sz="1400">
                <a:solidFill>
                  <a:srgbClr val="DC2626"/>
                </a:solidFill>
                <a:latin typeface="Arial" panose="020B0604020202020204" pitchFamily="34" charset="0"/>
                <a:cs typeface="Arial" panose="020B0604020202020204" pitchFamily="34" charset="0"/>
              </a:rPr>
              <a:t>2669.56</a:t>
            </a:r>
            <a:endParaRPr lang="en-US" sz="1400">
              <a:latin typeface="Arial" panose="020B0604020202020204" pitchFamily="34" charset="0"/>
              <a:cs typeface="Arial" panose="020B0604020202020204" pitchFamily="34" charset="0"/>
            </a:endParaRPr>
          </a:p>
        </p:txBody>
      </p:sp>
      <p:sp>
        <p:nvSpPr>
          <p:cNvPr id="16" name="opt objective">
            <a:extLst>
              <a:ext uri="{FF2B5EF4-FFF2-40B4-BE49-F238E27FC236}">
                <a16:creationId xmlns:a16="http://schemas.microsoft.com/office/drawing/2014/main" id="{BE7B4E1D-2200-874C-FD12-72776DE970B8}"/>
              </a:ext>
            </a:extLst>
          </p:cNvPr>
          <p:cNvSpPr txBox="1"/>
          <p:nvPr/>
        </p:nvSpPr>
        <p:spPr>
          <a:xfrm>
            <a:off x="10336006" y="3104025"/>
            <a:ext cx="2148840" cy="804672"/>
          </a:xfrm>
          <a:prstGeom prst="rect">
            <a:avLst/>
          </a:prstGeom>
          <a:solidFill>
            <a:srgbClr val="D2DDF9"/>
          </a:solidFill>
          <a:ln w="0">
            <a:solidFill>
              <a:srgbClr val="D2DDF9"/>
            </a:solidFill>
          </a:ln>
        </p:spPr>
        <p:txBody>
          <a:bodyPr wrap="square" lIns="18288" tIns="18288" rIns="18288" bIns="18288" anchor="t"/>
          <a:lstStyle/>
          <a:p>
            <a:r>
              <a:rPr lang="en-US" sz="1400">
                <a:solidFill>
                  <a:srgbClr val="475569"/>
                </a:solidFill>
                <a:latin typeface="Arial" panose="020B0604020202020204" pitchFamily="34" charset="0"/>
                <a:cs typeface="Arial" panose="020B0604020202020204" pitchFamily="34" charset="0"/>
              </a:rPr>
              <a:t>Optimization</a:t>
            </a:r>
            <a:endParaRPr lang="en-US" sz="1400">
              <a:latin typeface="Arial" panose="020B0604020202020204" pitchFamily="34" charset="0"/>
              <a:cs typeface="Arial" panose="020B0604020202020204" pitchFamily="34" charset="0"/>
            </a:endParaRPr>
          </a:p>
          <a:p>
            <a:r>
              <a:rPr lang="en-US" sz="1400">
                <a:solidFill>
                  <a:srgbClr val="16A34A"/>
                </a:solidFill>
                <a:latin typeface="Arial" panose="020B0604020202020204" pitchFamily="34" charset="0"/>
                <a:cs typeface="Arial" panose="020B0604020202020204" pitchFamily="34" charset="0"/>
              </a:rPr>
              <a:t>2418.92</a:t>
            </a:r>
            <a:endParaRPr lang="en-US" sz="1400">
              <a:latin typeface="Arial" panose="020B0604020202020204" pitchFamily="34" charset="0"/>
              <a:cs typeface="Arial" panose="020B0604020202020204" pitchFamily="34" charset="0"/>
            </a:endParaRPr>
          </a:p>
        </p:txBody>
      </p:sp>
      <p:sp>
        <p:nvSpPr>
          <p:cNvPr id="17" name="objective gap">
            <a:extLst>
              <a:ext uri="{FF2B5EF4-FFF2-40B4-BE49-F238E27FC236}">
                <a16:creationId xmlns:a16="http://schemas.microsoft.com/office/drawing/2014/main" id="{34CBA945-034D-9CD7-8EAB-51823E419287}"/>
              </a:ext>
            </a:extLst>
          </p:cNvPr>
          <p:cNvSpPr txBox="1"/>
          <p:nvPr/>
        </p:nvSpPr>
        <p:spPr>
          <a:xfrm>
            <a:off x="7958566" y="4137297"/>
            <a:ext cx="4526280" cy="502920"/>
          </a:xfrm>
          <a:prstGeom prst="rect">
            <a:avLst/>
          </a:prstGeom>
          <a:solidFill>
            <a:srgbClr val="D2DDF9"/>
          </a:solidFill>
          <a:ln w="0">
            <a:solidFill>
              <a:srgbClr val="D2DDF9"/>
            </a:solidFill>
          </a:ln>
        </p:spPr>
        <p:txBody>
          <a:bodyPr wrap="square" lIns="18288" tIns="18288" rIns="18288" bIns="18288" anchor="t"/>
          <a:lstStyle/>
          <a:p>
            <a:r>
              <a:rPr lang="en-US" sz="1400">
                <a:solidFill>
                  <a:srgbClr val="0F172A"/>
                </a:solidFill>
                <a:latin typeface="Arial" panose="020B0604020202020204" pitchFamily="34" charset="0"/>
                <a:cs typeface="Arial" panose="020B0604020202020204" pitchFamily="34" charset="0"/>
              </a:rPr>
              <a:t>Objective gap: +250.64 (10.4% higher for RL)</a:t>
            </a:r>
            <a:endParaRPr lang="en-US" sz="1400">
              <a:latin typeface="Arial" panose="020B0604020202020204" pitchFamily="34" charset="0"/>
              <a:cs typeface="Arial" panose="020B0604020202020204" pitchFamily="34" charset="0"/>
            </a:endParaRPr>
          </a:p>
        </p:txBody>
      </p:sp>
      <p:sp>
        <p:nvSpPr>
          <p:cNvPr id="18" name="objective interpretation">
            <a:extLst>
              <a:ext uri="{FF2B5EF4-FFF2-40B4-BE49-F238E27FC236}">
                <a16:creationId xmlns:a16="http://schemas.microsoft.com/office/drawing/2014/main" id="{B4C40939-D111-C352-26CC-E364D954CC4B}"/>
              </a:ext>
            </a:extLst>
          </p:cNvPr>
          <p:cNvSpPr txBox="1"/>
          <p:nvPr/>
        </p:nvSpPr>
        <p:spPr>
          <a:xfrm>
            <a:off x="7958566" y="4795665"/>
            <a:ext cx="4526280" cy="438912"/>
          </a:xfrm>
          <a:prstGeom prst="rect">
            <a:avLst/>
          </a:prstGeom>
          <a:solidFill>
            <a:srgbClr val="D2DDF9"/>
          </a:solidFill>
          <a:ln w="0">
            <a:solidFill>
              <a:srgbClr val="D2DDF9"/>
            </a:solidFill>
          </a:ln>
        </p:spPr>
        <p:txBody>
          <a:bodyPr wrap="square" lIns="18288" tIns="18288" rIns="18288" bIns="18288" anchor="t"/>
          <a:lstStyle/>
          <a:p>
            <a:r>
              <a:rPr lang="en-US" sz="1400">
                <a:solidFill>
                  <a:srgbClr val="334155"/>
                </a:solidFill>
                <a:latin typeface="Arial" panose="020B0604020202020204" pitchFamily="34" charset="0"/>
                <a:cs typeface="Arial" panose="020B0604020202020204" pitchFamily="34" charset="0"/>
              </a:rPr>
              <a:t>The mathematical optimizer still gives the better objective value; the current RL value is a speed-quality trade-off, not an optimality claim.</a:t>
            </a:r>
            <a:endParaRPr lang="en-US" sz="1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451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C34ECB-EAC7-5773-DAF9-881EBC7A4FE8}"/>
              </a:ext>
            </a:extLst>
          </p:cNvPr>
          <p:cNvSpPr>
            <a:spLocks noGrp="1"/>
          </p:cNvSpPr>
          <p:nvPr>
            <p:ph type="sldNum" sz="quarter" idx="10"/>
          </p:nvPr>
        </p:nvSpPr>
        <p:spPr/>
        <p:txBody>
          <a:bodyPr/>
          <a:lstStyle/>
          <a:p>
            <a:fld id="{A02D9A9C-251E-4686-914B-47E3F39F30D8}" type="slidenum">
              <a:rPr lang="de-DE" smtClean="0"/>
              <a:t>19</a:t>
            </a:fld>
            <a:endParaRPr lang="de-DE"/>
          </a:p>
        </p:txBody>
      </p:sp>
      <p:pic>
        <p:nvPicPr>
          <p:cNvPr id="4" name="Picture 3">
            <a:extLst>
              <a:ext uri="{FF2B5EF4-FFF2-40B4-BE49-F238E27FC236}">
                <a16:creationId xmlns:a16="http://schemas.microsoft.com/office/drawing/2014/main" id="{297D1A2C-4A54-9D3C-4594-E7E2974BD369}"/>
              </a:ext>
            </a:extLst>
          </p:cNvPr>
          <p:cNvPicPr>
            <a:picLocks noChangeAspect="1"/>
          </p:cNvPicPr>
          <p:nvPr/>
        </p:nvPicPr>
        <p:blipFill>
          <a:blip r:embed="rId2"/>
          <a:stretch>
            <a:fillRect/>
          </a:stretch>
        </p:blipFill>
        <p:spPr>
          <a:xfrm>
            <a:off x="3357010" y="2571534"/>
            <a:ext cx="7916380" cy="3086531"/>
          </a:xfrm>
          <a:prstGeom prst="rect">
            <a:avLst/>
          </a:prstGeom>
        </p:spPr>
      </p:pic>
      <p:sp>
        <p:nvSpPr>
          <p:cNvPr id="3" name="TextBox 2">
            <a:extLst>
              <a:ext uri="{FF2B5EF4-FFF2-40B4-BE49-F238E27FC236}">
                <a16:creationId xmlns:a16="http://schemas.microsoft.com/office/drawing/2014/main" id="{2467262A-A518-2C71-7A66-5643E79F57AD}"/>
              </a:ext>
            </a:extLst>
          </p:cNvPr>
          <p:cNvSpPr txBox="1"/>
          <p:nvPr/>
        </p:nvSpPr>
        <p:spPr>
          <a:xfrm>
            <a:off x="1252800" y="634032"/>
            <a:ext cx="9223200" cy="461665"/>
          </a:xfrm>
          <a:prstGeom prst="rect">
            <a:avLst/>
          </a:prstGeom>
          <a:noFill/>
        </p:spPr>
        <p:txBody>
          <a:bodyPr wrap="square" rtlCol="0">
            <a:spAutoFit/>
          </a:bodyPr>
          <a:lstStyle/>
          <a:p>
            <a:r>
              <a:rPr lang="de-DE" sz="2400" dirty="0" err="1">
                <a:latin typeface="Arial" panose="020B0604020202020204" pitchFamily="34" charset="0"/>
                <a:cs typeface="Arial" panose="020B0604020202020204" pitchFamily="34" charset="0"/>
              </a:rPr>
              <a:t>Reward</a:t>
            </a:r>
            <a:r>
              <a:rPr lang="de-DE" sz="2400" dirty="0">
                <a:latin typeface="Arial" panose="020B0604020202020204" pitchFamily="34" charset="0"/>
                <a:cs typeface="Arial" panose="020B0604020202020204" pitchFamily="34" charset="0"/>
              </a:rPr>
              <a:t> Shaping- </a:t>
            </a:r>
            <a:r>
              <a:rPr lang="de-DE" sz="2400" dirty="0" err="1">
                <a:latin typeface="Arial" panose="020B0604020202020204" pitchFamily="34" charset="0"/>
                <a:cs typeface="Arial" panose="020B0604020202020204" pitchFamily="34" charset="0"/>
              </a:rPr>
              <a:t>reward</a:t>
            </a:r>
            <a:r>
              <a:rPr lang="de-DE" sz="2400" dirty="0">
                <a:latin typeface="Arial" panose="020B0604020202020204" pitchFamily="34" charset="0"/>
                <a:cs typeface="Arial" panose="020B0604020202020204" pitchFamily="34" charset="0"/>
              </a:rPr>
              <a:t> 1</a:t>
            </a:r>
          </a:p>
        </p:txBody>
      </p:sp>
    </p:spTree>
    <p:extLst>
      <p:ext uri="{BB962C8B-B14F-4D97-AF65-F5344CB8AC3E}">
        <p14:creationId xmlns:p14="http://schemas.microsoft.com/office/powerpoint/2010/main" val="216380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2F2BCC-B6B0-7E98-E4DC-ADAA9C788C5C}"/>
              </a:ext>
            </a:extLst>
          </p:cNvPr>
          <p:cNvSpPr>
            <a:spLocks noGrp="1"/>
          </p:cNvSpPr>
          <p:nvPr>
            <p:ph type="sldNum" sz="quarter" idx="10"/>
          </p:nvPr>
        </p:nvSpPr>
        <p:spPr/>
        <p:txBody>
          <a:bodyPr/>
          <a:lstStyle/>
          <a:p>
            <a:fld id="{A02D9A9C-251E-4686-914B-47E3F39F30D8}" type="slidenum">
              <a:rPr lang="de-DE" smtClean="0"/>
              <a:t>20</a:t>
            </a:fld>
            <a:endParaRPr lang="de-DE"/>
          </a:p>
        </p:txBody>
      </p:sp>
      <p:pic>
        <p:nvPicPr>
          <p:cNvPr id="6" name="Picture 5">
            <a:extLst>
              <a:ext uri="{FF2B5EF4-FFF2-40B4-BE49-F238E27FC236}">
                <a16:creationId xmlns:a16="http://schemas.microsoft.com/office/drawing/2014/main" id="{9483616A-B819-1459-0E49-CA739B8687DD}"/>
              </a:ext>
            </a:extLst>
          </p:cNvPr>
          <p:cNvPicPr>
            <a:picLocks noChangeAspect="1"/>
          </p:cNvPicPr>
          <p:nvPr/>
        </p:nvPicPr>
        <p:blipFill>
          <a:blip r:embed="rId2"/>
          <a:stretch>
            <a:fillRect/>
          </a:stretch>
        </p:blipFill>
        <p:spPr>
          <a:xfrm>
            <a:off x="3357687" y="2086501"/>
            <a:ext cx="7915026" cy="4056597"/>
          </a:xfrm>
          <a:prstGeom prst="rect">
            <a:avLst/>
          </a:prstGeom>
        </p:spPr>
      </p:pic>
      <p:cxnSp>
        <p:nvCxnSpPr>
          <p:cNvPr id="8" name="Straight Arrow Connector 7">
            <a:extLst>
              <a:ext uri="{FF2B5EF4-FFF2-40B4-BE49-F238E27FC236}">
                <a16:creationId xmlns:a16="http://schemas.microsoft.com/office/drawing/2014/main" id="{9AC30367-5094-6F91-AB07-0F004FB116BD}"/>
              </a:ext>
            </a:extLst>
          </p:cNvPr>
          <p:cNvCxnSpPr>
            <a:cxnSpLocks/>
          </p:cNvCxnSpPr>
          <p:nvPr/>
        </p:nvCxnSpPr>
        <p:spPr>
          <a:xfrm flipV="1">
            <a:off x="1160980" y="4161035"/>
            <a:ext cx="2270589" cy="739739"/>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
        <p:nvSpPr>
          <p:cNvPr id="13" name="TextBox 12">
            <a:extLst>
              <a:ext uri="{FF2B5EF4-FFF2-40B4-BE49-F238E27FC236}">
                <a16:creationId xmlns:a16="http://schemas.microsoft.com/office/drawing/2014/main" id="{4C7EFE59-B507-A217-C4AC-C4629E6BBE9D}"/>
              </a:ext>
            </a:extLst>
          </p:cNvPr>
          <p:cNvSpPr txBox="1"/>
          <p:nvPr/>
        </p:nvSpPr>
        <p:spPr>
          <a:xfrm>
            <a:off x="1252800" y="634032"/>
            <a:ext cx="9223200" cy="461665"/>
          </a:xfrm>
          <a:prstGeom prst="rect">
            <a:avLst/>
          </a:prstGeom>
          <a:noFill/>
        </p:spPr>
        <p:txBody>
          <a:bodyPr wrap="square" rtlCol="0">
            <a:spAutoFit/>
          </a:bodyPr>
          <a:lstStyle/>
          <a:p>
            <a:r>
              <a:rPr lang="de-DE" sz="2400" dirty="0" err="1">
                <a:latin typeface="Arial" panose="020B0604020202020204" pitchFamily="34" charset="0"/>
                <a:cs typeface="Arial" panose="020B0604020202020204" pitchFamily="34" charset="0"/>
              </a:rPr>
              <a:t>Reward</a:t>
            </a:r>
            <a:r>
              <a:rPr lang="de-DE" sz="2400" dirty="0">
                <a:latin typeface="Arial" panose="020B0604020202020204" pitchFamily="34" charset="0"/>
                <a:cs typeface="Arial" panose="020B0604020202020204" pitchFamily="34" charset="0"/>
              </a:rPr>
              <a:t> Shaping- </a:t>
            </a:r>
            <a:r>
              <a:rPr lang="de-DE" sz="2400" dirty="0" err="1">
                <a:latin typeface="Arial" panose="020B0604020202020204" pitchFamily="34" charset="0"/>
                <a:cs typeface="Arial" panose="020B0604020202020204" pitchFamily="34" charset="0"/>
              </a:rPr>
              <a:t>reward</a:t>
            </a:r>
            <a:r>
              <a:rPr lang="de-DE" sz="2400" dirty="0">
                <a:latin typeface="Arial" panose="020B0604020202020204" pitchFamily="34" charset="0"/>
                <a:cs typeface="Arial" panose="020B0604020202020204" pitchFamily="34" charset="0"/>
              </a:rPr>
              <a:t> 2</a:t>
            </a:r>
          </a:p>
        </p:txBody>
      </p:sp>
    </p:spTree>
    <p:extLst>
      <p:ext uri="{BB962C8B-B14F-4D97-AF65-F5344CB8AC3E}">
        <p14:creationId xmlns:p14="http://schemas.microsoft.com/office/powerpoint/2010/main" val="1609710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72C488-41F5-371F-F46A-1CF4B990359C}"/>
              </a:ext>
            </a:extLst>
          </p:cNvPr>
          <p:cNvSpPr txBox="1"/>
          <p:nvPr/>
        </p:nvSpPr>
        <p:spPr>
          <a:xfrm>
            <a:off x="3657600" y="2960638"/>
            <a:ext cx="7315200" cy="2308324"/>
          </a:xfrm>
          <a:prstGeom prst="rect">
            <a:avLst/>
          </a:prstGeom>
          <a:noFill/>
        </p:spPr>
        <p:txBody>
          <a:bodyPr wrap="square">
            <a:spAutoFit/>
          </a:bodyPr>
          <a:lstStyle/>
          <a:p>
            <a:pPr marL="285750" indent="-285750">
              <a:buFont typeface="Arial" panose="020B0604020202020204" pitchFamily="34" charset="0"/>
              <a:buChar char="•"/>
            </a:pPr>
            <a:r>
              <a:rPr lang="de-DE" dirty="0" err="1"/>
              <a:t>slides</a:t>
            </a:r>
            <a:r>
              <a:rPr lang="de-DE" dirty="0"/>
              <a:t> </a:t>
            </a:r>
            <a:r>
              <a:rPr lang="de-DE" dirty="0" err="1"/>
              <a:t>for</a:t>
            </a:r>
            <a:r>
              <a:rPr lang="de-DE" dirty="0"/>
              <a:t> RL(</a:t>
            </a:r>
            <a:r>
              <a:rPr lang="de-DE" dirty="0" err="1"/>
              <a:t>how</a:t>
            </a:r>
            <a:r>
              <a:rPr lang="de-DE" dirty="0"/>
              <a:t> </a:t>
            </a:r>
            <a:r>
              <a:rPr lang="de-DE" dirty="0" err="1"/>
              <a:t>it</a:t>
            </a:r>
            <a:r>
              <a:rPr lang="de-DE" dirty="0"/>
              <a:t> </a:t>
            </a:r>
            <a:r>
              <a:rPr lang="de-DE" dirty="0" err="1"/>
              <a:t>works</a:t>
            </a:r>
            <a:r>
              <a:rPr lang="de-DE" dirty="0"/>
              <a:t>)</a:t>
            </a:r>
          </a:p>
          <a:p>
            <a:pPr marL="285750" indent="-285750">
              <a:buFont typeface="Arial" panose="020B0604020202020204" pitchFamily="34" charset="0"/>
              <a:buChar char="•"/>
            </a:pPr>
            <a:r>
              <a:rPr lang="de-DE" dirty="0">
                <a:solidFill>
                  <a:srgbClr val="FF0000"/>
                </a:solidFill>
              </a:rPr>
              <a:t>Plot </a:t>
            </a:r>
            <a:r>
              <a:rPr lang="de-DE" dirty="0" err="1">
                <a:solidFill>
                  <a:srgbClr val="FF0000"/>
                </a:solidFill>
              </a:rPr>
              <a:t>for</a:t>
            </a:r>
            <a:r>
              <a:rPr lang="de-DE" dirty="0">
                <a:solidFill>
                  <a:srgbClr val="FF0000"/>
                </a:solidFill>
              </a:rPr>
              <a:t> </a:t>
            </a:r>
            <a:r>
              <a:rPr lang="de-DE" dirty="0" err="1">
                <a:solidFill>
                  <a:srgbClr val="FF0000"/>
                </a:solidFill>
              </a:rPr>
              <a:t>hyperparameter</a:t>
            </a:r>
            <a:r>
              <a:rPr lang="de-DE" dirty="0">
                <a:solidFill>
                  <a:srgbClr val="FF0000"/>
                </a:solidFill>
              </a:rPr>
              <a:t> </a:t>
            </a:r>
            <a:r>
              <a:rPr lang="de-DE" dirty="0" err="1">
                <a:solidFill>
                  <a:srgbClr val="FF0000"/>
                </a:solidFill>
              </a:rPr>
              <a:t>tuning</a:t>
            </a:r>
            <a:r>
              <a:rPr lang="de-DE" dirty="0">
                <a:solidFill>
                  <a:srgbClr val="FF0000"/>
                </a:solidFill>
              </a:rPr>
              <a:t> </a:t>
            </a:r>
            <a:r>
              <a:rPr lang="de-DE" dirty="0" err="1">
                <a:solidFill>
                  <a:srgbClr val="FF0000"/>
                </a:solidFill>
              </a:rPr>
              <a:t>comparision</a:t>
            </a:r>
            <a:endParaRPr lang="de-DE" dirty="0">
              <a:solidFill>
                <a:srgbClr val="FF0000"/>
              </a:solidFill>
            </a:endParaRPr>
          </a:p>
          <a:p>
            <a:pPr marL="285750" indent="-285750">
              <a:buFont typeface="Arial" panose="020B0604020202020204" pitchFamily="34" charset="0"/>
              <a:buChar char="•"/>
            </a:pPr>
            <a:r>
              <a:rPr lang="de-DE" dirty="0"/>
              <a:t>Create a </a:t>
            </a:r>
            <a:r>
              <a:rPr lang="de-DE" dirty="0" err="1"/>
              <a:t>table</a:t>
            </a:r>
            <a:r>
              <a:rPr lang="de-DE" dirty="0"/>
              <a:t> </a:t>
            </a:r>
            <a:r>
              <a:rPr lang="de-DE" dirty="0" err="1"/>
              <a:t>of</a:t>
            </a:r>
            <a:r>
              <a:rPr lang="de-DE" dirty="0"/>
              <a:t> </a:t>
            </a:r>
            <a:r>
              <a:rPr lang="de-DE" dirty="0" err="1"/>
              <a:t>content</a:t>
            </a:r>
            <a:r>
              <a:rPr lang="de-DE" dirty="0"/>
              <a:t>.</a:t>
            </a:r>
          </a:p>
          <a:p>
            <a:pPr marL="285750" indent="-285750">
              <a:buFont typeface="Arial" panose="020B0604020202020204" pitchFamily="34" charset="0"/>
              <a:buChar char="•"/>
            </a:pPr>
            <a:r>
              <a:rPr lang="de-DE" dirty="0" err="1"/>
              <a:t>Number</a:t>
            </a:r>
            <a:r>
              <a:rPr lang="de-DE" dirty="0"/>
              <a:t> </a:t>
            </a:r>
            <a:r>
              <a:rPr lang="de-DE" dirty="0" err="1"/>
              <a:t>of</a:t>
            </a:r>
            <a:r>
              <a:rPr lang="de-DE" dirty="0"/>
              <a:t> </a:t>
            </a:r>
            <a:r>
              <a:rPr lang="de-DE" dirty="0" err="1"/>
              <a:t>pages</a:t>
            </a:r>
            <a:r>
              <a:rPr lang="de-DE" dirty="0"/>
              <a:t> </a:t>
            </a:r>
            <a:r>
              <a:rPr lang="de-DE" dirty="0" err="1"/>
              <a:t>you</a:t>
            </a:r>
            <a:r>
              <a:rPr lang="de-DE" dirty="0"/>
              <a:t> </a:t>
            </a:r>
            <a:r>
              <a:rPr lang="de-DE" dirty="0" err="1"/>
              <a:t>can</a:t>
            </a:r>
            <a:r>
              <a:rPr lang="de-DE" dirty="0"/>
              <a:t> </a:t>
            </a:r>
            <a:r>
              <a:rPr lang="de-DE" dirty="0" err="1"/>
              <a:t>write</a:t>
            </a:r>
            <a:endParaRPr lang="de-DE" dirty="0"/>
          </a:p>
          <a:p>
            <a:pPr marL="285750" indent="-285750">
              <a:buFont typeface="Arial" panose="020B0604020202020204" pitchFamily="34" charset="0"/>
              <a:buChar char="•"/>
            </a:pPr>
            <a:r>
              <a:rPr lang="de-DE" dirty="0"/>
              <a:t>Template (</a:t>
            </a:r>
            <a:r>
              <a:rPr lang="de-DE" dirty="0" err="1"/>
              <a:t>description</a:t>
            </a:r>
            <a:r>
              <a:rPr lang="de-DE" dirty="0"/>
              <a:t>)</a:t>
            </a:r>
          </a:p>
          <a:p>
            <a:pPr marL="285750" indent="-285750">
              <a:buFont typeface="Arial" panose="020B0604020202020204" pitchFamily="34" charset="0"/>
              <a:buChar char="•"/>
            </a:pPr>
            <a:r>
              <a:rPr lang="de-DE" dirty="0"/>
              <a:t>American </a:t>
            </a:r>
            <a:r>
              <a:rPr lang="de-DE" dirty="0" err="1"/>
              <a:t>or</a:t>
            </a:r>
            <a:r>
              <a:rPr lang="de-DE" dirty="0"/>
              <a:t> </a:t>
            </a:r>
            <a:r>
              <a:rPr lang="de-DE" dirty="0" err="1"/>
              <a:t>british</a:t>
            </a:r>
            <a:r>
              <a:rPr lang="de-DE" dirty="0"/>
              <a:t> </a:t>
            </a:r>
            <a:r>
              <a:rPr lang="de-DE" dirty="0" err="1"/>
              <a:t>english</a:t>
            </a:r>
            <a:r>
              <a:rPr lang="de-DE" dirty="0"/>
              <a:t> </a:t>
            </a:r>
            <a:r>
              <a:rPr lang="de-DE" dirty="0" err="1"/>
              <a:t>to</a:t>
            </a:r>
            <a:r>
              <a:rPr lang="de-DE" dirty="0"/>
              <a:t> </a:t>
            </a:r>
            <a:r>
              <a:rPr lang="de-DE" dirty="0" err="1"/>
              <a:t>use</a:t>
            </a:r>
            <a:endParaRPr lang="de-DE" dirty="0"/>
          </a:p>
          <a:p>
            <a:pPr marL="285750" indent="-285750">
              <a:buFont typeface="Arial" panose="020B0604020202020204" pitchFamily="34" charset="0"/>
              <a:buChar char="•"/>
            </a:pPr>
            <a:r>
              <a:rPr lang="de-DE" dirty="0"/>
              <a:t>Email </a:t>
            </a:r>
            <a:r>
              <a:rPr lang="de-DE" dirty="0" err="1"/>
              <a:t>subject</a:t>
            </a:r>
            <a:r>
              <a:rPr lang="de-DE" dirty="0"/>
              <a:t> </a:t>
            </a:r>
            <a:r>
              <a:rPr lang="de-DE" dirty="0" err="1"/>
              <a:t>format</a:t>
            </a:r>
            <a:endParaRPr lang="de-DE" dirty="0"/>
          </a:p>
          <a:p>
            <a:pPr marL="285750" indent="-285750">
              <a:buFont typeface="Arial" panose="020B0604020202020204" pitchFamily="34" charset="0"/>
              <a:buChar char="•"/>
            </a:pPr>
            <a:r>
              <a:rPr lang="de-DE" dirty="0">
                <a:solidFill>
                  <a:srgbClr val="FF0000"/>
                </a:solidFill>
              </a:rPr>
              <a:t>Time </a:t>
            </a:r>
            <a:r>
              <a:rPr lang="de-DE" dirty="0" err="1">
                <a:solidFill>
                  <a:srgbClr val="FF0000"/>
                </a:solidFill>
              </a:rPr>
              <a:t>for</a:t>
            </a:r>
            <a:r>
              <a:rPr lang="de-DE" dirty="0">
                <a:solidFill>
                  <a:srgbClr val="FF0000"/>
                </a:solidFill>
              </a:rPr>
              <a:t> </a:t>
            </a:r>
            <a:r>
              <a:rPr lang="de-DE" dirty="0" err="1">
                <a:solidFill>
                  <a:srgbClr val="FF0000"/>
                </a:solidFill>
              </a:rPr>
              <a:t>each</a:t>
            </a:r>
            <a:r>
              <a:rPr lang="de-DE" dirty="0">
                <a:solidFill>
                  <a:srgbClr val="FF0000"/>
                </a:solidFill>
              </a:rPr>
              <a:t> </a:t>
            </a:r>
            <a:r>
              <a:rPr lang="de-DE" dirty="0" err="1">
                <a:solidFill>
                  <a:srgbClr val="FF0000"/>
                </a:solidFill>
              </a:rPr>
              <a:t>model</a:t>
            </a:r>
            <a:r>
              <a:rPr lang="de-DE" dirty="0">
                <a:solidFill>
                  <a:srgbClr val="FF0000"/>
                </a:solidFill>
              </a:rPr>
              <a:t>.</a:t>
            </a:r>
          </a:p>
        </p:txBody>
      </p:sp>
      <p:sp>
        <p:nvSpPr>
          <p:cNvPr id="4" name="Slide Number Placeholder 3">
            <a:extLst>
              <a:ext uri="{FF2B5EF4-FFF2-40B4-BE49-F238E27FC236}">
                <a16:creationId xmlns:a16="http://schemas.microsoft.com/office/drawing/2014/main" id="{F32BE691-78FE-9E64-AACF-4C018A1EDF20}"/>
              </a:ext>
            </a:extLst>
          </p:cNvPr>
          <p:cNvSpPr>
            <a:spLocks noGrp="1"/>
          </p:cNvSpPr>
          <p:nvPr>
            <p:ph type="sldNum" sz="quarter" idx="10"/>
          </p:nvPr>
        </p:nvSpPr>
        <p:spPr/>
        <p:txBody>
          <a:bodyPr/>
          <a:lstStyle/>
          <a:p>
            <a:fld id="{A02D9A9C-251E-4686-914B-47E3F39F30D8}" type="slidenum">
              <a:rPr lang="de-DE" smtClean="0"/>
              <a:t>21</a:t>
            </a:fld>
            <a:endParaRPr lang="de-DE"/>
          </a:p>
        </p:txBody>
      </p:sp>
    </p:spTree>
    <p:extLst>
      <p:ext uri="{BB962C8B-B14F-4D97-AF65-F5344CB8AC3E}">
        <p14:creationId xmlns:p14="http://schemas.microsoft.com/office/powerpoint/2010/main" val="1511948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1401</Words>
  <Application>Microsoft Office PowerPoint</Application>
  <PresentationFormat>Custom</PresentationFormat>
  <Paragraphs>164</Paragraphs>
  <Slides>21</Slides>
  <Notes>0</Notes>
  <HiddenSlides>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Aptos</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Thapa, Ashish</cp:lastModifiedBy>
  <cp:revision>109</cp:revision>
  <dcterms:created xsi:type="dcterms:W3CDTF">2025-12-08T13:37:53Z</dcterms:created>
  <dcterms:modified xsi:type="dcterms:W3CDTF">2026-06-05T07:56:43Z</dcterms:modified>
</cp:coreProperties>
</file>