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D1895-1F9D-40C9-A605-57E3F2361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944FF9-712A-445B-A36C-298452A6E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A8F08-D5A6-44C9-A185-4E7DD9C79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03/09/2025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D09DE-2F9C-4743-A6E3-DD042D072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EB44B-DFDB-427D-B3B0-45DFA57F6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700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6CF0D-7740-4F78-A1B5-6BD243941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B37A1-15D9-430B-A3AF-4B798DE8B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DFE18-1AAD-4696-B794-27C41246D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03/09/2025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1F9C7-41E9-4093-B3BF-C858FE673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F1923-8FEF-42E6-95A1-4F3E49153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2663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0E76E-D5CB-4969-B26D-1DD74EFF7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35105-4AB8-4A6D-8ACD-091E72AF5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5DCD8-C1FA-4DB9-B59A-C259F4D5C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03/09/2025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F29F4-3E55-4E1E-A329-5DFA2770C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3B634-AD9E-41A8-BA66-D8D33093E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336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108A4-5149-4146-A1EC-C2EC9AE06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15EDE-247C-43C7-8B62-DC29A9195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2E26-F9B5-41E8-B3F3-6A7CC3D44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FA535-00C3-4AFA-BF1A-679AB8113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03/09/2025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8C2B0-D99F-4F03-8A54-9EA62492D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263684-25BC-4CE5-B6F2-5D8056964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4241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9EFDA-91C7-4708-9141-971ADA51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EC926-6B02-4A11-8657-3B6BE73AC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5E1E55-72FF-4438-B17A-A13D5EA48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197B7-02E0-4A3B-91C0-A026C8F899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AC0B4C-73B9-4CE0-9DDB-72DFB5D1EB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34D1B4-03FC-429B-902E-131AD5AE2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03/09/2025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B9090A-75F1-49AC-9B26-89B0256CB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0408AC-B948-459F-86E2-0F4F5E2AC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6750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964BF-FF2C-44E3-AAB3-9B015171C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C6E2D-96A2-4D6A-A9CB-27E71ADF9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03/09/2025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470844-A469-4066-9187-CB5E93498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F5953F-61C3-4B04-A140-09675F737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3935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7ACC2A-F292-4441-ACDF-6418CD784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03/09/2025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0EA973-28B2-454A-BE3A-240D0AD70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0734D-528E-48B5-80DE-77B27AD08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8267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4237C-4889-481D-B585-A2EE140DC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14238-6C60-42AB-BC7E-315900199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48B87-DCA9-4BBB-B7AF-AFE600482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18D22-77D0-44A6-9CFD-B95745E8A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03/09/2025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6697B-DF06-4261-8861-C6BF69380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D5D72-576D-4046-8EA7-3D09BCAFC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252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95A0D-270E-4F42-8562-52C276EA4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611A2B-01F6-41EC-8E75-1AB04B01EE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E3B73A-691C-4CC4-8BFB-E6EE828B6F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7A974-848B-46C3-B8E2-A735D3A9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03/09/2025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48989-7A3C-4119-9CBA-D6192B1FD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D1DBB-8CFA-4C09-B8C3-55E8C80E5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752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ED05B-1A73-4CDB-9D7B-D683FCD30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2CC671-384B-429A-9873-120BFF9B3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1B577-4832-4FE9-8EE9-DAAA68E35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03/09/2025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4B54E-8F48-40FE-ACAC-637CC563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997F3-CC6D-4794-B0D1-D437FF79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076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98C3A8-6A5D-45A1-9854-15DF8B39AB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D8E44B-3245-4D36-BABC-4D4503114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AD382-6761-4886-B4F9-5E6596A1D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03/09/2025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46E5E-2977-41D4-B1E4-4C262D8F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3316B-1261-49B9-84B2-E3B3292E2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327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0D3E5-B0B2-4107-835F-A8538707F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AC8A5-0055-4264-A7BC-8BCF67888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E717A-46DA-4387-802E-9A8932FDE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65039-3823-4E49-B555-660A6214BD7E}" type="datetimeFigureOut">
              <a:rPr lang="en-GB" smtClean="0"/>
              <a:t>03/09/2025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98807-50F0-4FA9-83DC-32D454BD47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952BF-54E3-4415-A497-8279EF803D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255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science/article/pii/S2666546820300434?via%3Dihub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09/TIA.2024.3430264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16/j.rser.2021.111833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">
            <a:extLst>
              <a:ext uri="{FF2B5EF4-FFF2-40B4-BE49-F238E27FC236}">
                <a16:creationId xmlns:a16="http://schemas.microsoft.com/office/drawing/2014/main" id="{7C96CA19-5EC3-4207-B174-E4D6D0FFBB2E}"/>
              </a:ext>
            </a:extLst>
          </p:cNvPr>
          <p:cNvSpPr/>
          <p:nvPr/>
        </p:nvSpPr>
        <p:spPr>
          <a:xfrm>
            <a:off x="271580" y="1534269"/>
            <a:ext cx="10443324" cy="3096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0275AE53-AF82-413B-9D75-3512BF582DA2}"/>
              </a:ext>
            </a:extLst>
          </p:cNvPr>
          <p:cNvSpPr/>
          <p:nvPr/>
        </p:nvSpPr>
        <p:spPr>
          <a:xfrm>
            <a:off x="271580" y="325338"/>
            <a:ext cx="7035405" cy="2417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00" dirty="0"/>
              <a:t>[1] ‘Deep reinforcement learning for home energy management system control - ScienceDirect’. Accessed: </a:t>
            </a:r>
          </a:p>
          <a:p>
            <a:r>
              <a:rPr lang="en-US" sz="1600" dirty="0"/>
              <a:t>Aug. 15, 2025. [Online]. Available: </a:t>
            </a:r>
            <a:r>
              <a:rPr lang="en-US" sz="1600" dirty="0">
                <a:hlinkClick r:id="rId2"/>
              </a:rPr>
              <a:t>https://www.sciencedirect.com/science/article/pii/S2666546820300434?via%3Dihub</a:t>
            </a:r>
            <a:endParaRPr lang="en-US" sz="1600" dirty="0">
              <a:effectLst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67EF93-B7A2-476A-BCF3-A3A5AE56FFBC}"/>
              </a:ext>
            </a:extLst>
          </p:cNvPr>
          <p:cNvSpPr/>
          <p:nvPr/>
        </p:nvSpPr>
        <p:spPr>
          <a:xfrm>
            <a:off x="355185" y="1177350"/>
            <a:ext cx="1027611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Problem Addressed</a:t>
            </a:r>
          </a:p>
          <a:p>
            <a:r>
              <a:rPr lang="en-GB" dirty="0"/>
              <a:t>High residential energy use (heating &amp; hot water).</a:t>
            </a:r>
          </a:p>
          <a:p>
            <a:r>
              <a:rPr lang="en-GB" dirty="0"/>
              <a:t>Need to optimize PV self-consumption by coordinating loads and solar production.</a:t>
            </a:r>
          </a:p>
          <a:p>
            <a:r>
              <a:rPr lang="en-GB" b="1" dirty="0"/>
              <a:t>Method Used</a:t>
            </a:r>
          </a:p>
          <a:p>
            <a:r>
              <a:rPr lang="en-GB" dirty="0"/>
              <a:t>Deep Reinforcement Learning (DRL)</a:t>
            </a:r>
          </a:p>
          <a:p>
            <a:r>
              <a:rPr lang="en-GB" dirty="0"/>
              <a:t>Inputs: outdoor temp, indoor temp, DHW temp, PV production, time.</a:t>
            </a:r>
          </a:p>
          <a:p>
            <a:r>
              <a:rPr lang="en-GB" dirty="0"/>
              <a:t>Actions: Heat ON, DHW ON, System OFF.</a:t>
            </a:r>
          </a:p>
          <a:p>
            <a:r>
              <a:rPr lang="en-GB" dirty="0"/>
              <a:t>Neural net: 2 hidden layers, 16 neurons each.</a:t>
            </a:r>
          </a:p>
          <a:p>
            <a:r>
              <a:rPr lang="en-GB" b="1" dirty="0"/>
              <a:t>Key Findings</a:t>
            </a:r>
          </a:p>
          <a:p>
            <a:r>
              <a:rPr lang="en-GB" dirty="0"/>
              <a:t>8% average savings, up to 16% in summer.</a:t>
            </a:r>
          </a:p>
          <a:p>
            <a:r>
              <a:rPr lang="en-GB" dirty="0"/>
              <a:t>Comfort maintained (&lt;1% out of setpoints).</a:t>
            </a:r>
          </a:p>
          <a:p>
            <a:r>
              <a:rPr lang="en-GB" dirty="0"/>
              <a:t>+9.5% PV usage and ~10% load shifting.</a:t>
            </a:r>
          </a:p>
          <a:p>
            <a:r>
              <a:rPr lang="en-GB" b="1" dirty="0"/>
              <a:t>Limitations</a:t>
            </a:r>
          </a:p>
          <a:p>
            <a:r>
              <a:rPr lang="en-GB" dirty="0"/>
              <a:t>Dependent on PV availability (weaker in winter).</a:t>
            </a:r>
          </a:p>
          <a:p>
            <a:r>
              <a:rPr lang="en-GB" dirty="0"/>
              <a:t>Single case study; limited generalization.</a:t>
            </a:r>
          </a:p>
          <a:p>
            <a:r>
              <a:rPr lang="en-GB" b="1" dirty="0"/>
              <a:t>Relevance to My Work</a:t>
            </a:r>
          </a:p>
          <a:p>
            <a:r>
              <a:rPr lang="en-GB" dirty="0"/>
              <a:t>Similar RL can be used to find setpoints.</a:t>
            </a:r>
          </a:p>
          <a:p>
            <a:r>
              <a:rPr lang="en-GB" dirty="0"/>
              <a:t>Neural net design (5 inputs, 3 outputs, 2 hidden layers) → challenge: choosing neurons &amp; layers.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BF18B5-217F-41CA-BAFD-4BB3DAA702A0}"/>
              </a:ext>
            </a:extLst>
          </p:cNvPr>
          <p:cNvSpPr txBox="1"/>
          <p:nvPr/>
        </p:nvSpPr>
        <p:spPr>
          <a:xfrm>
            <a:off x="7184571" y="3429000"/>
            <a:ext cx="50074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Find the accuracy of the current model(set point optimization</a:t>
            </a:r>
            <a:r>
              <a:rPr lang="en-GB" b="1" dirty="0"/>
              <a:t>)</a:t>
            </a:r>
            <a:r>
              <a:rPr lang="en-US" b="1" dirty="0"/>
              <a:t> to compare with the various implementation of reinforcement learning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129438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">
            <a:extLst>
              <a:ext uri="{FF2B5EF4-FFF2-40B4-BE49-F238E27FC236}">
                <a16:creationId xmlns:a16="http://schemas.microsoft.com/office/drawing/2014/main" id="{7C96CA19-5EC3-4207-B174-E4D6D0FFBB2E}"/>
              </a:ext>
            </a:extLst>
          </p:cNvPr>
          <p:cNvSpPr/>
          <p:nvPr/>
        </p:nvSpPr>
        <p:spPr>
          <a:xfrm>
            <a:off x="271580" y="1534269"/>
            <a:ext cx="10443324" cy="3096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0275AE53-AF82-413B-9D75-3512BF582DA2}"/>
              </a:ext>
            </a:extLst>
          </p:cNvPr>
          <p:cNvSpPr/>
          <p:nvPr/>
        </p:nvSpPr>
        <p:spPr>
          <a:xfrm>
            <a:off x="271580" y="325338"/>
            <a:ext cx="7035405" cy="2417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GB" sz="1600" dirty="0"/>
              <a:t>[1]Q. Meng, S. Hussain, F. Luo, Z. Wang, and X. </a:t>
            </a:r>
            <a:r>
              <a:rPr lang="en-GB" sz="1600" dirty="0" err="1"/>
              <a:t>Jin</a:t>
            </a:r>
            <a:r>
              <a:rPr lang="en-GB" sz="1600" dirty="0"/>
              <a:t>, ‘An Online Reinforcement Learning-Based Energy Management Strategy for Microgrids </a:t>
            </a:r>
          </a:p>
          <a:p>
            <a:r>
              <a:rPr lang="en-GB" sz="1600" dirty="0"/>
              <a:t>With Centralized Control’, </a:t>
            </a:r>
            <a:r>
              <a:rPr lang="en-GB" sz="1600" i="1" dirty="0"/>
              <a:t>IEEE Transactions on Industry Applications</a:t>
            </a:r>
            <a:r>
              <a:rPr lang="en-GB" sz="1600" dirty="0"/>
              <a:t>, vol. 61, no. 1, pp. 1501–1510, </a:t>
            </a:r>
          </a:p>
          <a:p>
            <a:r>
              <a:rPr lang="en-GB" sz="1600" dirty="0"/>
              <a:t>Jan. 2025, </a:t>
            </a:r>
            <a:r>
              <a:rPr lang="en-GB" sz="1600" dirty="0" err="1"/>
              <a:t>doi</a:t>
            </a:r>
            <a:r>
              <a:rPr lang="en-GB" sz="1600" dirty="0"/>
              <a:t>: </a:t>
            </a:r>
            <a:r>
              <a:rPr lang="en-GB" sz="1600" dirty="0">
                <a:hlinkClick r:id="rId2"/>
              </a:rPr>
              <a:t>10.1109/TIA.2024.3430264</a:t>
            </a:r>
            <a:r>
              <a:rPr lang="en-GB" sz="1600" dirty="0"/>
              <a:t>.</a:t>
            </a:r>
            <a:endParaRPr lang="en-GB" sz="1600" dirty="0">
              <a:effectLst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67EF93-B7A2-476A-BCF3-A3A5AE56FFBC}"/>
              </a:ext>
            </a:extLst>
          </p:cNvPr>
          <p:cNvSpPr/>
          <p:nvPr/>
        </p:nvSpPr>
        <p:spPr>
          <a:xfrm>
            <a:off x="355185" y="1534269"/>
            <a:ext cx="1027611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Problem</a:t>
            </a:r>
          </a:p>
          <a:p>
            <a:r>
              <a:rPr lang="en-GB" dirty="0"/>
              <a:t>Uncertainty &amp; intermittency of wind/solar in microgrids</a:t>
            </a:r>
          </a:p>
          <a:p>
            <a:r>
              <a:rPr lang="en-GB" dirty="0"/>
              <a:t>Traditional methods lack real-time adaptability</a:t>
            </a:r>
          </a:p>
          <a:p>
            <a:r>
              <a:rPr lang="en-GB" b="1" dirty="0"/>
              <a:t>Method</a:t>
            </a:r>
          </a:p>
          <a:p>
            <a:r>
              <a:rPr lang="en-GB" dirty="0"/>
              <a:t>Online RL (SARSA) for joint scheduling of wind, solar &amp; storage</a:t>
            </a:r>
          </a:p>
          <a:p>
            <a:r>
              <a:rPr lang="en-GB" dirty="0"/>
              <a:t>Test case: residential microgrid with EV loads</a:t>
            </a:r>
          </a:p>
          <a:p>
            <a:r>
              <a:rPr lang="en-GB" b="1" dirty="0"/>
              <a:t>Findings</a:t>
            </a:r>
          </a:p>
          <a:p>
            <a:r>
              <a:rPr lang="en-GB" dirty="0"/>
              <a:t>Lower storage costs</a:t>
            </a:r>
          </a:p>
          <a:p>
            <a:r>
              <a:rPr lang="en-GB" dirty="0"/>
              <a:t>Faster convergence than DQN</a:t>
            </a:r>
          </a:p>
          <a:p>
            <a:r>
              <a:rPr lang="en-GB" b="1" dirty="0"/>
              <a:t>Limitations</a:t>
            </a:r>
          </a:p>
          <a:p>
            <a:r>
              <a:rPr lang="en-GB" dirty="0"/>
              <a:t>Case-specific (residential EV microgrid)</a:t>
            </a:r>
          </a:p>
          <a:p>
            <a:r>
              <a:rPr lang="en-GB" b="1" dirty="0"/>
              <a:t>Relevance</a:t>
            </a:r>
          </a:p>
          <a:p>
            <a:r>
              <a:rPr lang="en-GB" dirty="0"/>
              <a:t>SARSA useful for fast, efficient RL in my work</a:t>
            </a:r>
          </a:p>
        </p:txBody>
      </p:sp>
    </p:spTree>
    <p:extLst>
      <p:ext uri="{BB962C8B-B14F-4D97-AF65-F5344CB8AC3E}">
        <p14:creationId xmlns:p14="http://schemas.microsoft.com/office/powerpoint/2010/main" val="2253419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">
            <a:extLst>
              <a:ext uri="{FF2B5EF4-FFF2-40B4-BE49-F238E27FC236}">
                <a16:creationId xmlns:a16="http://schemas.microsoft.com/office/drawing/2014/main" id="{194EF969-8394-4BC7-87FE-C4EFF61D29AF}"/>
              </a:ext>
            </a:extLst>
          </p:cNvPr>
          <p:cNvSpPr/>
          <p:nvPr/>
        </p:nvSpPr>
        <p:spPr>
          <a:xfrm>
            <a:off x="271580" y="1534269"/>
            <a:ext cx="10443324" cy="3096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2F6E3227-0567-4275-AC06-C5606FAE2788}"/>
              </a:ext>
            </a:extLst>
          </p:cNvPr>
          <p:cNvSpPr/>
          <p:nvPr/>
        </p:nvSpPr>
        <p:spPr>
          <a:xfrm>
            <a:off x="271580" y="325338"/>
            <a:ext cx="7035405" cy="2417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00" dirty="0"/>
              <a:t>[1] H. Ganesh and B. Xu, ‘A review of reinforcement learning based energy management systems for electrified powertrains: </a:t>
            </a:r>
          </a:p>
          <a:p>
            <a:r>
              <a:rPr lang="en-US" sz="1600" dirty="0"/>
              <a:t>Progress, challenge, and potential solution’, </a:t>
            </a:r>
            <a:r>
              <a:rPr lang="en-US" sz="1600" i="1" dirty="0"/>
              <a:t>Renewable and Sustainable Energy Reviews</a:t>
            </a:r>
            <a:r>
              <a:rPr lang="en-US" sz="1600" dirty="0"/>
              <a:t>, vol. 154, p. 111833, Feb. 2022, </a:t>
            </a:r>
          </a:p>
          <a:p>
            <a:r>
              <a:rPr lang="en-US" sz="1600" dirty="0" err="1"/>
              <a:t>doi</a:t>
            </a:r>
            <a:r>
              <a:rPr lang="en-US" sz="1600" dirty="0"/>
              <a:t>: </a:t>
            </a:r>
            <a:r>
              <a:rPr lang="en-US" sz="1600" dirty="0">
                <a:hlinkClick r:id="rId2"/>
              </a:rPr>
              <a:t>10.1016/j.rser.2021.111833</a:t>
            </a:r>
            <a:r>
              <a:rPr lang="en-US" sz="1600" dirty="0"/>
              <a:t>.</a:t>
            </a:r>
            <a:endParaRPr lang="en-US" sz="1600" dirty="0">
              <a:effectLst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2D8CCA-390C-4AED-BED9-C54844C083B5}"/>
              </a:ext>
            </a:extLst>
          </p:cNvPr>
          <p:cNvSpPr/>
          <p:nvPr/>
        </p:nvSpPr>
        <p:spPr>
          <a:xfrm>
            <a:off x="438790" y="1651289"/>
            <a:ext cx="1027611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review paper (Ganesh &amp; Xu, 2022) first introduces reinforcement learning theory before moving to applications.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It covers core concepts such as Markov decision processes, Bellman equations, value functions, and policies.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It classifies key algorithm families (tabular Q-learning, DQN, DDPG, actor–critic, safe RL, etc.) and their trade-offs.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structure of the paper shows that theoretical grounding is essential before designing or applying RL methods.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Therefore, as a preliminary step in my thesis, I need to study the theory of reinforcement learning to understand algorithm selection, assumptions, and limitations.</a:t>
            </a:r>
          </a:p>
        </p:txBody>
      </p:sp>
    </p:spTree>
    <p:extLst>
      <p:ext uri="{BB962C8B-B14F-4D97-AF65-F5344CB8AC3E}">
        <p14:creationId xmlns:p14="http://schemas.microsoft.com/office/powerpoint/2010/main" val="3871675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</Words>
  <Application>Microsoft Office PowerPoint</Application>
  <PresentationFormat>Widescreen</PresentationFormat>
  <Paragraphs>45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Ashish Thapa</dc:creator>
  <cp:lastModifiedBy>Thapa, Ashish</cp:lastModifiedBy>
  <cp:revision>26</cp:revision>
  <dcterms:created xsi:type="dcterms:W3CDTF">2025-08-02T11:34:13Z</dcterms:created>
  <dcterms:modified xsi:type="dcterms:W3CDTF">2025-09-03T13:13:50Z</dcterms:modified>
</cp:coreProperties>
</file>