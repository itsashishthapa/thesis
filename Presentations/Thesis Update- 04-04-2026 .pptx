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0"/>
  </p:notesMasterIdLst>
  <p:handoutMasterIdLst>
    <p:handoutMasterId r:id="rId11"/>
  </p:handoutMasterIdLst>
  <p:sldIdLst>
    <p:sldId id="281" r:id="rId2"/>
    <p:sldId id="280" r:id="rId3"/>
    <p:sldId id="271" r:id="rId4"/>
    <p:sldId id="276" r:id="rId5"/>
    <p:sldId id="277" r:id="rId6"/>
    <p:sldId id="279" r:id="rId7"/>
    <p:sldId id="278" r:id="rId8"/>
    <p:sldId id="275" r:id="rId9"/>
  </p:sldIdLst>
  <p:sldSz cx="14630400" cy="8229600"/>
  <p:notesSz cx="8229600" cy="146304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DDF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1356" autoAdjust="0"/>
  </p:normalViewPr>
  <p:slideViewPr>
    <p:cSldViewPr snapToGrid="0" snapToObjects="1">
      <p:cViewPr varScale="1">
        <p:scale>
          <a:sx n="75" d="100"/>
          <a:sy n="75" d="100"/>
        </p:scale>
        <p:origin x="133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027C7B9-39F1-17D2-204E-5B17F80E66A5}"/>
              </a:ext>
            </a:extLst>
          </p:cNvPr>
          <p:cNvSpPr>
            <a:spLocks noGrp="1"/>
          </p:cNvSpPr>
          <p:nvPr>
            <p:ph type="hdr" sz="quarter"/>
          </p:nvPr>
        </p:nvSpPr>
        <p:spPr>
          <a:xfrm>
            <a:off x="0" y="0"/>
            <a:ext cx="3565525" cy="733425"/>
          </a:xfrm>
          <a:prstGeom prst="rect">
            <a:avLst/>
          </a:prstGeom>
        </p:spPr>
        <p:txBody>
          <a:bodyPr vert="horz" lIns="91440" tIns="45720" rIns="91440" bIns="45720" rtlCol="0"/>
          <a:lstStyle>
            <a:lvl1pPr algn="l">
              <a:defRPr sz="1200"/>
            </a:lvl1pPr>
          </a:lstStyle>
          <a:p>
            <a:endParaRPr lang="de-DE"/>
          </a:p>
        </p:txBody>
      </p:sp>
      <p:sp>
        <p:nvSpPr>
          <p:cNvPr id="3" name="Date Placeholder 2">
            <a:extLst>
              <a:ext uri="{FF2B5EF4-FFF2-40B4-BE49-F238E27FC236}">
                <a16:creationId xmlns:a16="http://schemas.microsoft.com/office/drawing/2014/main" id="{55A1C23F-4000-6F28-7568-EE485BC15487}"/>
              </a:ext>
            </a:extLst>
          </p:cNvPr>
          <p:cNvSpPr>
            <a:spLocks noGrp="1"/>
          </p:cNvSpPr>
          <p:nvPr>
            <p:ph type="dt" sz="quarter" idx="1"/>
          </p:nvPr>
        </p:nvSpPr>
        <p:spPr>
          <a:xfrm>
            <a:off x="4660900" y="0"/>
            <a:ext cx="3567113" cy="733425"/>
          </a:xfrm>
          <a:prstGeom prst="rect">
            <a:avLst/>
          </a:prstGeom>
        </p:spPr>
        <p:txBody>
          <a:bodyPr vert="horz" lIns="91440" tIns="45720" rIns="91440" bIns="45720" rtlCol="0"/>
          <a:lstStyle>
            <a:lvl1pPr algn="r">
              <a:defRPr sz="1200"/>
            </a:lvl1pPr>
          </a:lstStyle>
          <a:p>
            <a:fld id="{B11A94B5-C042-41C2-9501-1FF964BA33BC}" type="datetimeFigureOut">
              <a:rPr lang="de-DE" smtClean="0"/>
              <a:t>08.04.2026</a:t>
            </a:fld>
            <a:endParaRPr lang="de-DE"/>
          </a:p>
        </p:txBody>
      </p:sp>
      <p:sp>
        <p:nvSpPr>
          <p:cNvPr id="4" name="Footer Placeholder 3">
            <a:extLst>
              <a:ext uri="{FF2B5EF4-FFF2-40B4-BE49-F238E27FC236}">
                <a16:creationId xmlns:a16="http://schemas.microsoft.com/office/drawing/2014/main" id="{DCDEF70C-DF9A-4FB4-0618-E1BB49253AA3}"/>
              </a:ext>
            </a:extLst>
          </p:cNvPr>
          <p:cNvSpPr>
            <a:spLocks noGrp="1"/>
          </p:cNvSpPr>
          <p:nvPr>
            <p:ph type="ftr" sz="quarter" idx="2"/>
          </p:nvPr>
        </p:nvSpPr>
        <p:spPr>
          <a:xfrm>
            <a:off x="0" y="13896975"/>
            <a:ext cx="3565525" cy="733425"/>
          </a:xfrm>
          <a:prstGeom prst="rect">
            <a:avLst/>
          </a:prstGeom>
        </p:spPr>
        <p:txBody>
          <a:bodyPr vert="horz" lIns="91440" tIns="45720" rIns="91440" bIns="45720" rtlCol="0" anchor="b"/>
          <a:lstStyle>
            <a:lvl1pPr algn="l">
              <a:defRPr sz="1200"/>
            </a:lvl1pPr>
          </a:lstStyle>
          <a:p>
            <a:endParaRPr lang="de-DE"/>
          </a:p>
        </p:txBody>
      </p:sp>
      <p:sp>
        <p:nvSpPr>
          <p:cNvPr id="5" name="Slide Number Placeholder 4">
            <a:extLst>
              <a:ext uri="{FF2B5EF4-FFF2-40B4-BE49-F238E27FC236}">
                <a16:creationId xmlns:a16="http://schemas.microsoft.com/office/drawing/2014/main" id="{077E7C29-8E76-A977-2D5D-88A37DF38071}"/>
              </a:ext>
            </a:extLst>
          </p:cNvPr>
          <p:cNvSpPr>
            <a:spLocks noGrp="1"/>
          </p:cNvSpPr>
          <p:nvPr>
            <p:ph type="sldNum" sz="quarter" idx="3"/>
          </p:nvPr>
        </p:nvSpPr>
        <p:spPr>
          <a:xfrm>
            <a:off x="4660900" y="13896975"/>
            <a:ext cx="3567113" cy="733425"/>
          </a:xfrm>
          <a:prstGeom prst="rect">
            <a:avLst/>
          </a:prstGeom>
        </p:spPr>
        <p:txBody>
          <a:bodyPr vert="horz" lIns="91440" tIns="45720" rIns="91440" bIns="45720" rtlCol="0" anchor="b"/>
          <a:lstStyle>
            <a:lvl1pPr algn="r">
              <a:defRPr sz="1200"/>
            </a:lvl1pPr>
          </a:lstStyle>
          <a:p>
            <a:fld id="{725CC1DE-DE9A-4B9D-9D53-679767C4B504}" type="slidenum">
              <a:rPr lang="de-DE" smtClean="0"/>
              <a:t>‹#›</a:t>
            </a:fld>
            <a:endParaRPr lang="de-DE"/>
          </a:p>
        </p:txBody>
      </p:sp>
    </p:spTree>
    <p:extLst>
      <p:ext uri="{BB962C8B-B14F-4D97-AF65-F5344CB8AC3E}">
        <p14:creationId xmlns:p14="http://schemas.microsoft.com/office/powerpoint/2010/main" val="401423927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5003650"/>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de-DE" dirty="0" err="1"/>
              <a:t>Obj</a:t>
            </a:r>
            <a:r>
              <a:rPr lang="de-DE" dirty="0"/>
              <a:t>- \min \; J(P_{\</a:t>
            </a:r>
            <a:r>
              <a:rPr lang="de-DE" dirty="0" err="1"/>
              <a:t>mathrm</a:t>
            </a:r>
            <a:r>
              <a:rPr lang="de-DE" dirty="0"/>
              <a:t>{</a:t>
            </a:r>
            <a:r>
              <a:rPr lang="de-DE" dirty="0" err="1"/>
              <a:t>grid</a:t>
            </a:r>
            <a:r>
              <a:rPr lang="de-DE" dirty="0"/>
              <a:t>}})=\</a:t>
            </a:r>
            <a:r>
              <a:rPr lang="de-DE" dirty="0" err="1"/>
              <a:t>sum</a:t>
            </a:r>
            <a:r>
              <a:rPr lang="de-DE" dirty="0"/>
              <a:t>_{k=1}^{n} P_{\</a:t>
            </a:r>
            <a:r>
              <a:rPr lang="de-DE" dirty="0" err="1"/>
              <a:t>mathrm</a:t>
            </a:r>
            <a:r>
              <a:rPr lang="de-DE" dirty="0"/>
              <a:t>{</a:t>
            </a:r>
            <a:r>
              <a:rPr lang="de-DE" dirty="0" err="1"/>
              <a:t>grid</a:t>
            </a:r>
            <a:r>
              <a:rPr lang="de-DE" dirty="0"/>
              <a:t>}}^{k}\, g_{\</a:t>
            </a:r>
            <a:r>
              <a:rPr lang="de-DE" dirty="0" err="1"/>
              <a:t>mathrm</a:t>
            </a:r>
            <a:r>
              <a:rPr lang="de-DE" dirty="0"/>
              <a:t>{</a:t>
            </a:r>
            <a:r>
              <a:rPr lang="de-DE" dirty="0" err="1"/>
              <a:t>grid</a:t>
            </a:r>
            <a:r>
              <a:rPr lang="de-DE" dirty="0"/>
              <a:t>}}^{k}\,\Delta t</a:t>
            </a:r>
          </a:p>
          <a:p>
            <a:endParaRPr lang="de-DE" dirty="0"/>
          </a:p>
          <a:p>
            <a:r>
              <a:rPr lang="de-DE" dirty="0" err="1"/>
              <a:t>codecogs</a:t>
            </a:r>
            <a:endParaRPr lang="de-DE" dirty="0"/>
          </a:p>
          <a:p>
            <a:endParaRPr lang="de-DE" dirty="0"/>
          </a:p>
          <a:p>
            <a:endParaRPr lang="de-DE" dirty="0"/>
          </a:p>
        </p:txBody>
      </p:sp>
    </p:spTree>
    <p:extLst>
      <p:ext uri="{BB962C8B-B14F-4D97-AF65-F5344CB8AC3E}">
        <p14:creationId xmlns:p14="http://schemas.microsoft.com/office/powerpoint/2010/main" val="20698239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pPr marL="228600" indent="-228600">
              <a:buAutoNum type="arabicPeriod"/>
            </a:pPr>
            <a:r>
              <a:rPr lang="de-DE" dirty="0"/>
              <a:t>P_{\</a:t>
            </a:r>
            <a:r>
              <a:rPr lang="de-DE" dirty="0" err="1"/>
              <a:t>mathrm</a:t>
            </a:r>
            <a:r>
              <a:rPr lang="de-DE" dirty="0"/>
              <a:t>{</a:t>
            </a:r>
            <a:r>
              <a:rPr lang="de-DE" dirty="0" err="1"/>
              <a:t>grid</a:t>
            </a:r>
            <a:r>
              <a:rPr lang="de-DE" dirty="0"/>
              <a:t>}}^{k}+P_{\</a:t>
            </a:r>
            <a:r>
              <a:rPr lang="de-DE" dirty="0" err="1"/>
              <a:t>mathrm</a:t>
            </a:r>
            <a:r>
              <a:rPr lang="de-DE" dirty="0"/>
              <a:t>{WT}}^{k}=3F_{\</a:t>
            </a:r>
            <a:r>
              <a:rPr lang="de-DE" dirty="0" err="1"/>
              <a:t>mathrm</a:t>
            </a:r>
            <a:r>
              <a:rPr lang="de-DE" dirty="0"/>
              <a:t>{HTHP}}\!\</a:t>
            </a:r>
            <a:r>
              <a:rPr lang="de-DE" dirty="0" err="1"/>
              <a:t>left</a:t>
            </a:r>
            <a:r>
              <a:rPr lang="de-DE" dirty="0"/>
              <a:t>(T_I^{k},\</a:t>
            </a:r>
            <a:r>
              <a:rPr lang="de-DE" dirty="0" err="1"/>
              <a:t>dot</a:t>
            </a:r>
            <a:r>
              <a:rPr lang="de-DE" dirty="0"/>
              <a:t>{m}_I^{k},T_{III}^{k},R^{k}\</a:t>
            </a:r>
            <a:r>
              <a:rPr lang="de-DE" dirty="0" err="1"/>
              <a:t>right</a:t>
            </a:r>
            <a:r>
              <a:rPr lang="de-DE" dirty="0"/>
              <a:t>)</a:t>
            </a:r>
          </a:p>
          <a:p>
            <a:pPr marL="228600" indent="-228600">
              <a:buAutoNum type="arabicPeriod"/>
            </a:pPr>
            <a:r>
              <a:rPr lang="de-DE" dirty="0"/>
              <a:t>T_{II}^{k}=F_{\</a:t>
            </a:r>
            <a:r>
              <a:rPr lang="de-DE" dirty="0" err="1"/>
              <a:t>mathrm</a:t>
            </a:r>
            <a:r>
              <a:rPr lang="de-DE" dirty="0"/>
              <a:t>{HTHX}}\!\</a:t>
            </a:r>
            <a:r>
              <a:rPr lang="de-DE" dirty="0" err="1"/>
              <a:t>left</a:t>
            </a:r>
            <a:r>
              <a:rPr lang="de-DE" dirty="0"/>
              <a:t>(T_I^{k},\</a:t>
            </a:r>
            <a:r>
              <a:rPr lang="de-DE" dirty="0" err="1"/>
              <a:t>dot</a:t>
            </a:r>
            <a:r>
              <a:rPr lang="de-DE" dirty="0"/>
              <a:t>{m}_I^{k},T_{III}^{k},R^{k}\</a:t>
            </a:r>
            <a:r>
              <a:rPr lang="de-DE" dirty="0" err="1"/>
              <a:t>right</a:t>
            </a:r>
            <a:r>
              <a:rPr lang="de-DE" dirty="0"/>
              <a:t>)</a:t>
            </a:r>
          </a:p>
          <a:p>
            <a:pPr marL="228600" indent="-228600">
              <a:buAutoNum type="arabicPeriod"/>
            </a:pPr>
            <a:r>
              <a:rPr lang="de-DE" dirty="0"/>
              <a:t>T_{IV}^{k}=F_{\</a:t>
            </a:r>
            <a:r>
              <a:rPr lang="de-DE" dirty="0" err="1"/>
              <a:t>mathrm</a:t>
            </a:r>
            <a:r>
              <a:rPr lang="de-DE" dirty="0"/>
              <a:t>{LTHX}}\!\</a:t>
            </a:r>
            <a:r>
              <a:rPr lang="de-DE" dirty="0" err="1"/>
              <a:t>left</a:t>
            </a:r>
            <a:r>
              <a:rPr lang="de-DE" dirty="0"/>
              <a:t>(T_I^{k},\</a:t>
            </a:r>
            <a:r>
              <a:rPr lang="de-DE" dirty="0" err="1"/>
              <a:t>dot</a:t>
            </a:r>
            <a:r>
              <a:rPr lang="de-DE" dirty="0"/>
              <a:t>{m}_I^{k},T_{III}^{k},R^{k}\</a:t>
            </a:r>
            <a:r>
              <a:rPr lang="de-DE" dirty="0" err="1"/>
              <a:t>right</a:t>
            </a:r>
            <a:r>
              <a:rPr lang="de-DE" dirty="0"/>
              <a:t>)</a:t>
            </a:r>
          </a:p>
        </p:txBody>
      </p:sp>
    </p:spTree>
    <p:extLst>
      <p:ext uri="{BB962C8B-B14F-4D97-AF65-F5344CB8AC3E}">
        <p14:creationId xmlns:p14="http://schemas.microsoft.com/office/powerpoint/2010/main" val="31645522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pPr marL="0" indent="0">
              <a:buNone/>
            </a:pPr>
            <a:r>
              <a:rPr lang="de-DE" dirty="0"/>
              <a:t>4. T_{2}^{k}=T_{II}^{k}\</a:t>
            </a:r>
            <a:r>
              <a:rPr lang="de-DE" dirty="0" err="1"/>
              <a:t>beta</a:t>
            </a:r>
            <a:r>
              <a:rPr lang="de-DE" dirty="0"/>
              <a:t>_{1}^{k}+T_{1}^{k}\</a:t>
            </a:r>
            <a:r>
              <a:rPr lang="de-DE" dirty="0" err="1"/>
              <a:t>left</a:t>
            </a:r>
            <a:r>
              <a:rPr lang="de-DE" dirty="0"/>
              <a:t>(1-\</a:t>
            </a:r>
            <a:r>
              <a:rPr lang="de-DE" dirty="0" err="1"/>
              <a:t>beta</a:t>
            </a:r>
            <a:r>
              <a:rPr lang="de-DE" dirty="0"/>
              <a:t>_{1}^{k}\</a:t>
            </a:r>
            <a:r>
              <a:rPr lang="de-DE" dirty="0" err="1"/>
              <a:t>right</a:t>
            </a:r>
            <a:r>
              <a:rPr lang="de-DE" dirty="0"/>
              <a:t>)</a:t>
            </a:r>
          </a:p>
          <a:p>
            <a:pPr marL="0" indent="0">
              <a:buNone/>
            </a:pPr>
            <a:r>
              <a:rPr lang="de-DE" dirty="0"/>
              <a:t>5. T_{I}^{k}=T_{3}^{k}\</a:t>
            </a:r>
            <a:r>
              <a:rPr lang="de-DE" dirty="0" err="1"/>
              <a:t>beta</a:t>
            </a:r>
            <a:r>
              <a:rPr lang="de-DE" dirty="0"/>
              <a:t>_{2}^{k}+T_{4}^{k}\</a:t>
            </a:r>
            <a:r>
              <a:rPr lang="de-DE" dirty="0" err="1"/>
              <a:t>left</a:t>
            </a:r>
            <a:r>
              <a:rPr lang="de-DE" dirty="0"/>
              <a:t>(1-\</a:t>
            </a:r>
            <a:r>
              <a:rPr lang="de-DE" dirty="0" err="1"/>
              <a:t>beta</a:t>
            </a:r>
            <a:r>
              <a:rPr lang="de-DE" dirty="0"/>
              <a:t>_{2}^{k}\</a:t>
            </a:r>
            <a:r>
              <a:rPr lang="de-DE" dirty="0" err="1"/>
              <a:t>right</a:t>
            </a:r>
            <a:r>
              <a:rPr lang="de-DE" dirty="0"/>
              <a:t>)</a:t>
            </a:r>
          </a:p>
          <a:p>
            <a:pPr marL="0" indent="0">
              <a:buNone/>
            </a:pPr>
            <a:r>
              <a:rPr lang="de-DE" dirty="0"/>
              <a:t>6. T_{2}^{k}=201.92+\</a:t>
            </a:r>
            <a:r>
              <a:rPr lang="de-DE" dirty="0" err="1"/>
              <a:t>frac</a:t>
            </a:r>
            <a:r>
              <a:rPr lang="de-DE" dirty="0"/>
              <a:t>{1819.32}{3\</a:t>
            </a:r>
            <a:r>
              <a:rPr lang="de-DE" dirty="0" err="1"/>
              <a:t>dot</a:t>
            </a:r>
            <a:r>
              <a:rPr lang="de-DE" dirty="0"/>
              <a:t>{m}_{II}^{k}}</a:t>
            </a:r>
          </a:p>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7. T_{3}^{k}=196.3-\</a:t>
            </a:r>
            <a:r>
              <a:rPr lang="de-DE" dirty="0" err="1"/>
              <a:t>frac</a:t>
            </a:r>
            <a:r>
              <a:rPr lang="de-DE" dirty="0"/>
              <a:t>{188.4}{3\</a:t>
            </a:r>
            <a:r>
              <a:rPr lang="de-DE" dirty="0" err="1"/>
              <a:t>dot</a:t>
            </a:r>
            <a:r>
              <a:rPr lang="de-DE" dirty="0"/>
              <a:t>{m}_{I}^{k}}</a:t>
            </a:r>
          </a:p>
          <a:p>
            <a:endParaRPr lang="de-DE" dirty="0"/>
          </a:p>
        </p:txBody>
      </p:sp>
    </p:spTree>
    <p:extLst>
      <p:ext uri="{BB962C8B-B14F-4D97-AF65-F5344CB8AC3E}">
        <p14:creationId xmlns:p14="http://schemas.microsoft.com/office/powerpoint/2010/main" val="14692377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de-DE" dirty="0"/>
              <a:t>8. \</a:t>
            </a:r>
            <a:r>
              <a:rPr lang="de-DE" dirty="0" err="1"/>
              <a:t>dot</a:t>
            </a:r>
            <a:r>
              <a:rPr lang="de-DE" dirty="0"/>
              <a:t>{Q}_{s,\</a:t>
            </a:r>
            <a:r>
              <a:rPr lang="de-DE" dirty="0" err="1"/>
              <a:t>mathrm</a:t>
            </a:r>
            <a:r>
              <a:rPr lang="de-DE" dirty="0"/>
              <a:t>{</a:t>
            </a:r>
            <a:r>
              <a:rPr lang="de-DE" dirty="0" err="1"/>
              <a:t>ch</a:t>
            </a:r>
            <a:r>
              <a:rPr lang="de-DE" dirty="0"/>
              <a:t>}}^{k} =3\</a:t>
            </a:r>
            <a:r>
              <a:rPr lang="de-DE" dirty="0" err="1"/>
              <a:t>dot</a:t>
            </a:r>
            <a:r>
              <a:rPr lang="de-DE" dirty="0"/>
              <a:t>{m}_{II}^{k}c_{</a:t>
            </a:r>
            <a:r>
              <a:rPr lang="de-DE" dirty="0" err="1"/>
              <a:t>p,f</a:t>
            </a:r>
            <a:r>
              <a:rPr lang="de-DE" dirty="0"/>
              <a:t>}\</a:t>
            </a:r>
            <a:r>
              <a:rPr lang="de-DE" dirty="0" err="1"/>
              <a:t>left</a:t>
            </a:r>
            <a:r>
              <a:rPr lang="de-DE" dirty="0"/>
              <a:t>(T_{II}^{k}-T_{1}^{k}\</a:t>
            </a:r>
            <a:r>
              <a:rPr lang="de-DE" dirty="0" err="1"/>
              <a:t>right</a:t>
            </a:r>
            <a:r>
              <a:rPr lang="de-DE" dirty="0"/>
              <a:t>)\</a:t>
            </a:r>
            <a:r>
              <a:rPr lang="de-DE" dirty="0" err="1"/>
              <a:t>left</a:t>
            </a:r>
            <a:r>
              <a:rPr lang="de-DE" dirty="0"/>
              <a:t>(1-\</a:t>
            </a:r>
            <a:r>
              <a:rPr lang="de-DE" dirty="0" err="1"/>
              <a:t>beta</a:t>
            </a:r>
            <a:r>
              <a:rPr lang="de-DE" dirty="0"/>
              <a:t>_{1}^{k}\</a:t>
            </a:r>
            <a:r>
              <a:rPr lang="de-DE" dirty="0" err="1"/>
              <a:t>right</a:t>
            </a:r>
            <a:r>
              <a:rPr lang="de-DE" dirty="0"/>
              <a:t>)</a:t>
            </a:r>
          </a:p>
          <a:p>
            <a:r>
              <a:rPr lang="de-DE" dirty="0"/>
              <a:t>9. \</a:t>
            </a:r>
            <a:r>
              <a:rPr lang="de-DE" dirty="0" err="1"/>
              <a:t>dot</a:t>
            </a:r>
            <a:r>
              <a:rPr lang="de-DE" dirty="0"/>
              <a:t>{Q}_{s,\</a:t>
            </a:r>
            <a:r>
              <a:rPr lang="de-DE" dirty="0" err="1"/>
              <a:t>mathrm</a:t>
            </a:r>
            <a:r>
              <a:rPr lang="de-DE" dirty="0"/>
              <a:t>{</a:t>
            </a:r>
            <a:r>
              <a:rPr lang="de-DE" dirty="0" err="1"/>
              <a:t>dch</a:t>
            </a:r>
            <a:r>
              <a:rPr lang="de-DE" dirty="0"/>
              <a:t>}}^{k} =3\</a:t>
            </a:r>
            <a:r>
              <a:rPr lang="de-DE" dirty="0" err="1"/>
              <a:t>dot</a:t>
            </a:r>
            <a:r>
              <a:rPr lang="de-DE" dirty="0"/>
              <a:t>{m}_{I}^{k}c_{</a:t>
            </a:r>
            <a:r>
              <a:rPr lang="de-DE" dirty="0" err="1"/>
              <a:t>p,f</a:t>
            </a:r>
            <a:r>
              <a:rPr lang="de-DE" dirty="0"/>
              <a:t>}\</a:t>
            </a:r>
            <a:r>
              <a:rPr lang="de-DE" dirty="0" err="1"/>
              <a:t>left</a:t>
            </a:r>
            <a:r>
              <a:rPr lang="de-DE" dirty="0"/>
              <a:t>(T_{4}^{k}-T_{3}^{k}\</a:t>
            </a:r>
            <a:r>
              <a:rPr lang="de-DE" dirty="0" err="1"/>
              <a:t>right</a:t>
            </a:r>
            <a:r>
              <a:rPr lang="de-DE" dirty="0"/>
              <a:t>)\</a:t>
            </a:r>
            <a:r>
              <a:rPr lang="de-DE" dirty="0" err="1"/>
              <a:t>left</a:t>
            </a:r>
            <a:r>
              <a:rPr lang="de-DE" dirty="0"/>
              <a:t>(1-\</a:t>
            </a:r>
            <a:r>
              <a:rPr lang="de-DE" dirty="0" err="1"/>
              <a:t>beta</a:t>
            </a:r>
            <a:r>
              <a:rPr lang="de-DE" dirty="0"/>
              <a:t>_{2}^{k}\</a:t>
            </a:r>
            <a:r>
              <a:rPr lang="de-DE" dirty="0" err="1"/>
              <a:t>right</a:t>
            </a:r>
            <a:r>
              <a:rPr lang="de-DE"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10. \</a:t>
            </a:r>
            <a:r>
              <a:rPr lang="de-DE" dirty="0" err="1"/>
              <a:t>dot</a:t>
            </a:r>
            <a:r>
              <a:rPr lang="de-DE" dirty="0"/>
              <a:t>{Q}_{s,\</a:t>
            </a:r>
            <a:r>
              <a:rPr lang="de-DE" dirty="0" err="1"/>
              <a:t>mathrm</a:t>
            </a:r>
            <a:r>
              <a:rPr lang="de-DE" dirty="0"/>
              <a:t>{</a:t>
            </a:r>
            <a:r>
              <a:rPr lang="de-DE" dirty="0" err="1"/>
              <a:t>ch</a:t>
            </a:r>
            <a:r>
              <a:rPr lang="de-DE" dirty="0"/>
              <a:t>}}^{k}\</a:t>
            </a:r>
            <a:r>
              <a:rPr lang="de-DE" dirty="0" err="1"/>
              <a:t>dot</a:t>
            </a:r>
            <a:r>
              <a:rPr lang="de-DE" dirty="0"/>
              <a:t>{Q}_{s,\</a:t>
            </a:r>
            <a:r>
              <a:rPr lang="de-DE" dirty="0" err="1"/>
              <a:t>mathrm</a:t>
            </a:r>
            <a:r>
              <a:rPr lang="de-DE" dirty="0"/>
              <a:t>{</a:t>
            </a:r>
            <a:r>
              <a:rPr lang="de-DE" dirty="0" err="1"/>
              <a:t>dch</a:t>
            </a:r>
            <a:r>
              <a:rPr lang="de-DE" dirty="0"/>
              <a:t>}}^{k}\le \</a:t>
            </a:r>
            <a:r>
              <a:rPr lang="de-DE" dirty="0" err="1"/>
              <a:t>gamma</a:t>
            </a:r>
            <a:endParaRPr lang="de-DE" dirty="0"/>
          </a:p>
          <a:p>
            <a:r>
              <a:rPr lang="de-DE" dirty="0"/>
              <a:t>11. T_{1}^{k}=T_{II}^{k}-\</a:t>
            </a:r>
            <a:r>
              <a:rPr lang="de-DE" dirty="0" err="1"/>
              <a:t>epsilon</a:t>
            </a:r>
            <a:r>
              <a:rPr lang="de-DE" dirty="0"/>
              <a:t>_{\</a:t>
            </a:r>
            <a:r>
              <a:rPr lang="de-DE" dirty="0" err="1"/>
              <a:t>mathrm</a:t>
            </a:r>
            <a:r>
              <a:rPr lang="de-DE" dirty="0"/>
              <a:t>{</a:t>
            </a:r>
            <a:r>
              <a:rPr lang="de-DE" dirty="0" err="1"/>
              <a:t>ch</a:t>
            </a:r>
            <a:r>
              <a:rPr lang="de-DE" dirty="0"/>
              <a:t>}}\</a:t>
            </a:r>
            <a:r>
              <a:rPr lang="de-DE" dirty="0" err="1"/>
              <a:t>left</a:t>
            </a:r>
            <a:r>
              <a:rPr lang="de-DE" dirty="0"/>
              <a:t>(T_{II}^{k}-T_{s}^{k-1}\</a:t>
            </a:r>
            <a:r>
              <a:rPr lang="de-DE" dirty="0" err="1"/>
              <a:t>right</a:t>
            </a:r>
            <a:r>
              <a:rPr lang="de-DE" dirty="0"/>
              <a:t>)</a:t>
            </a:r>
          </a:p>
          <a:p>
            <a:r>
              <a:rPr lang="de-DE" dirty="0"/>
              <a:t>12. T_{4}^{k}=T_{3}^{k}-\</a:t>
            </a:r>
            <a:r>
              <a:rPr lang="de-DE" dirty="0" err="1"/>
              <a:t>epsilon</a:t>
            </a:r>
            <a:r>
              <a:rPr lang="de-DE" dirty="0"/>
              <a:t>_{\</a:t>
            </a:r>
            <a:r>
              <a:rPr lang="de-DE" dirty="0" err="1"/>
              <a:t>mathrm</a:t>
            </a:r>
            <a:r>
              <a:rPr lang="de-DE" dirty="0"/>
              <a:t>{</a:t>
            </a:r>
            <a:r>
              <a:rPr lang="de-DE" dirty="0" err="1"/>
              <a:t>dch</a:t>
            </a:r>
            <a:r>
              <a:rPr lang="de-DE" dirty="0"/>
              <a:t>}}\</a:t>
            </a:r>
            <a:r>
              <a:rPr lang="de-DE" dirty="0" err="1"/>
              <a:t>left</a:t>
            </a:r>
            <a:r>
              <a:rPr lang="de-DE" dirty="0"/>
              <a:t>(T_{3}^{k}-T_{s}^{k-1}\</a:t>
            </a:r>
            <a:r>
              <a:rPr lang="de-DE" dirty="0" err="1"/>
              <a:t>right</a:t>
            </a:r>
            <a:r>
              <a:rPr lang="de-DE" dirty="0"/>
              <a:t>)</a:t>
            </a:r>
          </a:p>
          <a:p>
            <a:r>
              <a:rPr lang="de-DE" dirty="0"/>
              <a:t>13. T_{s}^{k}=T_{s}^{k-1}+\</a:t>
            </a:r>
            <a:r>
              <a:rPr lang="de-DE" dirty="0" err="1"/>
              <a:t>frac</a:t>
            </a:r>
            <a:r>
              <a:rPr lang="de-DE" dirty="0"/>
              <a:t>{\</a:t>
            </a:r>
            <a:r>
              <a:rPr lang="de-DE" dirty="0" err="1"/>
              <a:t>dot</a:t>
            </a:r>
            <a:r>
              <a:rPr lang="de-DE" dirty="0"/>
              <a:t>{Q}_{s,\</a:t>
            </a:r>
            <a:r>
              <a:rPr lang="de-DE" dirty="0" err="1"/>
              <a:t>mathrm</a:t>
            </a:r>
            <a:r>
              <a:rPr lang="de-DE" dirty="0"/>
              <a:t>{</a:t>
            </a:r>
            <a:r>
              <a:rPr lang="de-DE" dirty="0" err="1"/>
              <a:t>ch</a:t>
            </a:r>
            <a:r>
              <a:rPr lang="de-DE" dirty="0"/>
              <a:t>}}^{k}-\</a:t>
            </a:r>
            <a:r>
              <a:rPr lang="de-DE" dirty="0" err="1"/>
              <a:t>dot</a:t>
            </a:r>
            <a:r>
              <a:rPr lang="de-DE" dirty="0"/>
              <a:t>{Q}_{s,\</a:t>
            </a:r>
            <a:r>
              <a:rPr lang="de-DE" dirty="0" err="1"/>
              <a:t>mathrm</a:t>
            </a:r>
            <a:r>
              <a:rPr lang="de-DE" dirty="0"/>
              <a:t>{</a:t>
            </a:r>
            <a:r>
              <a:rPr lang="de-DE" dirty="0" err="1"/>
              <a:t>dch</a:t>
            </a:r>
            <a:r>
              <a:rPr lang="de-DE" dirty="0"/>
              <a:t>}}^{k}}{</a:t>
            </a:r>
            <a:r>
              <a:rPr lang="de-DE" dirty="0" err="1"/>
              <a:t>m_sc</a:t>
            </a:r>
            <a:r>
              <a:rPr lang="de-DE" dirty="0"/>
              <a:t>_{</a:t>
            </a:r>
            <a:r>
              <a:rPr lang="de-DE" dirty="0" err="1"/>
              <a:t>p,s</a:t>
            </a:r>
            <a:r>
              <a:rPr lang="de-DE" dirty="0"/>
              <a:t>}}\Delta t</a:t>
            </a:r>
          </a:p>
          <a:p>
            <a:pPr marL="0" marR="0" lvl="0" indent="0" algn="l" defTabSz="914400" rtl="0" eaLnBrk="1" fontAlgn="auto" latinLnBrk="0" hangingPunct="1">
              <a:lnSpc>
                <a:spcPct val="100000"/>
              </a:lnSpc>
              <a:spcBef>
                <a:spcPts val="0"/>
              </a:spcBef>
              <a:spcAft>
                <a:spcPts val="0"/>
              </a:spcAft>
              <a:buClrTx/>
              <a:buSzTx/>
              <a:buFontTx/>
              <a:buNone/>
              <a:tabLst/>
              <a:defRPr/>
            </a:pPr>
            <a:endParaRPr lang="de-DE" dirty="0"/>
          </a:p>
          <a:p>
            <a:endParaRPr lang="de-DE" dirty="0"/>
          </a:p>
          <a:p>
            <a:endParaRPr lang="de-DE" dirty="0"/>
          </a:p>
        </p:txBody>
      </p:sp>
    </p:spTree>
    <p:extLst>
      <p:ext uri="{BB962C8B-B14F-4D97-AF65-F5344CB8AC3E}">
        <p14:creationId xmlns:p14="http://schemas.microsoft.com/office/powerpoint/2010/main" val="38359834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de-DE" dirty="0"/>
              <a:t>14. T_{s}^{0}=\</a:t>
            </a:r>
            <a:r>
              <a:rPr lang="de-DE" dirty="0" err="1"/>
              <a:t>tilde</a:t>
            </a:r>
            <a:r>
              <a:rPr lang="de-DE" dirty="0"/>
              <a:t>{T}^{0}, \</a:t>
            </a:r>
            <a:r>
              <a:rPr lang="de-DE" dirty="0" err="1"/>
              <a:t>qquad</a:t>
            </a:r>
            <a:r>
              <a:rPr lang="de-DE" dirty="0"/>
              <a:t> T_{s}^{n}=T_{s}^{0}</a:t>
            </a:r>
          </a:p>
          <a:p>
            <a:r>
              <a:rPr lang="de-DE" dirty="0"/>
              <a:t>15. T_{I}^{k}\in[177,250], \</a:t>
            </a:r>
            <a:r>
              <a:rPr lang="de-DE" dirty="0" err="1"/>
              <a:t>qquad</a:t>
            </a:r>
            <a:r>
              <a:rPr lang="de-DE" dirty="0"/>
              <a:t> \</a:t>
            </a:r>
            <a:r>
              <a:rPr lang="de-DE" dirty="0" err="1"/>
              <a:t>dot</a:t>
            </a:r>
            <a:r>
              <a:rPr lang="de-DE" dirty="0"/>
              <a:t>{m}_{I}^{k}\in[5,16]</a:t>
            </a:r>
          </a:p>
          <a:p>
            <a:r>
              <a:rPr lang="de-DE" dirty="0"/>
              <a:t>16. T_{III}^{k}\in[60,100], \</a:t>
            </a:r>
            <a:r>
              <a:rPr lang="de-DE" dirty="0" err="1"/>
              <a:t>qquad</a:t>
            </a:r>
            <a:r>
              <a:rPr lang="de-DE" dirty="0"/>
              <a:t> R^{k}\in[0.8,1.53]</a:t>
            </a:r>
          </a:p>
          <a:p>
            <a:r>
              <a:rPr lang="de-DE" dirty="0"/>
              <a:t>17. </a:t>
            </a:r>
            <a:r>
              <a:rPr lang="de-DE" dirty="0" err="1"/>
              <a:t>t_k</a:t>
            </a:r>
            <a:r>
              <a:rPr lang="de-DE" dirty="0"/>
              <a:t>=\Delta t\,k, \</a:t>
            </a:r>
            <a:r>
              <a:rPr lang="de-DE" dirty="0" err="1"/>
              <a:t>qquad</a:t>
            </a:r>
            <a:r>
              <a:rPr lang="de-DE" dirty="0"/>
              <a:t> k=1,\</a:t>
            </a:r>
            <a:r>
              <a:rPr lang="de-DE" dirty="0" err="1"/>
              <a:t>dots,n</a:t>
            </a:r>
            <a:endParaRPr lang="de-DE" dirty="0"/>
          </a:p>
          <a:p>
            <a:endParaRPr lang="de-DE" dirty="0"/>
          </a:p>
        </p:txBody>
      </p:sp>
    </p:spTree>
    <p:extLst>
      <p:ext uri="{BB962C8B-B14F-4D97-AF65-F5344CB8AC3E}">
        <p14:creationId xmlns:p14="http://schemas.microsoft.com/office/powerpoint/2010/main" val="22301545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EFAULT">
    <p:bg>
      <p:bgRef idx="1001">
        <a:schemeClr val="bg1"/>
      </p:bgRef>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3A46BDB-F9D7-52F0-DD97-DA8CF88C627D}"/>
              </a:ext>
            </a:extLst>
          </p:cNvPr>
          <p:cNvSpPr>
            <a:spLocks noGrp="1"/>
          </p:cNvSpPr>
          <p:nvPr>
            <p:ph type="sldNum" sz="quarter" idx="10"/>
          </p:nvPr>
        </p:nvSpPr>
        <p:spPr/>
        <p:txBody>
          <a:bodyPr/>
          <a:lstStyle/>
          <a:p>
            <a:fld id="{A02D9A9C-251E-4686-914B-47E3F39F30D8}" type="slidenum">
              <a:rPr lang="de-DE" smtClean="0"/>
              <a:t>‹#›</a:t>
            </a:fld>
            <a:endParaRPr lang="de-DE"/>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2C9A9E8-A33E-7E36-2D14-012806BAE176}"/>
              </a:ext>
            </a:extLst>
          </p:cNvPr>
          <p:cNvSpPr>
            <a:spLocks noGrp="1"/>
          </p:cNvSpPr>
          <p:nvPr>
            <p:ph type="sldNum" sz="quarter" idx="4"/>
          </p:nvPr>
        </p:nvSpPr>
        <p:spPr>
          <a:xfrm>
            <a:off x="11047413" y="7633495"/>
            <a:ext cx="3290887" cy="438150"/>
          </a:xfrm>
          <a:prstGeom prst="rect">
            <a:avLst/>
          </a:prstGeom>
        </p:spPr>
        <p:txBody>
          <a:bodyPr vert="horz" lIns="91440" tIns="45720" rIns="91440" bIns="45720" rtlCol="0" anchor="ctr"/>
          <a:lstStyle>
            <a:lvl1pPr algn="r">
              <a:defRPr sz="1200">
                <a:solidFill>
                  <a:schemeClr val="tx1">
                    <a:tint val="82000"/>
                  </a:schemeClr>
                </a:solidFill>
              </a:defRPr>
            </a:lvl1pPr>
          </a:lstStyle>
          <a:p>
            <a:fld id="{A02D9A9C-251E-4686-914B-47E3F39F30D8}" type="slidenum">
              <a:rPr lang="de-DE" smtClean="0"/>
              <a:t>‹#›</a:t>
            </a:fld>
            <a:endParaRPr lang="de-DE"/>
          </a:p>
        </p:txBody>
      </p:sp>
    </p:spTree>
  </p:cSld>
  <p:clrMap bg1="lt1" tx1="dk1" bg2="lt2" tx2="dk2" accent1="accent1" accent2="accent2" accent3="accent3" accent4="accent4" accent5="accent5" accent6="accent6" hlink="hlink" folHlink="folHlink"/>
  <p:sldLayoutIdLst>
    <p:sldLayoutId id="2147483649"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slides/_rels/slide5.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4.svg"/><Relationship Id="rId5" Type="http://schemas.openxmlformats.org/officeDocument/2006/relationships/image" Target="../media/image13.png"/><Relationship Id="rId10" Type="http://schemas.openxmlformats.org/officeDocument/2006/relationships/image" Target="../media/image18.svg"/><Relationship Id="rId4" Type="http://schemas.openxmlformats.org/officeDocument/2006/relationships/image" Target="../media/image12.svg"/><Relationship Id="rId9" Type="http://schemas.openxmlformats.org/officeDocument/2006/relationships/image" Target="../media/image17.png"/></Relationships>
</file>

<file path=ppt/slides/_rels/slide6.xml.rels><?xml version="1.0" encoding="UTF-8" standalone="yes"?>
<Relationships xmlns="http://schemas.openxmlformats.org/package/2006/relationships"><Relationship Id="rId8" Type="http://schemas.openxmlformats.org/officeDocument/2006/relationships/image" Target="../media/image24.svg"/><Relationship Id="rId13" Type="http://schemas.openxmlformats.org/officeDocument/2006/relationships/image" Target="../media/image29.png"/><Relationship Id="rId3" Type="http://schemas.openxmlformats.org/officeDocument/2006/relationships/image" Target="../media/image19.png"/><Relationship Id="rId7" Type="http://schemas.openxmlformats.org/officeDocument/2006/relationships/image" Target="../media/image23.png"/><Relationship Id="rId12" Type="http://schemas.openxmlformats.org/officeDocument/2006/relationships/image" Target="../media/image28.sv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22.svg"/><Relationship Id="rId11" Type="http://schemas.openxmlformats.org/officeDocument/2006/relationships/image" Target="../media/image27.png"/><Relationship Id="rId5" Type="http://schemas.openxmlformats.org/officeDocument/2006/relationships/image" Target="../media/image21.png"/><Relationship Id="rId10" Type="http://schemas.openxmlformats.org/officeDocument/2006/relationships/image" Target="../media/image26.svg"/><Relationship Id="rId4" Type="http://schemas.openxmlformats.org/officeDocument/2006/relationships/image" Target="../media/image20.svg"/><Relationship Id="rId9" Type="http://schemas.openxmlformats.org/officeDocument/2006/relationships/image" Target="../media/image25.png"/><Relationship Id="rId14" Type="http://schemas.openxmlformats.org/officeDocument/2006/relationships/image" Target="../media/image30.svg"/></Relationships>
</file>

<file path=ppt/slides/_rels/slide7.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34.svg"/><Relationship Id="rId5" Type="http://schemas.openxmlformats.org/officeDocument/2006/relationships/image" Target="../media/image33.png"/><Relationship Id="rId10" Type="http://schemas.openxmlformats.org/officeDocument/2006/relationships/image" Target="../media/image38.svg"/><Relationship Id="rId4" Type="http://schemas.openxmlformats.org/officeDocument/2006/relationships/image" Target="../media/image32.svg"/><Relationship Id="rId9" Type="http://schemas.openxmlformats.org/officeDocument/2006/relationships/image" Target="../media/image3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4B959B7-EFE5-32A3-50D9-D1DB5967DAFC}"/>
              </a:ext>
            </a:extLst>
          </p:cNvPr>
          <p:cNvSpPr>
            <a:spLocks noGrp="1"/>
          </p:cNvSpPr>
          <p:nvPr>
            <p:ph type="sldNum" sz="quarter" idx="10"/>
          </p:nvPr>
        </p:nvSpPr>
        <p:spPr/>
        <p:txBody>
          <a:bodyPr/>
          <a:lstStyle/>
          <a:p>
            <a:fld id="{A02D9A9C-251E-4686-914B-47E3F39F30D8}" type="slidenum">
              <a:rPr lang="de-DE" smtClean="0"/>
              <a:t>1</a:t>
            </a:fld>
            <a:endParaRPr lang="de-DE"/>
          </a:p>
        </p:txBody>
      </p:sp>
      <p:pic>
        <p:nvPicPr>
          <p:cNvPr id="6" name="Picture 5">
            <a:extLst>
              <a:ext uri="{FF2B5EF4-FFF2-40B4-BE49-F238E27FC236}">
                <a16:creationId xmlns:a16="http://schemas.microsoft.com/office/drawing/2014/main" id="{782C1992-3888-5B47-2E82-A8334E0B851C}"/>
              </a:ext>
            </a:extLst>
          </p:cNvPr>
          <p:cNvPicPr>
            <a:picLocks noChangeAspect="1"/>
          </p:cNvPicPr>
          <p:nvPr/>
        </p:nvPicPr>
        <p:blipFill>
          <a:blip r:embed="rId2"/>
          <a:stretch>
            <a:fillRect/>
          </a:stretch>
        </p:blipFill>
        <p:spPr>
          <a:xfrm>
            <a:off x="1242165" y="567871"/>
            <a:ext cx="12146070" cy="4963218"/>
          </a:xfrm>
          <a:prstGeom prst="rect">
            <a:avLst/>
          </a:prstGeom>
        </p:spPr>
      </p:pic>
      <p:sp>
        <p:nvSpPr>
          <p:cNvPr id="3" name="TextBox 2">
            <a:extLst>
              <a:ext uri="{FF2B5EF4-FFF2-40B4-BE49-F238E27FC236}">
                <a16:creationId xmlns:a16="http://schemas.microsoft.com/office/drawing/2014/main" id="{080535F2-175F-9034-9D06-C073EEBDCAD8}"/>
              </a:ext>
            </a:extLst>
          </p:cNvPr>
          <p:cNvSpPr txBox="1"/>
          <p:nvPr/>
        </p:nvSpPr>
        <p:spPr>
          <a:xfrm>
            <a:off x="1979017" y="5843628"/>
            <a:ext cx="10672365" cy="1477328"/>
          </a:xfrm>
          <a:prstGeom prst="rect">
            <a:avLst/>
          </a:prstGeom>
          <a:noFill/>
        </p:spPr>
        <p:txBody>
          <a:bodyPr wrap="square" rtlCol="0">
            <a:spAutoFit/>
          </a:bodyPr>
          <a:lstStyle/>
          <a:p>
            <a:r>
              <a:rPr lang="en-US" dirty="0"/>
              <a:t>Illustration of the investigated industrial energy conversion system for electrified steam generation. The system consists of a HTHP, a TES and a SG, where the HTHP is powered by electricity from a wind turbine or the power grid. The HTHP uses waste heat air stream as a heat source and enables charging and discharging of the TES via an intermediate thermal oil stream. Furthermore, constant heat demand for the steam consumer factory must be satisfied.</a:t>
            </a:r>
            <a:endParaRPr lang="de-DE" dirty="0"/>
          </a:p>
        </p:txBody>
      </p:sp>
    </p:spTree>
    <p:extLst>
      <p:ext uri="{BB962C8B-B14F-4D97-AF65-F5344CB8AC3E}">
        <p14:creationId xmlns:p14="http://schemas.microsoft.com/office/powerpoint/2010/main" val="20430409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A840C5A-C840-A584-A219-DBDFF7A5300B}"/>
              </a:ext>
            </a:extLst>
          </p:cNvPr>
          <p:cNvSpPr>
            <a:spLocks noGrp="1"/>
          </p:cNvSpPr>
          <p:nvPr>
            <p:ph type="sldNum" sz="quarter" idx="10"/>
          </p:nvPr>
        </p:nvSpPr>
        <p:spPr/>
        <p:txBody>
          <a:bodyPr/>
          <a:lstStyle/>
          <a:p>
            <a:fld id="{A02D9A9C-251E-4686-914B-47E3F39F30D8}" type="slidenum">
              <a:rPr lang="de-DE" smtClean="0"/>
              <a:t>2</a:t>
            </a:fld>
            <a:endParaRPr lang="de-DE"/>
          </a:p>
        </p:txBody>
      </p:sp>
      <p:pic>
        <p:nvPicPr>
          <p:cNvPr id="4" name="Picture 3">
            <a:extLst>
              <a:ext uri="{FF2B5EF4-FFF2-40B4-BE49-F238E27FC236}">
                <a16:creationId xmlns:a16="http://schemas.microsoft.com/office/drawing/2014/main" id="{AFD42D65-F2E9-1253-FC65-DD1F51F190FF}"/>
              </a:ext>
            </a:extLst>
          </p:cNvPr>
          <p:cNvPicPr>
            <a:picLocks noChangeAspect="1"/>
          </p:cNvPicPr>
          <p:nvPr/>
        </p:nvPicPr>
        <p:blipFill>
          <a:blip r:embed="rId2"/>
          <a:stretch>
            <a:fillRect/>
          </a:stretch>
        </p:blipFill>
        <p:spPr>
          <a:xfrm>
            <a:off x="1708955" y="1355924"/>
            <a:ext cx="11212490" cy="2676899"/>
          </a:xfrm>
          <a:prstGeom prst="rect">
            <a:avLst/>
          </a:prstGeom>
        </p:spPr>
      </p:pic>
      <p:sp>
        <p:nvSpPr>
          <p:cNvPr id="8" name="TextBox 7">
            <a:extLst>
              <a:ext uri="{FF2B5EF4-FFF2-40B4-BE49-F238E27FC236}">
                <a16:creationId xmlns:a16="http://schemas.microsoft.com/office/drawing/2014/main" id="{86D4685C-FA54-A401-EDA9-D5131F1A891A}"/>
              </a:ext>
            </a:extLst>
          </p:cNvPr>
          <p:cNvSpPr txBox="1"/>
          <p:nvPr/>
        </p:nvSpPr>
        <p:spPr>
          <a:xfrm>
            <a:off x="1708955" y="4780599"/>
            <a:ext cx="11212490" cy="2031325"/>
          </a:xfrm>
          <a:prstGeom prst="rect">
            <a:avLst/>
          </a:prstGeom>
          <a:noFill/>
        </p:spPr>
        <p:txBody>
          <a:bodyPr wrap="square">
            <a:spAutoFit/>
          </a:bodyPr>
          <a:lstStyle/>
          <a:p>
            <a:r>
              <a:rPr lang="de-DE" dirty="0" err="1"/>
              <a:t>Detailed</a:t>
            </a:r>
            <a:r>
              <a:rPr lang="de-DE" dirty="0"/>
              <a:t> </a:t>
            </a:r>
            <a:r>
              <a:rPr lang="de-DE" dirty="0" err="1"/>
              <a:t>flow</a:t>
            </a:r>
            <a:r>
              <a:rPr lang="de-DE" dirty="0"/>
              <a:t> </a:t>
            </a:r>
            <a:r>
              <a:rPr lang="de-DE" dirty="0" err="1"/>
              <a:t>chart</a:t>
            </a:r>
            <a:r>
              <a:rPr lang="de-DE" dirty="0"/>
              <a:t> </a:t>
            </a:r>
            <a:r>
              <a:rPr lang="de-DE" dirty="0" err="1"/>
              <a:t>of</a:t>
            </a:r>
            <a:r>
              <a:rPr lang="de-DE" dirty="0"/>
              <a:t> </a:t>
            </a:r>
            <a:r>
              <a:rPr lang="de-DE" dirty="0" err="1"/>
              <a:t>studied</a:t>
            </a:r>
            <a:r>
              <a:rPr lang="de-DE" dirty="0"/>
              <a:t> </a:t>
            </a:r>
            <a:r>
              <a:rPr lang="de-DE" dirty="0" err="1"/>
              <a:t>system</a:t>
            </a:r>
            <a:r>
              <a:rPr lang="de-DE" dirty="0"/>
              <a:t> </a:t>
            </a:r>
            <a:r>
              <a:rPr lang="de-DE" dirty="0" err="1"/>
              <a:t>including</a:t>
            </a:r>
            <a:r>
              <a:rPr lang="de-DE" dirty="0"/>
              <a:t> HTHP, TES and SG. HTHP and SG </a:t>
            </a:r>
            <a:r>
              <a:rPr lang="de-DE" dirty="0" err="1"/>
              <a:t>are</a:t>
            </a:r>
            <a:r>
              <a:rPr lang="de-DE" dirty="0"/>
              <a:t> </a:t>
            </a:r>
            <a:r>
              <a:rPr lang="de-DE" dirty="0" err="1"/>
              <a:t>represented</a:t>
            </a:r>
            <a:r>
              <a:rPr lang="de-DE" dirty="0"/>
              <a:t> </a:t>
            </a:r>
            <a:r>
              <a:rPr lang="de-DE" dirty="0" err="1"/>
              <a:t>by</a:t>
            </a:r>
            <a:r>
              <a:rPr lang="de-DE" dirty="0"/>
              <a:t> polynomial </a:t>
            </a:r>
            <a:r>
              <a:rPr lang="de-DE" dirty="0" err="1"/>
              <a:t>surrogate</a:t>
            </a:r>
            <a:r>
              <a:rPr lang="de-DE" dirty="0"/>
              <a:t> </a:t>
            </a:r>
            <a:r>
              <a:rPr lang="de-DE" dirty="0" err="1"/>
              <a:t>models</a:t>
            </a:r>
            <a:r>
              <a:rPr lang="de-DE" dirty="0"/>
              <a:t>, </a:t>
            </a:r>
            <a:r>
              <a:rPr lang="de-DE" dirty="0" err="1"/>
              <a:t>while</a:t>
            </a:r>
            <a:r>
              <a:rPr lang="de-DE" dirty="0"/>
              <a:t> TES </a:t>
            </a:r>
            <a:r>
              <a:rPr lang="de-DE" dirty="0" err="1"/>
              <a:t>is</a:t>
            </a:r>
            <a:r>
              <a:rPr lang="de-DE" dirty="0"/>
              <a:t> </a:t>
            </a:r>
            <a:r>
              <a:rPr lang="de-DE" dirty="0" err="1"/>
              <a:t>modeled</a:t>
            </a:r>
            <a:r>
              <a:rPr lang="de-DE" dirty="0"/>
              <a:t> </a:t>
            </a:r>
            <a:r>
              <a:rPr lang="de-DE" dirty="0" err="1"/>
              <a:t>by</a:t>
            </a:r>
            <a:r>
              <a:rPr lang="de-DE" dirty="0"/>
              <a:t> an </a:t>
            </a:r>
            <a:r>
              <a:rPr lang="de-DE" dirty="0" err="1"/>
              <a:t>effectiveness</a:t>
            </a:r>
            <a:r>
              <a:rPr lang="de-DE" dirty="0"/>
              <a:t> </a:t>
            </a:r>
            <a:r>
              <a:rPr lang="de-DE" dirty="0" err="1"/>
              <a:t>model</a:t>
            </a:r>
            <a:r>
              <a:rPr lang="de-DE" dirty="0"/>
              <a:t>. </a:t>
            </a:r>
            <a:r>
              <a:rPr lang="en-US" dirty="0"/>
              <a:t>An adjustable fluid bypass β1 ∈ [0, 1] is used to control the heat input to the TES and SG, conversely the bypass β2 ∈ [0, 1] regulates the heat input to the HTHP depending on the thermal state Ts of the TES and SG outlet stream. The solid and dashed lines indicate the charging and discharging mode in a simplified way. In addition, simultaneous charging and discharging is not allowed. For example, charge mode is β1 ∈ [0, 1), β2 = 1, discharge mode implies β2 ∈ [0, 1), β1 = 1, and idle mode represents β1 = β2 = 1</a:t>
            </a:r>
            <a:endParaRPr lang="de-DE" dirty="0"/>
          </a:p>
        </p:txBody>
      </p:sp>
    </p:spTree>
    <p:extLst>
      <p:ext uri="{BB962C8B-B14F-4D97-AF65-F5344CB8AC3E}">
        <p14:creationId xmlns:p14="http://schemas.microsoft.com/office/powerpoint/2010/main" val="42690604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Graphic 17">
            <a:extLst>
              <a:ext uri="{FF2B5EF4-FFF2-40B4-BE49-F238E27FC236}">
                <a16:creationId xmlns:a16="http://schemas.microsoft.com/office/drawing/2014/main" id="{2FFEFFE7-9C40-31A5-D1CA-98A210D60E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61202" y="3130550"/>
            <a:ext cx="4707996" cy="984250"/>
          </a:xfrm>
          <a:prstGeom prst="rect">
            <a:avLst/>
          </a:prstGeom>
        </p:spPr>
      </p:pic>
      <p:sp>
        <p:nvSpPr>
          <p:cNvPr id="19" name="TextBox 18">
            <a:extLst>
              <a:ext uri="{FF2B5EF4-FFF2-40B4-BE49-F238E27FC236}">
                <a16:creationId xmlns:a16="http://schemas.microsoft.com/office/drawing/2014/main" id="{CC27335B-FDFA-C399-CD92-4AEF1CFE6768}"/>
              </a:ext>
            </a:extLst>
          </p:cNvPr>
          <p:cNvSpPr txBox="1"/>
          <p:nvPr/>
        </p:nvSpPr>
        <p:spPr>
          <a:xfrm>
            <a:off x="1244600" y="762000"/>
            <a:ext cx="5715000" cy="523220"/>
          </a:xfrm>
          <a:prstGeom prst="rect">
            <a:avLst/>
          </a:prstGeom>
          <a:noFill/>
        </p:spPr>
        <p:txBody>
          <a:bodyPr wrap="square" rtlCol="0">
            <a:spAutoFit/>
          </a:bodyPr>
          <a:lstStyle/>
          <a:p>
            <a:r>
              <a:rPr lang="de-DE" sz="2800" dirty="0" err="1"/>
              <a:t>Minimize</a:t>
            </a:r>
            <a:r>
              <a:rPr lang="de-DE" sz="2800" dirty="0"/>
              <a:t> </a:t>
            </a:r>
            <a:r>
              <a:rPr lang="de-DE" sz="2800" b="1" dirty="0"/>
              <a:t>total operational </a:t>
            </a:r>
            <a:r>
              <a:rPr lang="de-DE" sz="2800" b="1" dirty="0" err="1"/>
              <a:t>cost</a:t>
            </a:r>
            <a:r>
              <a:rPr lang="de-DE" sz="2800" dirty="0"/>
              <a:t>:</a:t>
            </a:r>
          </a:p>
        </p:txBody>
      </p:sp>
      <p:sp>
        <p:nvSpPr>
          <p:cNvPr id="20" name="TextBox 19">
            <a:extLst>
              <a:ext uri="{FF2B5EF4-FFF2-40B4-BE49-F238E27FC236}">
                <a16:creationId xmlns:a16="http://schemas.microsoft.com/office/drawing/2014/main" id="{28D00880-0CF3-D8F5-3468-DC0A45E5550E}"/>
              </a:ext>
            </a:extLst>
          </p:cNvPr>
          <p:cNvSpPr txBox="1"/>
          <p:nvPr/>
        </p:nvSpPr>
        <p:spPr>
          <a:xfrm>
            <a:off x="1244600" y="1607720"/>
            <a:ext cx="4249177" cy="1200329"/>
          </a:xfrm>
          <a:prstGeom prst="rect">
            <a:avLst/>
          </a:prstGeom>
          <a:noFill/>
        </p:spPr>
        <p:txBody>
          <a:bodyPr wrap="none" rtlCol="0">
            <a:spAutoFit/>
          </a:bodyPr>
          <a:lstStyle/>
          <a:p>
            <a:pPr marL="285750" indent="-285750">
              <a:buFont typeface="Wingdings" panose="05000000000000000000" pitchFamily="2" charset="2"/>
              <a:buChar char="Ø"/>
            </a:pPr>
            <a:r>
              <a:rPr lang="en-US" b="1" dirty="0"/>
              <a:t>Cost depends on:</a:t>
            </a:r>
          </a:p>
          <a:p>
            <a:pPr marL="285750" indent="-285750">
              <a:buFont typeface="Arial" panose="020B0604020202020204" pitchFamily="34" charset="0"/>
              <a:buChar char="•"/>
            </a:pPr>
            <a:r>
              <a:rPr lang="en-US" dirty="0"/>
              <a:t>Electricity purchased from the grid P</a:t>
            </a:r>
            <a:r>
              <a:rPr lang="en-US" baseline="30000" dirty="0"/>
              <a:t>k</a:t>
            </a:r>
            <a:r>
              <a:rPr lang="en-US" baseline="-25000" dirty="0"/>
              <a:t>grid</a:t>
            </a:r>
            <a:r>
              <a:rPr lang="en-US" dirty="0"/>
              <a:t> </a:t>
            </a:r>
          </a:p>
          <a:p>
            <a:pPr marL="285750" indent="-285750">
              <a:buFont typeface="Arial" panose="020B0604020202020204" pitchFamily="34" charset="0"/>
              <a:buChar char="•"/>
            </a:pPr>
            <a:r>
              <a:rPr lang="en-US" dirty="0"/>
              <a:t>Time-varying electricity prices </a:t>
            </a:r>
            <a:r>
              <a:rPr lang="en-US" dirty="0" err="1"/>
              <a:t>g</a:t>
            </a:r>
            <a:r>
              <a:rPr lang="en-US" baseline="30000" dirty="0" err="1"/>
              <a:t>k</a:t>
            </a:r>
            <a:r>
              <a:rPr lang="en-US" baseline="-25000" dirty="0" err="1"/>
              <a:t>grid</a:t>
            </a:r>
            <a:endParaRPr lang="en-US" dirty="0"/>
          </a:p>
          <a:p>
            <a:endParaRPr lang="de-DE" dirty="0"/>
          </a:p>
        </p:txBody>
      </p:sp>
    </p:spTree>
    <p:extLst>
      <p:ext uri="{BB962C8B-B14F-4D97-AF65-F5344CB8AC3E}">
        <p14:creationId xmlns:p14="http://schemas.microsoft.com/office/powerpoint/2010/main" val="33431614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295DD78-1650-8877-429F-ED83F147FFCB}"/>
              </a:ext>
            </a:extLst>
          </p:cNvPr>
          <p:cNvSpPr>
            <a:spLocks noGrp="1"/>
          </p:cNvSpPr>
          <p:nvPr>
            <p:ph type="sldNum" sz="quarter" idx="10"/>
          </p:nvPr>
        </p:nvSpPr>
        <p:spPr/>
        <p:txBody>
          <a:bodyPr/>
          <a:lstStyle/>
          <a:p>
            <a:fld id="{A02D9A9C-251E-4686-914B-47E3F39F30D8}" type="slidenum">
              <a:rPr lang="de-DE" smtClean="0"/>
              <a:t>4</a:t>
            </a:fld>
            <a:endParaRPr lang="de-DE"/>
          </a:p>
        </p:txBody>
      </p:sp>
      <p:pic>
        <p:nvPicPr>
          <p:cNvPr id="4" name="Graphic 3">
            <a:extLst>
              <a:ext uri="{FF2B5EF4-FFF2-40B4-BE49-F238E27FC236}">
                <a16:creationId xmlns:a16="http://schemas.microsoft.com/office/drawing/2014/main" id="{C7461AE6-23A2-7ECA-4BF4-37054EBFB82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15200" y="1317618"/>
            <a:ext cx="3448050" cy="266700"/>
          </a:xfrm>
          <a:prstGeom prst="rect">
            <a:avLst/>
          </a:prstGeom>
        </p:spPr>
      </p:pic>
      <p:pic>
        <p:nvPicPr>
          <p:cNvPr id="8" name="Graphic 7">
            <a:extLst>
              <a:ext uri="{FF2B5EF4-FFF2-40B4-BE49-F238E27FC236}">
                <a16:creationId xmlns:a16="http://schemas.microsoft.com/office/drawing/2014/main" id="{47F9CD1E-7030-EE4F-4343-6E66F8C3677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315200" y="4499067"/>
            <a:ext cx="2609850" cy="257175"/>
          </a:xfrm>
          <a:prstGeom prst="rect">
            <a:avLst/>
          </a:prstGeom>
        </p:spPr>
      </p:pic>
      <p:pic>
        <p:nvPicPr>
          <p:cNvPr id="10" name="Graphic 9">
            <a:extLst>
              <a:ext uri="{FF2B5EF4-FFF2-40B4-BE49-F238E27FC236}">
                <a16:creationId xmlns:a16="http://schemas.microsoft.com/office/drawing/2014/main" id="{665EB055-41E6-DA5E-EC16-27C4A6A3D48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315200" y="5352734"/>
            <a:ext cx="2628900" cy="257175"/>
          </a:xfrm>
          <a:prstGeom prst="rect">
            <a:avLst/>
          </a:prstGeom>
        </p:spPr>
      </p:pic>
      <p:sp>
        <p:nvSpPr>
          <p:cNvPr id="18" name="TextBox 17">
            <a:extLst>
              <a:ext uri="{FF2B5EF4-FFF2-40B4-BE49-F238E27FC236}">
                <a16:creationId xmlns:a16="http://schemas.microsoft.com/office/drawing/2014/main" id="{EB9B293C-69F8-6A87-C61B-4BCD4C6AC27A}"/>
              </a:ext>
            </a:extLst>
          </p:cNvPr>
          <p:cNvSpPr txBox="1"/>
          <p:nvPr/>
        </p:nvSpPr>
        <p:spPr>
          <a:xfrm>
            <a:off x="530225" y="514687"/>
            <a:ext cx="7315200" cy="2862322"/>
          </a:xfrm>
          <a:prstGeom prst="rect">
            <a:avLst/>
          </a:prstGeom>
          <a:noFill/>
        </p:spPr>
        <p:txBody>
          <a:bodyPr wrap="square">
            <a:spAutoFit/>
          </a:bodyPr>
          <a:lstStyle/>
          <a:p>
            <a:r>
              <a:rPr lang="en-US" b="1" dirty="0"/>
              <a:t>Constraint-1</a:t>
            </a:r>
          </a:p>
          <a:p>
            <a:r>
              <a:rPr lang="en-US" b="1" dirty="0"/>
              <a:t>Power Balance Constraint</a:t>
            </a:r>
          </a:p>
          <a:p>
            <a:pPr marL="285750" indent="-285750">
              <a:buFont typeface="Wingdings" panose="05000000000000000000" pitchFamily="2" charset="2"/>
              <a:buChar char="Ø"/>
            </a:pPr>
            <a:r>
              <a:rPr lang="en-US" dirty="0"/>
              <a:t>Ensures: </a:t>
            </a:r>
          </a:p>
          <a:p>
            <a:pPr marL="742950" lvl="1" indent="-285750">
              <a:buFont typeface="Arial" panose="020B0604020202020204" pitchFamily="34" charset="0"/>
              <a:buChar char="•"/>
            </a:pPr>
            <a:r>
              <a:rPr lang="en-US" dirty="0"/>
              <a:t>Energy supply = energy demand</a:t>
            </a:r>
          </a:p>
          <a:p>
            <a:pPr marL="742950" lvl="1" indent="-285750">
              <a:buFont typeface="Arial" panose="020B0604020202020204" pitchFamily="34" charset="0"/>
              <a:buChar char="•"/>
            </a:pPr>
            <a:r>
              <a:rPr lang="en-US" dirty="0"/>
              <a:t>Total power input (grid + wind) must equal to:</a:t>
            </a:r>
          </a:p>
          <a:p>
            <a:pPr marL="1200150" lvl="2" indent="-285750">
              <a:buFont typeface="Symbol" panose="05050102010706020507" pitchFamily="18" charset="2"/>
              <a:buChar char="-"/>
            </a:pPr>
            <a:r>
              <a:rPr lang="en-US" dirty="0"/>
              <a:t>Power required by the heat pump system </a:t>
            </a:r>
          </a:p>
          <a:p>
            <a:pPr marL="285750" indent="-285750">
              <a:buFont typeface="Wingdings" panose="05000000000000000000" pitchFamily="2" charset="2"/>
              <a:buChar char="Ø"/>
            </a:pPr>
            <a:r>
              <a:rPr lang="en-US" dirty="0"/>
              <a:t>Includes: </a:t>
            </a:r>
          </a:p>
          <a:p>
            <a:pPr marL="742950" lvl="1" indent="-285750">
              <a:buFont typeface="Arial" panose="020B0604020202020204" pitchFamily="34" charset="0"/>
              <a:buChar char="•"/>
            </a:pPr>
            <a:r>
              <a:rPr lang="en-US" dirty="0"/>
              <a:t>Grid power </a:t>
            </a:r>
          </a:p>
          <a:p>
            <a:pPr marL="742950" lvl="1" indent="-285750">
              <a:buFont typeface="Arial" panose="020B0604020202020204" pitchFamily="34" charset="0"/>
              <a:buChar char="•"/>
            </a:pPr>
            <a:r>
              <a:rPr lang="en-US" dirty="0"/>
              <a:t>Wind turbine power </a:t>
            </a:r>
          </a:p>
          <a:p>
            <a:pPr marL="742950" lvl="1" indent="-285750">
              <a:buFont typeface="Arial" panose="020B0604020202020204" pitchFamily="34" charset="0"/>
              <a:buChar char="•"/>
            </a:pPr>
            <a:r>
              <a:rPr lang="en-US" dirty="0"/>
              <a:t>Heat pump consumption</a:t>
            </a:r>
          </a:p>
        </p:txBody>
      </p:sp>
      <p:sp>
        <p:nvSpPr>
          <p:cNvPr id="26" name="TextBox 25">
            <a:extLst>
              <a:ext uri="{FF2B5EF4-FFF2-40B4-BE49-F238E27FC236}">
                <a16:creationId xmlns:a16="http://schemas.microsoft.com/office/drawing/2014/main" id="{B5A925FF-DFEE-DB3A-E56C-F72A10E99500}"/>
              </a:ext>
            </a:extLst>
          </p:cNvPr>
          <p:cNvSpPr txBox="1"/>
          <p:nvPr/>
        </p:nvSpPr>
        <p:spPr>
          <a:xfrm>
            <a:off x="530225" y="3855583"/>
            <a:ext cx="7315200" cy="1754326"/>
          </a:xfrm>
          <a:prstGeom prst="rect">
            <a:avLst/>
          </a:prstGeom>
          <a:noFill/>
        </p:spPr>
        <p:txBody>
          <a:bodyPr wrap="square">
            <a:spAutoFit/>
          </a:bodyPr>
          <a:lstStyle/>
          <a:p>
            <a:r>
              <a:rPr lang="en-US" b="1" dirty="0"/>
              <a:t>Constraint-2,3</a:t>
            </a:r>
          </a:p>
          <a:p>
            <a:pPr marL="285750" indent="-285750">
              <a:buFont typeface="Arial" panose="020B0604020202020204" pitchFamily="34" charset="0"/>
              <a:buChar char="•"/>
            </a:pPr>
            <a:r>
              <a:rPr lang="en-US" dirty="0"/>
              <a:t>These are </a:t>
            </a:r>
            <a:r>
              <a:rPr lang="en-US" b="1" dirty="0"/>
              <a:t>nonlinear surrogate models</a:t>
            </a:r>
            <a:r>
              <a:rPr lang="en-US" dirty="0"/>
              <a:t> </a:t>
            </a:r>
          </a:p>
          <a:p>
            <a:pPr marL="285750" indent="-285750">
              <a:buFont typeface="Arial" panose="020B0604020202020204" pitchFamily="34" charset="0"/>
              <a:buChar char="•"/>
            </a:pPr>
            <a:r>
              <a:rPr lang="en-US" dirty="0"/>
              <a:t>They compute temperatures based on: </a:t>
            </a:r>
          </a:p>
          <a:p>
            <a:pPr marL="742950" lvl="1" indent="-285750">
              <a:buFont typeface="Arial" panose="020B0604020202020204" pitchFamily="34" charset="0"/>
              <a:buChar char="•"/>
            </a:pPr>
            <a:r>
              <a:rPr lang="en-US" dirty="0"/>
              <a:t>Flow rate </a:t>
            </a:r>
          </a:p>
          <a:p>
            <a:pPr marL="742950" lvl="1" indent="-285750">
              <a:buFont typeface="Arial" panose="020B0604020202020204" pitchFamily="34" charset="0"/>
              <a:buChar char="•"/>
            </a:pPr>
            <a:r>
              <a:rPr lang="en-US" dirty="0"/>
              <a:t>Temperatures </a:t>
            </a:r>
          </a:p>
          <a:p>
            <a:pPr marL="742950" lvl="1" indent="-285750">
              <a:buFont typeface="Arial" panose="020B0604020202020204" pitchFamily="34" charset="0"/>
              <a:buChar char="•"/>
            </a:pPr>
            <a:r>
              <a:rPr lang="en-US" dirty="0"/>
              <a:t>Compressor speed</a:t>
            </a:r>
          </a:p>
        </p:txBody>
      </p:sp>
    </p:spTree>
    <p:extLst>
      <p:ext uri="{BB962C8B-B14F-4D97-AF65-F5344CB8AC3E}">
        <p14:creationId xmlns:p14="http://schemas.microsoft.com/office/powerpoint/2010/main" val="9889534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295DD78-1650-8877-429F-ED83F147FFCB}"/>
              </a:ext>
            </a:extLst>
          </p:cNvPr>
          <p:cNvSpPr>
            <a:spLocks noGrp="1"/>
          </p:cNvSpPr>
          <p:nvPr>
            <p:ph type="sldNum" sz="quarter" idx="10"/>
          </p:nvPr>
        </p:nvSpPr>
        <p:spPr/>
        <p:txBody>
          <a:bodyPr/>
          <a:lstStyle/>
          <a:p>
            <a:fld id="{A02D9A9C-251E-4686-914B-47E3F39F30D8}" type="slidenum">
              <a:rPr lang="de-DE" smtClean="0"/>
              <a:t>5</a:t>
            </a:fld>
            <a:endParaRPr lang="de-DE"/>
          </a:p>
        </p:txBody>
      </p:sp>
      <p:pic>
        <p:nvPicPr>
          <p:cNvPr id="23" name="Graphic 22">
            <a:extLst>
              <a:ext uri="{FF2B5EF4-FFF2-40B4-BE49-F238E27FC236}">
                <a16:creationId xmlns:a16="http://schemas.microsoft.com/office/drawing/2014/main" id="{85E9A148-62AB-42D3-6214-400F3D990B3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15200" y="1143001"/>
            <a:ext cx="2219325" cy="257175"/>
          </a:xfrm>
          <a:prstGeom prst="rect">
            <a:avLst/>
          </a:prstGeom>
        </p:spPr>
      </p:pic>
      <p:pic>
        <p:nvPicPr>
          <p:cNvPr id="24" name="Graphic 23">
            <a:extLst>
              <a:ext uri="{FF2B5EF4-FFF2-40B4-BE49-F238E27FC236}">
                <a16:creationId xmlns:a16="http://schemas.microsoft.com/office/drawing/2014/main" id="{185EB404-F501-9153-3008-C33C61B8648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334249" y="1949457"/>
            <a:ext cx="2181225" cy="257175"/>
          </a:xfrm>
          <a:prstGeom prst="rect">
            <a:avLst/>
          </a:prstGeom>
        </p:spPr>
      </p:pic>
      <p:sp>
        <p:nvSpPr>
          <p:cNvPr id="32" name="TextBox 31">
            <a:extLst>
              <a:ext uri="{FF2B5EF4-FFF2-40B4-BE49-F238E27FC236}">
                <a16:creationId xmlns:a16="http://schemas.microsoft.com/office/drawing/2014/main" id="{5869EFB4-97C3-5F82-ACC2-AE91791CF5CC}"/>
              </a:ext>
            </a:extLst>
          </p:cNvPr>
          <p:cNvSpPr txBox="1"/>
          <p:nvPr/>
        </p:nvSpPr>
        <p:spPr>
          <a:xfrm>
            <a:off x="530225" y="514687"/>
            <a:ext cx="7315200" cy="2308324"/>
          </a:xfrm>
          <a:prstGeom prst="rect">
            <a:avLst/>
          </a:prstGeom>
          <a:noFill/>
        </p:spPr>
        <p:txBody>
          <a:bodyPr wrap="square">
            <a:spAutoFit/>
          </a:bodyPr>
          <a:lstStyle/>
          <a:p>
            <a:r>
              <a:rPr lang="en-US" b="1" dirty="0"/>
              <a:t>Constraint-4,5</a:t>
            </a:r>
          </a:p>
          <a:p>
            <a:pPr marL="285750" indent="-285750">
              <a:buFont typeface="Arial" panose="020B0604020202020204" pitchFamily="34" charset="0"/>
              <a:buChar char="•"/>
            </a:pPr>
            <a:r>
              <a:rPr lang="en-US" dirty="0"/>
              <a:t>Control variables β1,β2∈[0,1]</a:t>
            </a:r>
          </a:p>
          <a:p>
            <a:pPr marL="285750" indent="-285750">
              <a:buFont typeface="Arial" panose="020B0604020202020204" pitchFamily="34" charset="0"/>
              <a:buChar char="•"/>
            </a:pPr>
            <a:r>
              <a:rPr lang="en-US" dirty="0"/>
              <a:t>Define </a:t>
            </a:r>
            <a:r>
              <a:rPr lang="en-US" b="1" dirty="0"/>
              <a:t>how heat is routed</a:t>
            </a:r>
            <a:r>
              <a:rPr lang="en-US" dirty="0"/>
              <a:t> in the system</a:t>
            </a:r>
          </a:p>
          <a:p>
            <a:endParaRPr lang="en-US" dirty="0"/>
          </a:p>
          <a:p>
            <a:pPr marL="285750" indent="-285750">
              <a:buFont typeface="Wingdings" panose="05000000000000000000" pitchFamily="2" charset="2"/>
              <a:buChar char="Ø"/>
            </a:pPr>
            <a:r>
              <a:rPr lang="de-DE" b="1" dirty="0"/>
              <a:t>Control </a:t>
            </a:r>
            <a:r>
              <a:rPr lang="de-DE" b="1" dirty="0" err="1"/>
              <a:t>whether</a:t>
            </a:r>
            <a:r>
              <a:rPr lang="de-DE" b="1" dirty="0"/>
              <a:t> </a:t>
            </a:r>
            <a:r>
              <a:rPr lang="de-DE" b="1" dirty="0" err="1"/>
              <a:t>energy</a:t>
            </a:r>
            <a:r>
              <a:rPr lang="de-DE" b="1" dirty="0"/>
              <a:t>:</a:t>
            </a:r>
          </a:p>
          <a:p>
            <a:pPr marL="285750" indent="-285750">
              <a:buFont typeface="Arial" panose="020B0604020202020204" pitchFamily="34" charset="0"/>
              <a:buChar char="•"/>
            </a:pPr>
            <a:r>
              <a:rPr lang="de-DE" dirty="0"/>
              <a:t>Goes </a:t>
            </a:r>
            <a:r>
              <a:rPr lang="de-DE" dirty="0" err="1"/>
              <a:t>to</a:t>
            </a:r>
            <a:r>
              <a:rPr lang="de-DE" dirty="0"/>
              <a:t> </a:t>
            </a:r>
            <a:r>
              <a:rPr lang="de-DE" dirty="0" err="1"/>
              <a:t>storage</a:t>
            </a:r>
            <a:endParaRPr lang="de-DE" dirty="0"/>
          </a:p>
          <a:p>
            <a:pPr marL="285750" indent="-285750">
              <a:buFont typeface="Arial" panose="020B0604020202020204" pitchFamily="34" charset="0"/>
              <a:buChar char="•"/>
            </a:pPr>
            <a:r>
              <a:rPr lang="de-DE" dirty="0"/>
              <a:t>Bypasses </a:t>
            </a:r>
            <a:r>
              <a:rPr lang="de-DE" dirty="0" err="1"/>
              <a:t>storage</a:t>
            </a:r>
            <a:endParaRPr lang="de-DE" dirty="0"/>
          </a:p>
          <a:p>
            <a:pPr marL="285750" indent="-285750">
              <a:buFont typeface="Arial" panose="020B0604020202020204" pitchFamily="34" charset="0"/>
              <a:buChar char="•"/>
            </a:pPr>
            <a:r>
              <a:rPr lang="en-US" dirty="0"/>
              <a:t>Returns to the heat pump</a:t>
            </a:r>
          </a:p>
        </p:txBody>
      </p:sp>
      <p:pic>
        <p:nvPicPr>
          <p:cNvPr id="37" name="Graphic 36">
            <a:extLst>
              <a:ext uri="{FF2B5EF4-FFF2-40B4-BE49-F238E27FC236}">
                <a16:creationId xmlns:a16="http://schemas.microsoft.com/office/drawing/2014/main" id="{C4DCB3FE-EA7F-0C71-7F54-A078EFF975C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315199" y="4245405"/>
            <a:ext cx="1981200" cy="485775"/>
          </a:xfrm>
          <a:prstGeom prst="rect">
            <a:avLst/>
          </a:prstGeom>
        </p:spPr>
      </p:pic>
      <p:pic>
        <p:nvPicPr>
          <p:cNvPr id="38" name="Graphic 37">
            <a:extLst>
              <a:ext uri="{FF2B5EF4-FFF2-40B4-BE49-F238E27FC236}">
                <a16:creationId xmlns:a16="http://schemas.microsoft.com/office/drawing/2014/main" id="{E445D3C7-6A72-6295-C1DD-2EAD56EBAE4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315198" y="5537194"/>
            <a:ext cx="1685925" cy="485775"/>
          </a:xfrm>
          <a:prstGeom prst="rect">
            <a:avLst/>
          </a:prstGeom>
        </p:spPr>
      </p:pic>
      <p:sp>
        <p:nvSpPr>
          <p:cNvPr id="39" name="TextBox 38">
            <a:extLst>
              <a:ext uri="{FF2B5EF4-FFF2-40B4-BE49-F238E27FC236}">
                <a16:creationId xmlns:a16="http://schemas.microsoft.com/office/drawing/2014/main" id="{31708E0A-8CAE-3C2C-75E1-440296DDD71D}"/>
              </a:ext>
            </a:extLst>
          </p:cNvPr>
          <p:cNvSpPr txBox="1"/>
          <p:nvPr/>
        </p:nvSpPr>
        <p:spPr>
          <a:xfrm>
            <a:off x="530225" y="4488292"/>
            <a:ext cx="7315200" cy="923330"/>
          </a:xfrm>
          <a:prstGeom prst="rect">
            <a:avLst/>
          </a:prstGeom>
          <a:noFill/>
        </p:spPr>
        <p:txBody>
          <a:bodyPr wrap="square">
            <a:spAutoFit/>
          </a:bodyPr>
          <a:lstStyle/>
          <a:p>
            <a:r>
              <a:rPr lang="en-US" b="1" dirty="0"/>
              <a:t>Constraint-6,7</a:t>
            </a:r>
          </a:p>
          <a:p>
            <a:pPr marL="285750" indent="-285750">
              <a:buFont typeface="Arial" panose="020B0604020202020204" pitchFamily="34" charset="0"/>
              <a:buChar char="•"/>
            </a:pPr>
            <a:r>
              <a:rPr lang="en-US" dirty="0"/>
              <a:t>Relate </a:t>
            </a:r>
            <a:r>
              <a:rPr lang="en-US" b="1" dirty="0"/>
              <a:t>temperature and mass flow rate</a:t>
            </a:r>
          </a:p>
          <a:p>
            <a:pPr marL="285750" indent="-285750">
              <a:buFont typeface="Arial" panose="020B0604020202020204" pitchFamily="34" charset="0"/>
              <a:buChar char="•"/>
            </a:pPr>
            <a:r>
              <a:rPr lang="en-US" dirty="0"/>
              <a:t>Ensure required </a:t>
            </a:r>
            <a:r>
              <a:rPr lang="en-US" b="1" dirty="0"/>
              <a:t>steam temperature conditions</a:t>
            </a:r>
            <a:r>
              <a:rPr lang="en-US" dirty="0"/>
              <a:t> are satisfied.</a:t>
            </a:r>
          </a:p>
        </p:txBody>
      </p:sp>
    </p:spTree>
    <p:extLst>
      <p:ext uri="{BB962C8B-B14F-4D97-AF65-F5344CB8AC3E}">
        <p14:creationId xmlns:p14="http://schemas.microsoft.com/office/powerpoint/2010/main" val="34509168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295DD78-1650-8877-429F-ED83F147FFCB}"/>
              </a:ext>
            </a:extLst>
          </p:cNvPr>
          <p:cNvSpPr>
            <a:spLocks noGrp="1"/>
          </p:cNvSpPr>
          <p:nvPr>
            <p:ph type="sldNum" sz="quarter" idx="10"/>
          </p:nvPr>
        </p:nvSpPr>
        <p:spPr/>
        <p:txBody>
          <a:bodyPr/>
          <a:lstStyle/>
          <a:p>
            <a:fld id="{A02D9A9C-251E-4686-914B-47E3F39F30D8}" type="slidenum">
              <a:rPr lang="de-DE" smtClean="0"/>
              <a:t>6</a:t>
            </a:fld>
            <a:endParaRPr lang="de-DE"/>
          </a:p>
        </p:txBody>
      </p:sp>
      <p:pic>
        <p:nvPicPr>
          <p:cNvPr id="5" name="Graphic 4">
            <a:extLst>
              <a:ext uri="{FF2B5EF4-FFF2-40B4-BE49-F238E27FC236}">
                <a16:creationId xmlns:a16="http://schemas.microsoft.com/office/drawing/2014/main" id="{352E2BC9-F3C4-AD74-4E67-9A92AF2714B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15200" y="1060450"/>
            <a:ext cx="3133725" cy="266700"/>
          </a:xfrm>
          <a:prstGeom prst="rect">
            <a:avLst/>
          </a:prstGeom>
        </p:spPr>
      </p:pic>
      <p:pic>
        <p:nvPicPr>
          <p:cNvPr id="22" name="Graphic 21">
            <a:extLst>
              <a:ext uri="{FF2B5EF4-FFF2-40B4-BE49-F238E27FC236}">
                <a16:creationId xmlns:a16="http://schemas.microsoft.com/office/drawing/2014/main" id="{452FD076-FB3D-8628-A80C-00062CF6DE0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343775" y="1790550"/>
            <a:ext cx="3105150" cy="266700"/>
          </a:xfrm>
          <a:prstGeom prst="rect">
            <a:avLst/>
          </a:prstGeom>
        </p:spPr>
      </p:pic>
      <p:sp>
        <p:nvSpPr>
          <p:cNvPr id="3" name="TextBox 2">
            <a:extLst>
              <a:ext uri="{FF2B5EF4-FFF2-40B4-BE49-F238E27FC236}">
                <a16:creationId xmlns:a16="http://schemas.microsoft.com/office/drawing/2014/main" id="{EF27ACF3-8CDA-3E85-894E-350BFD0F4B63}"/>
              </a:ext>
            </a:extLst>
          </p:cNvPr>
          <p:cNvSpPr txBox="1"/>
          <p:nvPr/>
        </p:nvSpPr>
        <p:spPr>
          <a:xfrm>
            <a:off x="530225" y="514687"/>
            <a:ext cx="7315200" cy="2031325"/>
          </a:xfrm>
          <a:prstGeom prst="rect">
            <a:avLst/>
          </a:prstGeom>
          <a:noFill/>
        </p:spPr>
        <p:txBody>
          <a:bodyPr wrap="square">
            <a:spAutoFit/>
          </a:bodyPr>
          <a:lstStyle/>
          <a:p>
            <a:r>
              <a:rPr lang="en-US" b="1" dirty="0"/>
              <a:t>Constraint-8,9</a:t>
            </a:r>
          </a:p>
          <a:p>
            <a:pPr marL="285750" indent="-285750">
              <a:buFont typeface="Wingdings" panose="05000000000000000000" pitchFamily="2" charset="2"/>
              <a:buChar char="Ø"/>
            </a:pPr>
            <a:r>
              <a:rPr lang="de-DE" b="1" dirty="0"/>
              <a:t>Thermal Energy Storage (TES)</a:t>
            </a:r>
            <a:endParaRPr lang="en-US" b="1" dirty="0"/>
          </a:p>
          <a:p>
            <a:pPr marL="285750" indent="-285750">
              <a:buFont typeface="Arial" panose="020B0604020202020204" pitchFamily="34" charset="0"/>
              <a:buChar char="•"/>
            </a:pPr>
            <a:r>
              <a:rPr lang="en-US" dirty="0"/>
              <a:t>Charging</a:t>
            </a:r>
          </a:p>
          <a:p>
            <a:pPr marL="285750" indent="-285750">
              <a:buFont typeface="Arial" panose="020B0604020202020204" pitchFamily="34" charset="0"/>
              <a:buChar char="•"/>
            </a:pPr>
            <a:r>
              <a:rPr lang="en-US" dirty="0"/>
              <a:t>Discharging</a:t>
            </a:r>
          </a:p>
          <a:p>
            <a:endParaRPr lang="en-US" dirty="0"/>
          </a:p>
          <a:p>
            <a:pPr marL="285750" indent="-285750">
              <a:buFont typeface="Wingdings" panose="05000000000000000000" pitchFamily="2" charset="2"/>
              <a:buChar char="Ø"/>
            </a:pPr>
            <a:r>
              <a:rPr lang="en-US" b="1" dirty="0"/>
              <a:t>Define heat flow into and out of storage</a:t>
            </a:r>
            <a:r>
              <a:rPr lang="de-DE" b="1" dirty="0"/>
              <a:t>:</a:t>
            </a:r>
          </a:p>
          <a:p>
            <a:pPr marL="285750" indent="-285750">
              <a:buFont typeface="Arial" panose="020B0604020202020204" pitchFamily="34" charset="0"/>
              <a:buChar char="•"/>
            </a:pPr>
            <a:r>
              <a:rPr lang="en-US" dirty="0"/>
              <a:t>TES stores excess heat and releases it when needed.</a:t>
            </a:r>
            <a:endParaRPr lang="de-DE" dirty="0"/>
          </a:p>
        </p:txBody>
      </p:sp>
      <p:pic>
        <p:nvPicPr>
          <p:cNvPr id="20" name="Graphic 19">
            <a:extLst>
              <a:ext uri="{FF2B5EF4-FFF2-40B4-BE49-F238E27FC236}">
                <a16:creationId xmlns:a16="http://schemas.microsoft.com/office/drawing/2014/main" id="{02CEB2FC-5298-57BD-BA11-A6A246B4568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343775" y="3848100"/>
            <a:ext cx="1276350" cy="266700"/>
          </a:xfrm>
          <a:prstGeom prst="rect">
            <a:avLst/>
          </a:prstGeom>
        </p:spPr>
      </p:pic>
      <p:sp>
        <p:nvSpPr>
          <p:cNvPr id="4" name="TextBox 3">
            <a:extLst>
              <a:ext uri="{FF2B5EF4-FFF2-40B4-BE49-F238E27FC236}">
                <a16:creationId xmlns:a16="http://schemas.microsoft.com/office/drawing/2014/main" id="{ED0FF726-E069-4F6A-2E47-21ADC9140DD0}"/>
              </a:ext>
            </a:extLst>
          </p:cNvPr>
          <p:cNvSpPr txBox="1"/>
          <p:nvPr/>
        </p:nvSpPr>
        <p:spPr>
          <a:xfrm>
            <a:off x="530225" y="3381285"/>
            <a:ext cx="7315200" cy="1200329"/>
          </a:xfrm>
          <a:prstGeom prst="rect">
            <a:avLst/>
          </a:prstGeom>
          <a:noFill/>
        </p:spPr>
        <p:txBody>
          <a:bodyPr wrap="square">
            <a:spAutoFit/>
          </a:bodyPr>
          <a:lstStyle/>
          <a:p>
            <a:r>
              <a:rPr lang="en-US" b="1" dirty="0"/>
              <a:t>Constraint-10</a:t>
            </a:r>
          </a:p>
          <a:p>
            <a:pPr marL="285750" indent="-285750">
              <a:buFont typeface="Wingdings" panose="05000000000000000000" pitchFamily="2" charset="2"/>
              <a:buChar char="Ø"/>
            </a:pPr>
            <a:r>
              <a:rPr lang="de-DE" b="1" dirty="0" err="1"/>
              <a:t>No</a:t>
            </a:r>
            <a:r>
              <a:rPr lang="de-DE" b="1" dirty="0"/>
              <a:t> </a:t>
            </a:r>
            <a:r>
              <a:rPr lang="de-DE" b="1" dirty="0" err="1"/>
              <a:t>Simultaneous</a:t>
            </a:r>
            <a:r>
              <a:rPr lang="de-DE" b="1" dirty="0"/>
              <a:t> Charge &amp; </a:t>
            </a:r>
            <a:r>
              <a:rPr lang="de-DE" b="1" dirty="0" err="1"/>
              <a:t>Discharge</a:t>
            </a:r>
            <a:endParaRPr lang="en-US" b="1" dirty="0"/>
          </a:p>
          <a:p>
            <a:pPr marL="285750" indent="-285750">
              <a:buFont typeface="Arial" panose="020B0604020202020204" pitchFamily="34" charset="0"/>
              <a:buChar char="•"/>
            </a:pPr>
            <a:r>
              <a:rPr lang="en-US" dirty="0"/>
              <a:t>Prevents charging and discharging at the same time</a:t>
            </a:r>
          </a:p>
          <a:p>
            <a:endParaRPr lang="de-DE" dirty="0"/>
          </a:p>
        </p:txBody>
      </p:sp>
      <p:pic>
        <p:nvPicPr>
          <p:cNvPr id="18" name="Graphic 17">
            <a:extLst>
              <a:ext uri="{FF2B5EF4-FFF2-40B4-BE49-F238E27FC236}">
                <a16:creationId xmlns:a16="http://schemas.microsoft.com/office/drawing/2014/main" id="{F9C7A181-ECD4-CA59-3A30-4BDED33868FD}"/>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315200" y="5165960"/>
            <a:ext cx="2381250" cy="257175"/>
          </a:xfrm>
          <a:prstGeom prst="rect">
            <a:avLst/>
          </a:prstGeom>
        </p:spPr>
      </p:pic>
      <p:pic>
        <p:nvPicPr>
          <p:cNvPr id="16" name="Graphic 15">
            <a:extLst>
              <a:ext uri="{FF2B5EF4-FFF2-40B4-BE49-F238E27FC236}">
                <a16:creationId xmlns:a16="http://schemas.microsoft.com/office/drawing/2014/main" id="{56FE185C-449A-39EB-352E-A01C14642FA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348538" y="5889949"/>
            <a:ext cx="2381250" cy="257175"/>
          </a:xfrm>
          <a:prstGeom prst="rect">
            <a:avLst/>
          </a:prstGeom>
        </p:spPr>
      </p:pic>
      <p:pic>
        <p:nvPicPr>
          <p:cNvPr id="14" name="Graphic 13">
            <a:extLst>
              <a:ext uri="{FF2B5EF4-FFF2-40B4-BE49-F238E27FC236}">
                <a16:creationId xmlns:a16="http://schemas.microsoft.com/office/drawing/2014/main" id="{C757A76B-96F1-C336-6EB9-3F6D418129F4}"/>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348538" y="6610529"/>
            <a:ext cx="2590800" cy="552450"/>
          </a:xfrm>
          <a:prstGeom prst="rect">
            <a:avLst/>
          </a:prstGeom>
        </p:spPr>
      </p:pic>
      <p:sp>
        <p:nvSpPr>
          <p:cNvPr id="6" name="TextBox 5">
            <a:extLst>
              <a:ext uri="{FF2B5EF4-FFF2-40B4-BE49-F238E27FC236}">
                <a16:creationId xmlns:a16="http://schemas.microsoft.com/office/drawing/2014/main" id="{7ECF1266-7883-613B-497E-4FFE9472B869}"/>
              </a:ext>
            </a:extLst>
          </p:cNvPr>
          <p:cNvSpPr txBox="1"/>
          <p:nvPr/>
        </p:nvSpPr>
        <p:spPr>
          <a:xfrm>
            <a:off x="530225" y="5407316"/>
            <a:ext cx="7315200" cy="1200329"/>
          </a:xfrm>
          <a:prstGeom prst="rect">
            <a:avLst/>
          </a:prstGeom>
          <a:noFill/>
        </p:spPr>
        <p:txBody>
          <a:bodyPr wrap="square">
            <a:spAutoFit/>
          </a:bodyPr>
          <a:lstStyle/>
          <a:p>
            <a:r>
              <a:rPr lang="en-US" b="1" dirty="0"/>
              <a:t>Constraint-11,12,13</a:t>
            </a:r>
          </a:p>
          <a:p>
            <a:pPr marL="285750" indent="-285750">
              <a:buFont typeface="Wingdings" panose="05000000000000000000" pitchFamily="2" charset="2"/>
              <a:buChar char="Ø"/>
            </a:pPr>
            <a:r>
              <a:rPr lang="de-DE" b="1" dirty="0"/>
              <a:t>Storage </a:t>
            </a:r>
            <a:r>
              <a:rPr lang="de-DE" b="1" dirty="0" err="1"/>
              <a:t>Temperature</a:t>
            </a:r>
            <a:r>
              <a:rPr lang="de-DE" b="1" dirty="0"/>
              <a:t> Dynamics</a:t>
            </a:r>
          </a:p>
          <a:p>
            <a:pPr marL="285750" indent="-285750">
              <a:buFont typeface="Arial" panose="020B0604020202020204" pitchFamily="34" charset="0"/>
              <a:buChar char="•"/>
            </a:pPr>
            <a:r>
              <a:rPr lang="en-US" dirty="0"/>
              <a:t>Storage temperature evolves over time</a:t>
            </a:r>
            <a:r>
              <a:rPr lang="de-DE" dirty="0"/>
              <a:t>(</a:t>
            </a:r>
            <a:r>
              <a:rPr lang="de-DE" dirty="0" err="1"/>
              <a:t>dynamic</a:t>
            </a:r>
            <a:r>
              <a:rPr lang="de-DE" dirty="0"/>
              <a:t> </a:t>
            </a:r>
            <a:r>
              <a:rPr lang="de-DE" dirty="0" err="1"/>
              <a:t>behaviour</a:t>
            </a:r>
            <a:r>
              <a:rPr lang="de-DE" dirty="0"/>
              <a:t>)</a:t>
            </a:r>
            <a:endParaRPr lang="en-US" dirty="0"/>
          </a:p>
          <a:p>
            <a:endParaRPr lang="de-DE" dirty="0"/>
          </a:p>
        </p:txBody>
      </p:sp>
    </p:spTree>
    <p:extLst>
      <p:ext uri="{BB962C8B-B14F-4D97-AF65-F5344CB8AC3E}">
        <p14:creationId xmlns:p14="http://schemas.microsoft.com/office/powerpoint/2010/main" val="14394267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295DD78-1650-8877-429F-ED83F147FFCB}"/>
              </a:ext>
            </a:extLst>
          </p:cNvPr>
          <p:cNvSpPr>
            <a:spLocks noGrp="1"/>
          </p:cNvSpPr>
          <p:nvPr>
            <p:ph type="sldNum" sz="quarter" idx="10"/>
          </p:nvPr>
        </p:nvSpPr>
        <p:spPr/>
        <p:txBody>
          <a:bodyPr/>
          <a:lstStyle/>
          <a:p>
            <a:fld id="{A02D9A9C-251E-4686-914B-47E3F39F30D8}" type="slidenum">
              <a:rPr lang="de-DE" smtClean="0"/>
              <a:t>7</a:t>
            </a:fld>
            <a:endParaRPr lang="de-DE"/>
          </a:p>
        </p:txBody>
      </p:sp>
      <p:pic>
        <p:nvPicPr>
          <p:cNvPr id="12" name="Graphic 11">
            <a:extLst>
              <a:ext uri="{FF2B5EF4-FFF2-40B4-BE49-F238E27FC236}">
                <a16:creationId xmlns:a16="http://schemas.microsoft.com/office/drawing/2014/main" id="{87081443-4157-33D8-1D4A-477C2579B03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15200" y="995788"/>
            <a:ext cx="1933575" cy="238125"/>
          </a:xfrm>
          <a:prstGeom prst="rect">
            <a:avLst/>
          </a:prstGeom>
        </p:spPr>
      </p:pic>
      <p:pic>
        <p:nvPicPr>
          <p:cNvPr id="10" name="Graphic 9">
            <a:extLst>
              <a:ext uri="{FF2B5EF4-FFF2-40B4-BE49-F238E27FC236}">
                <a16:creationId xmlns:a16="http://schemas.microsoft.com/office/drawing/2014/main" id="{F88EF54A-DBF3-4496-565C-4E52784974D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315200" y="2843043"/>
            <a:ext cx="2771775" cy="238125"/>
          </a:xfrm>
          <a:prstGeom prst="rect">
            <a:avLst/>
          </a:prstGeom>
        </p:spPr>
      </p:pic>
      <p:pic>
        <p:nvPicPr>
          <p:cNvPr id="8" name="Graphic 7">
            <a:extLst>
              <a:ext uri="{FF2B5EF4-FFF2-40B4-BE49-F238E27FC236}">
                <a16:creationId xmlns:a16="http://schemas.microsoft.com/office/drawing/2014/main" id="{6D600AE1-7E64-9516-FB7A-36B7CF372D6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315200" y="3580545"/>
            <a:ext cx="3076575" cy="238125"/>
          </a:xfrm>
          <a:prstGeom prst="rect">
            <a:avLst/>
          </a:prstGeom>
        </p:spPr>
      </p:pic>
      <p:pic>
        <p:nvPicPr>
          <p:cNvPr id="6" name="Graphic 5">
            <a:extLst>
              <a:ext uri="{FF2B5EF4-FFF2-40B4-BE49-F238E27FC236}">
                <a16:creationId xmlns:a16="http://schemas.microsoft.com/office/drawing/2014/main" id="{75D7E067-1621-37B3-1628-E6776AD7B624}"/>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315200" y="6048679"/>
            <a:ext cx="2352675" cy="190500"/>
          </a:xfrm>
          <a:prstGeom prst="rect">
            <a:avLst/>
          </a:prstGeom>
        </p:spPr>
      </p:pic>
      <p:sp>
        <p:nvSpPr>
          <p:cNvPr id="7" name="TextBox 6">
            <a:extLst>
              <a:ext uri="{FF2B5EF4-FFF2-40B4-BE49-F238E27FC236}">
                <a16:creationId xmlns:a16="http://schemas.microsoft.com/office/drawing/2014/main" id="{E499737E-2B3A-DFEC-3997-C62BCA1E0ADE}"/>
              </a:ext>
            </a:extLst>
          </p:cNvPr>
          <p:cNvSpPr txBox="1"/>
          <p:nvPr/>
        </p:nvSpPr>
        <p:spPr>
          <a:xfrm>
            <a:off x="530225" y="514687"/>
            <a:ext cx="7315200" cy="1200329"/>
          </a:xfrm>
          <a:prstGeom prst="rect">
            <a:avLst/>
          </a:prstGeom>
          <a:noFill/>
        </p:spPr>
        <p:txBody>
          <a:bodyPr wrap="square">
            <a:spAutoFit/>
          </a:bodyPr>
          <a:lstStyle/>
          <a:p>
            <a:r>
              <a:rPr lang="en-US" b="1" dirty="0"/>
              <a:t>Constraint-14</a:t>
            </a:r>
          </a:p>
          <a:p>
            <a:pPr marL="285750" indent="-285750">
              <a:buFont typeface="Wingdings" panose="05000000000000000000" pitchFamily="2" charset="2"/>
              <a:buChar char="Ø"/>
            </a:pPr>
            <a:r>
              <a:rPr lang="de-DE" b="1" dirty="0"/>
              <a:t>Boundary </a:t>
            </a:r>
            <a:r>
              <a:rPr lang="de-DE" b="1" dirty="0" err="1"/>
              <a:t>Conditions</a:t>
            </a:r>
            <a:endParaRPr lang="de-DE" b="1" dirty="0"/>
          </a:p>
          <a:p>
            <a:pPr marL="285750" indent="-285750">
              <a:buFont typeface="Arial" panose="020B0604020202020204" pitchFamily="34" charset="0"/>
              <a:buChar char="•"/>
            </a:pPr>
            <a:r>
              <a:rPr lang="en-US" dirty="0"/>
              <a:t>Initial and final storage temperature must match</a:t>
            </a:r>
          </a:p>
          <a:p>
            <a:pPr marL="285750" indent="-285750">
              <a:buFont typeface="Arial" panose="020B0604020202020204" pitchFamily="34" charset="0"/>
              <a:buChar char="•"/>
            </a:pPr>
            <a:r>
              <a:rPr lang="de-DE" dirty="0" err="1"/>
              <a:t>Ensures</a:t>
            </a:r>
            <a:r>
              <a:rPr lang="de-DE" dirty="0"/>
              <a:t> </a:t>
            </a:r>
            <a:r>
              <a:rPr lang="de-DE" b="1" dirty="0" err="1"/>
              <a:t>cyclic</a:t>
            </a:r>
            <a:r>
              <a:rPr lang="de-DE" b="1" dirty="0"/>
              <a:t> </a:t>
            </a:r>
            <a:r>
              <a:rPr lang="de-DE" b="1" dirty="0" err="1"/>
              <a:t>daily</a:t>
            </a:r>
            <a:r>
              <a:rPr lang="de-DE" b="1" dirty="0"/>
              <a:t> </a:t>
            </a:r>
            <a:r>
              <a:rPr lang="de-DE" b="1" dirty="0" err="1"/>
              <a:t>operation</a:t>
            </a:r>
            <a:endParaRPr lang="de-DE" b="1" dirty="0"/>
          </a:p>
        </p:txBody>
      </p:sp>
      <p:sp>
        <p:nvSpPr>
          <p:cNvPr id="9" name="TextBox 8">
            <a:extLst>
              <a:ext uri="{FF2B5EF4-FFF2-40B4-BE49-F238E27FC236}">
                <a16:creationId xmlns:a16="http://schemas.microsoft.com/office/drawing/2014/main" id="{1256384C-DA26-9677-A3EF-61565F76C4CC}"/>
              </a:ext>
            </a:extLst>
          </p:cNvPr>
          <p:cNvSpPr txBox="1"/>
          <p:nvPr/>
        </p:nvSpPr>
        <p:spPr>
          <a:xfrm>
            <a:off x="530225" y="2612328"/>
            <a:ext cx="7315200" cy="2308324"/>
          </a:xfrm>
          <a:prstGeom prst="rect">
            <a:avLst/>
          </a:prstGeom>
          <a:noFill/>
        </p:spPr>
        <p:txBody>
          <a:bodyPr wrap="square">
            <a:spAutoFit/>
          </a:bodyPr>
          <a:lstStyle/>
          <a:p>
            <a:r>
              <a:rPr lang="en-US" b="1" dirty="0"/>
              <a:t>Constraint-15</a:t>
            </a:r>
          </a:p>
          <a:p>
            <a:pPr marL="285750" indent="-285750">
              <a:buFont typeface="Wingdings" panose="05000000000000000000" pitchFamily="2" charset="2"/>
              <a:buChar char="Ø"/>
            </a:pPr>
            <a:r>
              <a:rPr lang="de-DE" b="1" dirty="0"/>
              <a:t>Operational Limits</a:t>
            </a:r>
          </a:p>
          <a:p>
            <a:endParaRPr lang="en-US" dirty="0"/>
          </a:p>
          <a:p>
            <a:pPr marL="285750" indent="-285750">
              <a:buFont typeface="Wingdings" panose="05000000000000000000" pitchFamily="2" charset="2"/>
              <a:buChar char="Ø"/>
            </a:pPr>
            <a:r>
              <a:rPr lang="en-US" b="1" dirty="0"/>
              <a:t>Limits on</a:t>
            </a:r>
            <a:r>
              <a:rPr lang="en-US" dirty="0"/>
              <a:t>:</a:t>
            </a:r>
          </a:p>
          <a:p>
            <a:pPr marL="285750" indent="-285750">
              <a:buFont typeface="Arial" panose="020B0604020202020204" pitchFamily="34" charset="0"/>
              <a:buChar char="•"/>
            </a:pPr>
            <a:r>
              <a:rPr lang="en-US" dirty="0"/>
              <a:t>Temperature </a:t>
            </a:r>
          </a:p>
          <a:p>
            <a:pPr marL="285750" indent="-285750">
              <a:buFont typeface="Arial" panose="020B0604020202020204" pitchFamily="34" charset="0"/>
              <a:buChar char="•"/>
            </a:pPr>
            <a:r>
              <a:rPr lang="en-US" dirty="0"/>
              <a:t>Flow rate </a:t>
            </a:r>
          </a:p>
          <a:p>
            <a:pPr marL="285750" indent="-285750">
              <a:buFont typeface="Arial" panose="020B0604020202020204" pitchFamily="34" charset="0"/>
              <a:buChar char="•"/>
            </a:pPr>
            <a:r>
              <a:rPr lang="en-US" dirty="0"/>
              <a:t>Compressor speed</a:t>
            </a:r>
          </a:p>
          <a:p>
            <a:pPr marL="285750" indent="-285750">
              <a:buFont typeface="Wingdings" panose="05000000000000000000" pitchFamily="2" charset="2"/>
              <a:buChar char="Ø"/>
            </a:pPr>
            <a:endParaRPr lang="de-DE" b="1" dirty="0"/>
          </a:p>
        </p:txBody>
      </p:sp>
      <p:sp>
        <p:nvSpPr>
          <p:cNvPr id="15" name="TextBox 14">
            <a:extLst>
              <a:ext uri="{FF2B5EF4-FFF2-40B4-BE49-F238E27FC236}">
                <a16:creationId xmlns:a16="http://schemas.microsoft.com/office/drawing/2014/main" id="{1B307F54-C4F1-FA1B-08FA-3CB19BE9C763}"/>
              </a:ext>
            </a:extLst>
          </p:cNvPr>
          <p:cNvSpPr txBox="1"/>
          <p:nvPr/>
        </p:nvSpPr>
        <p:spPr>
          <a:xfrm>
            <a:off x="530225" y="5073052"/>
            <a:ext cx="7315200" cy="923330"/>
          </a:xfrm>
          <a:prstGeom prst="rect">
            <a:avLst/>
          </a:prstGeom>
          <a:noFill/>
        </p:spPr>
        <p:txBody>
          <a:bodyPr wrap="square">
            <a:spAutoFit/>
          </a:bodyPr>
          <a:lstStyle/>
          <a:p>
            <a:r>
              <a:rPr lang="en-US" b="1" dirty="0"/>
              <a:t>Constraint-16</a:t>
            </a:r>
          </a:p>
          <a:p>
            <a:pPr marL="285750" indent="-285750">
              <a:buFont typeface="Wingdings" panose="05000000000000000000" pitchFamily="2" charset="2"/>
              <a:buChar char="Ø"/>
            </a:pPr>
            <a:r>
              <a:rPr lang="de-DE" b="1" dirty="0"/>
              <a:t>Time </a:t>
            </a:r>
            <a:r>
              <a:rPr lang="de-DE" b="1" dirty="0" err="1"/>
              <a:t>Discretization</a:t>
            </a:r>
            <a:endParaRPr lang="en-US" b="1" dirty="0"/>
          </a:p>
          <a:p>
            <a:pPr marL="285750" indent="-285750">
              <a:buFont typeface="Arial" panose="020B0604020202020204" pitchFamily="34" charset="0"/>
              <a:buChar char="•"/>
            </a:pPr>
            <a:r>
              <a:rPr lang="en-US" dirty="0"/>
              <a:t>System is optimized over discrete time steps</a:t>
            </a:r>
            <a:endParaRPr lang="de-DE" b="1" dirty="0"/>
          </a:p>
        </p:txBody>
      </p:sp>
    </p:spTree>
    <p:extLst>
      <p:ext uri="{BB962C8B-B14F-4D97-AF65-F5344CB8AC3E}">
        <p14:creationId xmlns:p14="http://schemas.microsoft.com/office/powerpoint/2010/main" val="18400825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E9BDF97-2CEC-5516-F91C-C69A562E04EA}"/>
              </a:ext>
            </a:extLst>
          </p:cNvPr>
          <p:cNvSpPr/>
          <p:nvPr/>
        </p:nvSpPr>
        <p:spPr>
          <a:xfrm>
            <a:off x="793790" y="2643307"/>
            <a:ext cx="13042821" cy="2126456"/>
          </a:xfrm>
          <a:prstGeom prst="rect">
            <a:avLst/>
          </a:prstGeom>
          <a:noFill/>
          <a:ln/>
        </p:spPr>
        <p:txBody>
          <a:bodyPr wrap="none" lIns="0" tIns="0" rIns="0" bIns="0" rtlCol="0" anchor="t"/>
          <a:lstStyle/>
          <a:p>
            <a:pPr marL="0" indent="0" algn="l">
              <a:lnSpc>
                <a:spcPts val="16700"/>
              </a:lnSpc>
              <a:buNone/>
            </a:pPr>
            <a:r>
              <a:rPr lang="en-US" sz="13350" dirty="0">
                <a:latin typeface="Arial" panose="020B0604020202020204" pitchFamily="34" charset="0"/>
                <a:ea typeface="Crimson Pro Semi Bold" pitchFamily="34" charset="-122"/>
                <a:cs typeface="Arial" panose="020B0604020202020204" pitchFamily="34" charset="0"/>
              </a:rPr>
              <a:t>Thank You!</a:t>
            </a:r>
            <a:endParaRPr lang="en-US" sz="13350" dirty="0">
              <a:latin typeface="Arial" panose="020B0604020202020204" pitchFamily="34" charset="0"/>
              <a:cs typeface="Arial" panose="020B0604020202020204" pitchFamily="34" charset="0"/>
            </a:endParaRPr>
          </a:p>
        </p:txBody>
      </p:sp>
      <p:sp>
        <p:nvSpPr>
          <p:cNvPr id="3" name="Text 1">
            <a:extLst>
              <a:ext uri="{FF2B5EF4-FFF2-40B4-BE49-F238E27FC236}">
                <a16:creationId xmlns:a16="http://schemas.microsoft.com/office/drawing/2014/main" id="{162051C1-87FA-AC88-FEC3-B65825AC80B1}"/>
              </a:ext>
            </a:extLst>
          </p:cNvPr>
          <p:cNvSpPr/>
          <p:nvPr/>
        </p:nvSpPr>
        <p:spPr>
          <a:xfrm>
            <a:off x="793790" y="5223391"/>
            <a:ext cx="13042821" cy="362903"/>
          </a:xfrm>
          <a:prstGeom prst="rect">
            <a:avLst/>
          </a:prstGeom>
          <a:noFill/>
          <a:ln/>
        </p:spPr>
        <p:txBody>
          <a:bodyPr wrap="none" lIns="0" tIns="0" rIns="0" bIns="0" rtlCol="0" anchor="t"/>
          <a:lstStyle/>
          <a:p>
            <a:pPr marL="0" indent="0" algn="l">
              <a:lnSpc>
                <a:spcPts val="2850"/>
              </a:lnSpc>
              <a:buNone/>
            </a:pPr>
            <a:r>
              <a:rPr lang="en-US" sz="1750" dirty="0">
                <a:latin typeface="Arial" panose="020B0604020202020204" pitchFamily="34" charset="0"/>
                <a:ea typeface="Heebo" pitchFamily="34" charset="-122"/>
                <a:cs typeface="Arial" panose="020B0604020202020204" pitchFamily="34" charset="0"/>
              </a:rPr>
              <a:t>I appreciate your time and attention.</a:t>
            </a:r>
            <a:endParaRPr lang="en-US" sz="1750" dirty="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09EA9E87-DD33-F803-A787-B1528EFB82A4}"/>
              </a:ext>
            </a:extLst>
          </p:cNvPr>
          <p:cNvSpPr>
            <a:spLocks noGrp="1"/>
          </p:cNvSpPr>
          <p:nvPr>
            <p:ph type="sldNum" sz="quarter" idx="10"/>
          </p:nvPr>
        </p:nvSpPr>
        <p:spPr/>
        <p:txBody>
          <a:bodyPr/>
          <a:lstStyle/>
          <a:p>
            <a:fld id="{A02D9A9C-251E-4686-914B-47E3F39F30D8}" type="slidenum">
              <a:rPr lang="de-DE" smtClean="0"/>
              <a:t>8</a:t>
            </a:fld>
            <a:endParaRPr lang="de-DE"/>
          </a:p>
        </p:txBody>
      </p:sp>
    </p:spTree>
    <p:extLst>
      <p:ext uri="{BB962C8B-B14F-4D97-AF65-F5344CB8AC3E}">
        <p14:creationId xmlns:p14="http://schemas.microsoft.com/office/powerpoint/2010/main" val="36452034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1128</Words>
  <Application>Microsoft Office PowerPoint</Application>
  <PresentationFormat>Custom</PresentationFormat>
  <Paragraphs>90</Paragraphs>
  <Slides>8</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Wingdings</vt:lpstr>
      <vt:lpstr>Symbol</vt:lpstr>
      <vt:lpstr>Arial</vt:lpstr>
      <vt:lpstr>Calibri</vt:lpstr>
      <vt:lpstr>Aptos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Thapa, Ashish</cp:lastModifiedBy>
  <cp:revision>119</cp:revision>
  <dcterms:created xsi:type="dcterms:W3CDTF">2025-12-08T13:37:53Z</dcterms:created>
  <dcterms:modified xsi:type="dcterms:W3CDTF">2026-04-08T09:32:32Z</dcterms:modified>
</cp:coreProperties>
</file>