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rimson Pro Semi Bold" panose="020B0604020202020204" charset="0"/>
      <p:regular r:id="rId11"/>
    </p:embeddedFont>
    <p:embeddedFont>
      <p:font typeface="Heebo" pitchFamily="2" charset="-79"/>
      <p:regular r:id="rId12"/>
      <p:bold r:id="rId13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2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003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5650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Reinforcement Learning for Optimal Setpoint determination in Complex Energy Utility Systems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5209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9402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Motivation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88618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2375059"/>
            <a:ext cx="4968002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Modern dynamic systems operate with multiple input parameters that significantly impact operational costs. Finding optimal configurations is crucial for reliable and cost-effective operation. 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82923"/>
            <a:ext cx="3725942" cy="37259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84463" y="1907500"/>
            <a:ext cx="3744754" cy="2272665"/>
          </a:xfrm>
          <a:prstGeom prst="roundRect">
            <a:avLst>
              <a:gd name="adj" fmla="val 112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7" name="Shape 4"/>
          <p:cNvSpPr/>
          <p:nvPr/>
        </p:nvSpPr>
        <p:spPr>
          <a:xfrm>
            <a:off x="6354485" y="2077522"/>
            <a:ext cx="510302" cy="510302"/>
          </a:xfrm>
          <a:prstGeom prst="roundRect">
            <a:avLst>
              <a:gd name="adj" fmla="val 17917009"/>
            </a:avLst>
          </a:prstGeom>
          <a:solidFill>
            <a:srgbClr val="2150FE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94859" y="2217777"/>
            <a:ext cx="229553" cy="2295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4485" y="275784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Resource Minimisation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354485" y="3193613"/>
            <a:ext cx="340471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Reducing energy consumption and operational expenditure.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99238" y="1907500"/>
            <a:ext cx="3744873" cy="2272665"/>
          </a:xfrm>
          <a:prstGeom prst="roundRect">
            <a:avLst>
              <a:gd name="adj" fmla="val 1123"/>
            </a:avLst>
          </a:prstGeom>
          <a:solidFill>
            <a:srgbClr val="F2EEEE"/>
          </a:solidFill>
          <a:ln/>
        </p:spPr>
      </p:sp>
      <p:sp>
        <p:nvSpPr>
          <p:cNvPr id="12" name="Shape 8"/>
          <p:cNvSpPr/>
          <p:nvPr/>
        </p:nvSpPr>
        <p:spPr>
          <a:xfrm>
            <a:off x="10269260" y="2077522"/>
            <a:ext cx="510302" cy="510302"/>
          </a:xfrm>
          <a:prstGeom prst="roundRect">
            <a:avLst>
              <a:gd name="adj" fmla="val 17917009"/>
            </a:avLst>
          </a:prstGeom>
          <a:solidFill>
            <a:srgbClr val="2150F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09634" y="2217777"/>
            <a:ext cx="229553" cy="2295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69260" y="2757845"/>
            <a:ext cx="240220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Performance Enhancement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0269260" y="3193613"/>
            <a:ext cx="3404830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Ensuring reliable operation through robust, stable system behavior across changing conditions.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184463" y="4350187"/>
            <a:ext cx="7659648" cy="2000488"/>
          </a:xfrm>
          <a:prstGeom prst="roundRect">
            <a:avLst>
              <a:gd name="adj" fmla="val 1276"/>
            </a:avLst>
          </a:prstGeom>
          <a:solidFill>
            <a:srgbClr val="F2EEEE"/>
          </a:solidFill>
          <a:ln/>
        </p:spPr>
      </p:sp>
      <p:sp>
        <p:nvSpPr>
          <p:cNvPr id="17" name="Shape 12"/>
          <p:cNvSpPr/>
          <p:nvPr/>
        </p:nvSpPr>
        <p:spPr>
          <a:xfrm>
            <a:off x="6354485" y="4520208"/>
            <a:ext cx="510302" cy="510302"/>
          </a:xfrm>
          <a:prstGeom prst="roundRect">
            <a:avLst>
              <a:gd name="adj" fmla="val 17917009"/>
            </a:avLst>
          </a:prstGeom>
          <a:solidFill>
            <a:srgbClr val="2150F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94859" y="4660463"/>
            <a:ext cx="229553" cy="2295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54485" y="5200531"/>
            <a:ext cx="234672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Adaptive Decision-Making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6354485" y="5636300"/>
            <a:ext cx="7319605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Enabling real-time adjustments that respond dynamically to changing system states and external conditions.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2234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Research Questions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93790" y="1604010"/>
            <a:ext cx="6436400" cy="5429726"/>
          </a:xfrm>
          <a:prstGeom prst="roundRect">
            <a:avLst>
              <a:gd name="adj" fmla="val 47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1626870"/>
            <a:ext cx="6390680" cy="51030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3884414" y="1722477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6671" y="230719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Primary Question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6671" y="2728079"/>
            <a:ext cx="6050637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Can reinforcement learning accurately learn optimal input configurations in dynamic, multi-variable systems, and how does its performance compare to other mathematical optimisation algorithms?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671" y="3735943"/>
            <a:ext cx="4537948" cy="31049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0211" y="1604010"/>
            <a:ext cx="6436400" cy="5429726"/>
          </a:xfrm>
          <a:prstGeom prst="roundRect">
            <a:avLst>
              <a:gd name="adj" fmla="val 47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23071" y="1626870"/>
            <a:ext cx="6390680" cy="51030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0490835" y="1722477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593092" y="230719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Secondary Question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593092" y="2728079"/>
            <a:ext cx="6050637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What categories of reinforcement learning methods are most appropriate for this optimisation problem across different types of systems, and which criteria guide the selection of an appropriate algorithm?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092" y="3735943"/>
            <a:ext cx="4537948" cy="3104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3790" y="7225070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These questions guide my investigation into whether RL can serve as a robust, adaptive alternative to mathematical optimisation methods.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488" y="526018"/>
            <a:ext cx="4785122" cy="38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Limitations of Classical Optimisation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88" y="1240750"/>
            <a:ext cx="4221004" cy="42210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9488" y="5601533"/>
            <a:ext cx="6494026" cy="995363"/>
          </a:xfrm>
          <a:prstGeom prst="roundRect">
            <a:avLst>
              <a:gd name="adj" fmla="val 734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4248" y="5601533"/>
            <a:ext cx="60960" cy="995363"/>
          </a:xfrm>
          <a:prstGeom prst="roundRect">
            <a:avLst>
              <a:gd name="adj" fmla="val 30598"/>
            </a:avLst>
          </a:prstGeom>
          <a:solidFill>
            <a:srgbClr val="2150FE"/>
          </a:solidFill>
          <a:ln/>
        </p:spPr>
      </p:sp>
      <p:sp>
        <p:nvSpPr>
          <p:cNvPr id="6" name="Text 3"/>
          <p:cNvSpPr/>
          <p:nvPr/>
        </p:nvSpPr>
        <p:spPr>
          <a:xfrm>
            <a:off x="854750" y="5741075"/>
            <a:ext cx="17526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Computational Complexity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4750" y="6059686"/>
            <a:ext cx="6169223" cy="39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Repeatedly solving MINLPs/NLPs becomes computationally infeasible for large-scale systems with high-dimensional state spaces.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69488" y="6721197"/>
            <a:ext cx="6494026" cy="995363"/>
          </a:xfrm>
          <a:prstGeom prst="roundRect">
            <a:avLst>
              <a:gd name="adj" fmla="val 734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4248" y="6721197"/>
            <a:ext cx="60960" cy="995363"/>
          </a:xfrm>
          <a:prstGeom prst="roundRect">
            <a:avLst>
              <a:gd name="adj" fmla="val 30598"/>
            </a:avLst>
          </a:prstGeom>
          <a:solidFill>
            <a:srgbClr val="2150FE"/>
          </a:solidFill>
          <a:ln/>
        </p:spPr>
      </p:sp>
      <p:sp>
        <p:nvSpPr>
          <p:cNvPr id="10" name="Text 7"/>
          <p:cNvSpPr/>
          <p:nvPr/>
        </p:nvSpPr>
        <p:spPr>
          <a:xfrm>
            <a:off x="854750" y="6860738"/>
            <a:ext cx="155436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Model Dependency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4750" y="7179350"/>
            <a:ext cx="6169223" cy="39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Classical methods require accurate analytical models. Model-plant mismatch significantly degrades performance when actual system behaviour deviates from assumptions.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474506" y="1240750"/>
            <a:ext cx="6494026" cy="995363"/>
          </a:xfrm>
          <a:prstGeom prst="roundRect">
            <a:avLst>
              <a:gd name="adj" fmla="val 734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59266" y="1240750"/>
            <a:ext cx="60960" cy="995363"/>
          </a:xfrm>
          <a:prstGeom prst="roundRect">
            <a:avLst>
              <a:gd name="adj" fmla="val 30598"/>
            </a:avLst>
          </a:prstGeom>
          <a:solidFill>
            <a:srgbClr val="2150FE"/>
          </a:solidFill>
          <a:ln/>
        </p:spPr>
      </p:sp>
      <p:sp>
        <p:nvSpPr>
          <p:cNvPr id="14" name="Text 11"/>
          <p:cNvSpPr/>
          <p:nvPr/>
        </p:nvSpPr>
        <p:spPr>
          <a:xfrm>
            <a:off x="7659767" y="1380292"/>
            <a:ext cx="155436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Static Assumptions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59767" y="1698903"/>
            <a:ext cx="6169223" cy="39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Traditional approaches often assume stationary conditions. Time-varying dynamics, seasonal patterns, and evolving system characteristics pose significant challenges.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474506" y="2360414"/>
            <a:ext cx="6494026" cy="1194197"/>
          </a:xfrm>
          <a:prstGeom prst="roundRect">
            <a:avLst>
              <a:gd name="adj" fmla="val 6126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59266" y="2360414"/>
            <a:ext cx="60960" cy="1194197"/>
          </a:xfrm>
          <a:prstGeom prst="roundRect">
            <a:avLst>
              <a:gd name="adj" fmla="val 30598"/>
            </a:avLst>
          </a:prstGeom>
          <a:solidFill>
            <a:srgbClr val="2150FE"/>
          </a:solidFill>
          <a:ln/>
        </p:spPr>
      </p:sp>
      <p:sp>
        <p:nvSpPr>
          <p:cNvPr id="18" name="Text 15"/>
          <p:cNvSpPr/>
          <p:nvPr/>
        </p:nvSpPr>
        <p:spPr>
          <a:xfrm>
            <a:off x="7659767" y="2499955"/>
            <a:ext cx="155436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Scalability Issues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659767" y="2818567"/>
            <a:ext cx="6169223" cy="596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 systems grow more complex, individual components become increasingly time-consuming to describe and model. Combined with rising numbers of decision variables and constraints, this makes classical optimisation progressively harder to implement and sustain in real applications</a:t>
            </a:r>
            <a:endParaRPr lang="en-US" sz="9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506" y="3694390"/>
            <a:ext cx="4221004" cy="42210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241" y="619839"/>
            <a:ext cx="6770251" cy="527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Advantages of Reinforcement Learning</a:t>
            </a:r>
            <a:endParaRPr lang="en-US" sz="3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41" y="1400056"/>
            <a:ext cx="843558" cy="12419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99511" y="1568768"/>
            <a:ext cx="210883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Handles Nonlinearity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799511" y="1933456"/>
            <a:ext cx="6557248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RL naturally accommodates highly nonlinear system dynamics without requiring differentiability or convexity assumptions that constrain classical methods.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41" y="2641997"/>
            <a:ext cx="843558" cy="12419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99511" y="2810708"/>
            <a:ext cx="210883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Adapts to Uncertainty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1799511" y="3175397"/>
            <a:ext cx="6557248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RL provides robust performance in uncertain settings, accommodating fluctuating renewables, dynamic storage behavior, and unpredictable operational events.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241" y="3883938"/>
            <a:ext cx="843558" cy="12419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99511" y="4052649"/>
            <a:ext cx="210883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Model-Free Learning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1799511" y="4417338"/>
            <a:ext cx="6557248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RL can learn without precise mathematical models, overcoming limitations when system dynamics are unknown or difficult to characterise.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241" y="5125879"/>
            <a:ext cx="843558" cy="124194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99511" y="5294590"/>
            <a:ext cx="210883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Cost Reduction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1799511" y="5659279"/>
            <a:ext cx="6557248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Intelligent parameter optimisation directly minimises operational expenses through learned efficient configurations.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241" y="6367820"/>
            <a:ext cx="843558" cy="124194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799511" y="6536531"/>
            <a:ext cx="210883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Real-Time Optimisation</a:t>
            </a:r>
            <a:endParaRPr lang="en-US" sz="1650" dirty="0"/>
          </a:p>
        </p:txBody>
      </p:sp>
      <p:sp>
        <p:nvSpPr>
          <p:cNvPr id="18" name="Text 10"/>
          <p:cNvSpPr/>
          <p:nvPr/>
        </p:nvSpPr>
        <p:spPr>
          <a:xfrm>
            <a:off x="1799511" y="6901220"/>
            <a:ext cx="6557248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Pre-trained policies enable instantaneous decision-making with sub-millisecond response times, essential for dynamic systems requiring rapid control adjustments.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7819"/>
            <a:ext cx="67545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Addressing the Research Gap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602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While Reinforcement Learning shows immense promise, significant considerations and a clear research gap exist within its application to dynamic energy systems.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41182"/>
            <a:ext cx="6407944" cy="2890480"/>
          </a:xfrm>
          <a:prstGeom prst="roundRect">
            <a:avLst>
              <a:gd name="adj" fmla="val 506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741182"/>
            <a:ext cx="121920" cy="289048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998476"/>
            <a:ext cx="465832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From Robotics to Energy Systems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142524" y="4559856"/>
            <a:ext cx="58019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Many core RL advances come from robotics, which involves different dynamics and objectives. Applying these methods to complex and safety-critical energy systems introduces unique challenges that demand domain-specific adaptations.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741182"/>
            <a:ext cx="6408063" cy="2890480"/>
          </a:xfrm>
          <a:prstGeom prst="roundRect">
            <a:avLst>
              <a:gd name="adj" fmla="val 506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3741182"/>
            <a:ext cx="121920" cy="289048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998476"/>
            <a:ext cx="5802035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Comparison with Mathematical Optimisation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777282" y="4985147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Compare RL and mathematical optimisation in how they deal with high dimensionality, nonlinearity, and non-convexity. 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5799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Master Thesis Timeline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547574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timeline for completing the Master Thesis is outlined below, focusing on key milestones: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03770" y="2011085"/>
            <a:ext cx="22860" cy="5079206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6636425" y="2190988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7123867" y="2011085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187625" y="2042934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16072" y="2069544"/>
            <a:ext cx="264854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Literature Review Completion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93790" y="2437328"/>
            <a:ext cx="5670828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Targeting completion by the third week of December. This involves synthesising current research on RL for dynamic system optimisation and identifying gaps.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83673" y="3211592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7123867" y="3031688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7187625" y="3063538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65783" y="3090148"/>
            <a:ext cx="310574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Methodology &amp; Experiment Design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165783" y="3457932"/>
            <a:ext cx="5670828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Finalising the proposed RL algorithm, simulation environment, and experimental setups. Choose cases of different complexity. This phase will run from late December through January.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36425" y="4091345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7123867" y="3911441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7187625" y="3943290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561874" y="3969901"/>
            <a:ext cx="290274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Implementation &amp; Initial Results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93790" y="4337685"/>
            <a:ext cx="5670828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Developing the RL agent and running preliminary experiments to validate the approach and gather initial data. Implement for all cases. This is planned for February.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83673" y="4971098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123867" y="4791194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7187625" y="4823043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65783" y="4849654"/>
            <a:ext cx="245756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Analysis &amp; Refinement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165783" y="5217438"/>
            <a:ext cx="5670828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Analysing experimental results, iteratively refining the RL model, and conducting in-depth performance evaluations. Compare it with mathematical optimisation. Scheduled for March.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36425" y="5850850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26" name="Shape 24"/>
          <p:cNvSpPr/>
          <p:nvPr/>
        </p:nvSpPr>
        <p:spPr>
          <a:xfrm>
            <a:off x="7123867" y="5670947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7187625" y="5702796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96797" y="5729407"/>
            <a:ext cx="256782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Thesis Writing &amp; Submission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93790" y="6097191"/>
            <a:ext cx="567082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Compiling all research, results, and discussions into the final thesis document, aiming for submission by the end of April.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3790" y="7281624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43307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00"/>
              </a:lnSpc>
              <a:buNone/>
            </a:pPr>
            <a:r>
              <a:rPr lang="en-US" sz="13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Thank You!</a:t>
            </a:r>
            <a:endParaRPr lang="en-US" sz="13350" dirty="0"/>
          </a:p>
        </p:txBody>
      </p:sp>
      <p:sp>
        <p:nvSpPr>
          <p:cNvPr id="3" name="Text 1"/>
          <p:cNvSpPr/>
          <p:nvPr/>
        </p:nvSpPr>
        <p:spPr>
          <a:xfrm>
            <a:off x="793790" y="52233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 appreciate your time and attention.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Office PowerPoint</Application>
  <PresentationFormat>Custom</PresentationFormat>
  <Paragraphs>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Heebo</vt:lpstr>
      <vt:lpstr>Crimson Pro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Thapa, Ashish</cp:lastModifiedBy>
  <cp:revision>2</cp:revision>
  <dcterms:created xsi:type="dcterms:W3CDTF">2025-12-08T13:37:53Z</dcterms:created>
  <dcterms:modified xsi:type="dcterms:W3CDTF">2025-12-08T13:40:24Z</dcterms:modified>
</cp:coreProperties>
</file>