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Default Extension="png" ContentType="image/png"/>
  <ns0:Override PartName="/ppt/presentation.xml" ContentType="application/vnd.openxmlformats-officedocument.presentationml.presentation.main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theme/theme1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</ns0: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ns2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1695" cy="6858000" type="wide"/>
  <p:notesSz cx="6858000" cy="9144000"/>
  <p:defaultTextStyle>
    <ns2:defPPr>
      <ns2:defRPr lang="en-US"/>
    </ns2:defPPr>
  </p:defaultTextStyle>
</p:presentation>
</file>

<file path=ppt/_rels/presentation.xml.rels><?xml version='1.0' encoding='utf-8'?>
<ns0:Relationships xmlns:ns0="http://schemas.openxmlformats.org/package/2006/relationships">
  <ns0:Relationship Id="rId1" Type="http://schemas.openxmlformats.org/officeDocument/2006/relationships/slideMaster" Target="slideMasters/slideMaster1.xml" />
  <ns0:Relationship Id="rId2" Type="http://schemas.openxmlformats.org/officeDocument/2006/relationships/slide" Target="slides/slide1.xml" />
  <ns0:Relationship Id="rId3" Type="http://schemas.openxmlformats.org/officeDocument/2006/relationships/slide" Target="slides/slide2.xml" />
<ns0:Relationship Id="rId4" Type="http://schemas.openxmlformats.org/officeDocument/2006/relationships/slide" Target="slides/slide3.xml" /><ns0:Relationship Id="rId5" Type="http://schemas.openxmlformats.org/officeDocument/2006/relationships/slide" Target="slides/slide4.xml" /></ns0: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odel_comparison_distances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result panel"/>
          <p:cNvSpPr/>
          <p:nvPr/>
        </p:nvSpPr>
        <p:spPr>
          <a:xfrm>
            <a:off x="6400800" y="987552"/>
            <a:ext cx="5440680" cy="1417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/>
          <a:lstStyle/>
          <a:p/>
        </p:txBody>
      </p:sp>
      <p:sp>
        <p:nvSpPr>
          <p:cNvPr id="5" name="plot panel"/>
          <p:cNvSpPr/>
          <p:nvPr/>
        </p:nvSpPr>
        <p:spPr>
          <a:xfrm>
            <a:off x="6400800" y="2578608"/>
            <a:ext cx="5440680" cy="3520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footer"/>
          <p:cNvSpPr/>
          <p:nvPr/>
        </p:nvSpPr>
        <p:spPr>
          <a:xfrm>
            <a:off x="384048" y="6245352"/>
            <a:ext cx="11411712" cy="384048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0" name="title"/>
          <p:cNvSpPr txBox="1"/>
          <p:nvPr/>
        </p:nvSpPr>
        <p:spPr>
          <a:xfrm>
            <a:off x="384048" y="164592"/>
            <a:ext cx="11155680" cy="50292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3000">
                <a:b/>
                <a:solidFill>
                  <a:srgbClr val="0F172A"/>
                </a:solidFill>
              </a:rPr>
              <a:t>Battery Model: RL Policy vs Pyomo Baseline</a:t>
            </a:r>
            <a:endParaRPr lang="en-US" sz="3000"/>
          </a:p>
        </p:txBody>
      </p:sp>
      <p:sp>
        <p:nvSpPr>
          <p:cNvPr id="11" name="subtitle"/>
          <p:cNvSpPr txBox="1"/>
          <p:nvPr/>
        </p:nvSpPr>
        <p:spPr>
          <a:xfrm>
            <a:off x="402336" y="658368"/>
            <a:ext cx="11064240" cy="256032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250">
                <a:solidFill>
                  <a:srgbClr val="475569"/>
                </a:solidFill>
              </a:rPr>
              <a:t>A compact validation case before the nonlinear cookie-factory energy system</a:t>
            </a:r>
            <a:endParaRPr lang="en-US" sz="1250"/>
          </a:p>
        </p:txBody>
      </p:sp>
      <p:sp>
        <p:nvSpPr>
          <p:cNvPr id="20" name="why case"/>
          <p:cNvSpPr txBox="1"/>
          <p:nvPr/>
        </p:nvSpPr>
        <p:spPr>
          <a:xfrm>
            <a:off x="384048" y="1042416"/>
            <a:ext cx="5715000" cy="100584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500">
                <a:b/>
                <a:solidFill>
                  <a:srgbClr val="0F172A"/>
                </a:solidFill>
              </a:rPr>
              <a:t>Why include it</a:t>
            </a:r>
            <a:endParaRPr lang="en-US" sz="1500"/>
          </a:p>
          <a:p>
            <a:pPr marL="228600" indent="-171450">
              <a:buChar char="•"/>
            </a:pPr>
            <a:r>
              <a:rPr lang="en-US" sz="1120">
                <a:solidFill>
                  <a:srgbClr val="334155"/>
                </a:solidFill>
              </a:rPr>
              <a:t>Clean storage use case: electricity-price arbitrage with SOC and power limits</a:t>
            </a:r>
            <a:endParaRPr lang="en-US" sz="1120"/>
          </a:p>
          <a:p>
            <a:pPr marL="228600" indent="-171450">
              <a:buChar char="•"/>
            </a:pPr>
            <a:r>
              <a:rPr lang="en-US" sz="1120">
                <a:solidFill>
                  <a:srgbClr val="334155"/>
                </a:solidFill>
              </a:rPr>
              <a:t>Shows the same thesis question in a simpler, explainable setting</a:t>
            </a:r>
            <a:endParaRPr lang="en-US" sz="1120"/>
          </a:p>
        </p:txBody>
      </p:sp>
      <p:sp>
        <p:nvSpPr>
          <p:cNvPr id="21" name="mdp"/>
          <p:cNvSpPr txBox="1"/>
          <p:nvPr/>
        </p:nvSpPr>
        <p:spPr>
          <a:xfrm>
            <a:off x="384048" y="2029968"/>
            <a:ext cx="5715000" cy="187452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500">
                <a:b/>
                <a:solidFill>
                  <a:srgbClr val="0F172A"/>
                </a:solidFill>
              </a:rPr>
              <a:t>MDP formulation</a:t>
            </a:r>
            <a:endParaRPr lang="en-US" sz="1500"/>
          </a:p>
          <a:p>
            <a:pPr marL="228600" indent="-171450">
              <a:buChar char="•"/>
            </a:pPr>
            <a:r>
              <a:rPr lang="en-US" sz="1080">
                <a:solidFill>
                  <a:srgbClr val="334155"/>
                </a:solidFill>
              </a:rPr>
              <a:t>State: SOC, current price, time, feasible charge/discharge limits, 24h forecast</a:t>
            </a:r>
            <a:endParaRPr lang="en-US" sz="1080"/>
          </a:p>
          <a:p>
            <a:pPr marL="228600" indent="-171450">
              <a:buChar char="•"/>
            </a:pPr>
            <a:r>
              <a:rPr lang="en-US" sz="1080">
                <a:solidFill>
                  <a:srgbClr val="334155"/>
                </a:solidFill>
              </a:rPr>
              <a:t>Action: continuous a in [-1, 1], scaled to battery power</a:t>
            </a:r>
            <a:endParaRPr lang="en-US" sz="1080"/>
          </a:p>
          <a:p>
            <a:pPr marL="228600" indent="-171450">
              <a:buChar char="•"/>
            </a:pPr>
            <a:r>
              <a:rPr lang="en-US" sz="1080">
                <a:solidFill>
                  <a:srgbClr val="334155"/>
                </a:solidFill>
              </a:rPr>
              <a:t>Reward: -grid cost - infeasible-action penalty</a:t>
            </a:r>
            <a:endParaRPr lang="en-US" sz="1080"/>
          </a:p>
          <a:p>
            <a:pPr marL="228600" indent="-171450">
              <a:buChar char="•"/>
            </a:pPr>
            <a:r>
              <a:rPr lang="en-US" sz="1080">
                <a:solidFill>
                  <a:srgbClr val="334155"/>
                </a:solidFill>
              </a:rPr>
              <a:t>Dynamics: SOC(t+1) = SOC(t) + P_actual * dt / E_max</a:t>
            </a:r>
            <a:endParaRPr lang="en-US" sz="1080"/>
          </a:p>
        </p:txBody>
      </p:sp>
      <p:sp>
        <p:nvSpPr>
          <p:cNvPr id="22" name="training"/>
          <p:cNvSpPr txBox="1"/>
          <p:nvPr/>
        </p:nvSpPr>
        <p:spPr>
          <a:xfrm>
            <a:off x="384048" y="3968496"/>
            <a:ext cx="5715000" cy="173736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500">
                <a:b/>
                <a:solidFill>
                  <a:srgbClr val="0F172A"/>
                </a:solidFill>
              </a:rPr>
              <a:t>Training and benchmark</a:t>
            </a:r>
            <a:endParaRPr lang="en-US" sz="1500"/>
          </a:p>
          <a:p>
            <a:pPr marL="228600" indent="-171450">
              <a:buChar char="•"/>
            </a:pPr>
            <a:r>
              <a:rPr lang="en-US" sz="1080">
                <a:solidFill>
                  <a:srgbClr val="334155"/>
                </a:solidFill>
              </a:rPr>
              <a:t>SAC learns a continuous charge/discharge policy on random 24h price windows</a:t>
            </a:r>
            <a:endParaRPr lang="en-US" sz="1080"/>
          </a:p>
          <a:p>
            <a:pPr marL="228600" indent="-171450">
              <a:buChar char="•"/>
            </a:pPr>
            <a:r>
              <a:rPr lang="en-US" sz="1080">
                <a:solidFill>
                  <a:srgbClr val="334155"/>
                </a:solidFill>
              </a:rPr>
              <a:t>Pyomo/IPOPT solves the finite-horizon mathematical optimization baseline</a:t>
            </a:r>
            <a:endParaRPr lang="en-US" sz="1080"/>
          </a:p>
          <a:p>
            <a:pPr marL="228600" indent="-171450">
              <a:buChar char="•"/>
            </a:pPr>
            <a:r>
              <a:rPr lang="en-US" sz="1080">
                <a:solidFill>
                  <a:srgbClr val="334155"/>
                </a:solidFill>
              </a:rPr>
              <a:t>Learning-rate schedules were tested; linear was marginally best in mean cost</a:t>
            </a:r>
            <a:endParaRPr lang="en-US" sz="1080"/>
          </a:p>
        </p:txBody>
      </p:sp>
      <p:sp>
        <p:nvSpPr>
          <p:cNvPr id="30" name="results label"/>
          <p:cNvSpPr txBox="1"/>
          <p:nvPr/>
        </p:nvSpPr>
        <p:spPr>
          <a:xfrm>
            <a:off x="6601968" y="1078992"/>
            <a:ext cx="5029200" cy="256032"/>
          </a:xfrm>
          <a:prstGeom prst="rect">
            <a:avLst/>
          </a:prstGeom>
          <a:solidFill>
            <a:srgbClr val="EFF6FF"/>
          </a:solidFill>
          <a:ln w="0">
            <a:solidFill>
              <a:srgbClr val="EFF6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220">
                <a:b/>
                <a:solidFill>
                  <a:srgbClr val="1E3A8A"/>
                </a:solidFill>
              </a:rPr>
              <a:t>Key comparison over 10 random 24h windows</a:t>
            </a:r>
            <a:endParaRPr lang="en-US" sz="1220"/>
          </a:p>
        </p:txBody>
      </p:sp>
      <p:sp>
        <p:nvSpPr>
          <p:cNvPr id="31" name="cost metric"/>
          <p:cNvSpPr txBox="1"/>
          <p:nvPr/>
        </p:nvSpPr>
        <p:spPr>
          <a:xfrm>
            <a:off x="6656832" y="1426464"/>
            <a:ext cx="2423160" cy="713232"/>
          </a:xfrm>
          <a:prstGeom prst="rect">
            <a:avLst/>
          </a:prstGeom>
          <a:solidFill>
            <a:srgbClr val="EFF6FF"/>
          </a:solidFill>
          <a:ln w="0">
            <a:solidFill>
              <a:srgbClr val="EFF6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050">
                <a:b/>
                <a:solidFill>
                  <a:srgbClr val="475569"/>
                </a:solidFill>
              </a:rPr>
              <a:t>Cost gap</a:t>
            </a:r>
            <a:endParaRPr lang="en-US" sz="1050"/>
          </a:p>
          <a:p>
            <a:pPr/>
            <a:r>
              <a:rPr lang="en-US" sz="2100">
                <a:b/>
                <a:solidFill>
                  <a:srgbClr val="DC2626"/>
                </a:solidFill>
              </a:rPr>
              <a:t>+1.225 EUR</a:t>
            </a:r>
            <a:endParaRPr lang="en-US" sz="2100"/>
          </a:p>
          <a:p>
            <a:pPr/>
            <a:r>
              <a:rPr lang="en-US" sz="880">
                <a:solidFill>
                  <a:srgbClr val="475569"/>
                </a:solidFill>
              </a:rPr>
              <a:t>RL vs Pyomo, 13.4% worse</a:t>
            </a:r>
            <a:endParaRPr lang="en-US" sz="880"/>
          </a:p>
        </p:txBody>
      </p:sp>
      <p:sp>
        <p:nvSpPr>
          <p:cNvPr id="32" name="speed metric"/>
          <p:cNvSpPr txBox="1"/>
          <p:nvPr/>
        </p:nvSpPr>
        <p:spPr>
          <a:xfrm>
            <a:off x="9253728" y="1426464"/>
            <a:ext cx="2331720" cy="713232"/>
          </a:xfrm>
          <a:prstGeom prst="rect">
            <a:avLst/>
          </a:prstGeom>
          <a:solidFill>
            <a:srgbClr val="EFF6FF"/>
          </a:solidFill>
          <a:ln w="0">
            <a:solidFill>
              <a:srgbClr val="EFF6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050">
                <a:b/>
                <a:solidFill>
                  <a:srgbClr val="475569"/>
                </a:solidFill>
              </a:rPr>
              <a:t>Inference speed</a:t>
            </a:r>
            <a:endParaRPr lang="en-US" sz="1050"/>
          </a:p>
          <a:p>
            <a:pPr/>
            <a:r>
              <a:rPr lang="en-US" sz="2100">
                <a:b/>
                <a:solidFill>
                  <a:srgbClr val="16A34A"/>
                </a:solidFill>
              </a:rPr>
              <a:t>7.23x faster</a:t>
            </a:r>
            <a:endParaRPr lang="en-US" sz="2100"/>
          </a:p>
          <a:p>
            <a:pPr/>
            <a:r>
              <a:rPr lang="en-US" sz="880">
                <a:solidFill>
                  <a:srgbClr val="475569"/>
                </a:solidFill>
              </a:rPr>
              <a:t>0.021s RL vs 0.152s Pyomo</a:t>
            </a:r>
            <a:endParaRPr lang="en-US" sz="880"/>
          </a:p>
        </p:txBody>
      </p:sp>
      <p:pic>
        <p:nvPicPr>
          <p:cNvPr id="40" name="model_comparison_dis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770632"/>
            <a:ext cx="5047488" cy="2788920"/>
          </a:xfrm>
          <a:prstGeom prst="rect">
            <a:avLst/>
          </a:prstGeom>
        </p:spPr>
      </p:pic>
      <p:sp>
        <p:nvSpPr>
          <p:cNvPr id="41" name="caption"/>
          <p:cNvSpPr txBox="1"/>
          <p:nvPr/>
        </p:nvSpPr>
        <p:spPr>
          <a:xfrm>
            <a:off x="6601968" y="5650992"/>
            <a:ext cx="5047488" cy="256032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830">
                <a:solidFill>
                  <a:srgbClr val="64748B"/>
                </a:solidFill>
              </a:rPr>
              <a:t>Distance plot: cost, absolute gap, SOC RMSE and power RMSE per comparison window</a:t>
            </a:r>
            <a:endParaRPr lang="en-US" sz="830"/>
          </a:p>
        </p:txBody>
      </p:sp>
      <p:sp>
        <p:nvSpPr>
          <p:cNvPr id="50" name="takeaway"/>
          <p:cNvSpPr txBox="1"/>
          <p:nvPr/>
        </p:nvSpPr>
        <p:spPr>
          <a:xfrm>
            <a:off x="530352" y="6309360"/>
            <a:ext cx="10972800" cy="228600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950">
                <a:b/>
                <a:solidFill>
                  <a:srgbClr val="0F172A"/>
                </a:solidFill>
              </a:rPr>
              <a:t>Takeaway: RL gives near-instant decisions but still trails the optimizer; discuss terminal SOC and aligned cost definitions before claiming optimality.</a:t>
            </a:r>
            <a:endParaRPr lang="en-US"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" name="table panel"/>
          <p:cNvSpPr/>
          <p:nvPr/>
        </p:nvSpPr>
        <p:spPr>
          <a:xfrm>
            <a:off x="438912" y="1170432"/>
            <a:ext cx="6812280" cy="5120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5" name="sac panel"/>
          <p:cNvSpPr/>
          <p:nvPr/>
        </p:nvSpPr>
        <p:spPr>
          <a:xfrm>
            <a:off x="7543800" y="1170432"/>
            <a:ext cx="4251960" cy="51206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/>
          <a:lstStyle/>
          <a:p/>
        </p:txBody>
      </p:sp>
      <p:sp>
        <p:nvSpPr>
          <p:cNvPr id="10" name="title"/>
          <p:cNvSpPr txBox="1"/>
          <p:nvPr/>
        </p:nvSpPr>
        <p:spPr>
          <a:xfrm>
            <a:off x="384048" y="164592"/>
            <a:ext cx="11155680" cy="50292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3000">
                <a:b/>
                <a:solidFill>
                  <a:srgbClr val="0F172A"/>
                </a:solidFill>
              </a:rPr>
              <a:t>Why Soft Actor-Critic (SAC)?</a:t>
            </a:r>
            <a:endParaRPr lang="en-US" sz="3000"/>
          </a:p>
        </p:txBody>
      </p:sp>
      <p:sp>
        <p:nvSpPr>
          <p:cNvPr id="11" name="subtitle"/>
          <p:cNvSpPr txBox="1"/>
          <p:nvPr/>
        </p:nvSpPr>
        <p:spPr>
          <a:xfrm>
            <a:off x="402336" y="658368"/>
            <a:ext cx="11155680" cy="301752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200">
                <a:solidFill>
                  <a:srgbClr val="475569"/>
                </a:solidFill>
              </a:rPr>
              <a:t>The control task needs continuous setpoints, sample-efficient learning, and stable exploration under changing electricity prices</a:t>
            </a:r>
            <a:endParaRPr lang="en-US" sz="1200"/>
          </a:p>
        </p:txBody>
      </p:sp>
      <p:sp>
        <p:nvSpPr>
          <p:cNvPr id="20" name="header fill"/>
          <p:cNvSpPr/>
          <p:nvPr/>
        </p:nvSpPr>
        <p:spPr>
          <a:xfrm>
            <a:off x="621792" y="1353312"/>
            <a:ext cx="6446520" cy="384048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1" name="header left"/>
          <p:cNvSpPr txBox="1"/>
          <p:nvPr/>
        </p:nvSpPr>
        <p:spPr>
          <a:xfrm>
            <a:off x="713232" y="1417320"/>
            <a:ext cx="1664208" cy="201168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900">
                <a:b/>
                <a:solidFill>
                  <a:srgbClr val="0F172A"/>
                </a:solidFill>
              </a:rPr>
              <a:t>Algorithm</a:t>
            </a:r>
            <a:endParaRPr lang="en-US" sz="900"/>
          </a:p>
        </p:txBody>
      </p:sp>
      <p:sp>
        <p:nvSpPr>
          <p:cNvPr id="22" name="header right"/>
          <p:cNvSpPr txBox="1"/>
          <p:nvPr/>
        </p:nvSpPr>
        <p:spPr>
          <a:xfrm>
            <a:off x="2212848" y="1417320"/>
            <a:ext cx="4645152" cy="201168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900">
                <a:b/>
                <a:solidFill>
                  <a:srgbClr val="0F172A"/>
                </a:solidFill>
              </a:rPr>
              <a:t>Why it was not the main choice</a:t>
            </a:r>
            <a:endParaRPr lang="en-US" sz="900"/>
          </a:p>
        </p:txBody>
      </p:sp>
      <p:cxnSp>
        <p:nvCxnSpPr>
          <p:cNvPr id="23" name="header line"/>
          <p:cNvCxnSpPr/>
          <p:nvPr/>
        </p:nvCxnSpPr>
        <p:spPr>
          <a:xfrm>
            <a:off x="2103120" y="1362456"/>
            <a:ext cx="0" cy="4626864"/>
          </a:xfrm>
          <a:prstGeom prst="line">
            <a:avLst/>
          </a:prstGeom>
          <a:ln w="12700">
            <a:solidFill>
              <a:srgbClr val="CBD5E1"/>
            </a:solidFill>
          </a:ln>
        </p:spPr>
      </p:cxnSp>
      <p:sp>
        <p:nvSpPr>
          <p:cNvPr id="40" name="alg Q-learning"/>
          <p:cNvSpPr txBox="1"/>
          <p:nvPr/>
        </p:nvSpPr>
        <p:spPr>
          <a:xfrm>
            <a:off x="713232" y="1874520"/>
            <a:ext cx="1261872" cy="4114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980">
                <a:b/>
                <a:solidFill>
                  <a:srgbClr val="1E3A8A"/>
                </a:solidFill>
              </a:rPr>
              <a:t>Q-learning</a:t>
            </a:r>
            <a:endParaRPr lang="en-US" sz="980"/>
          </a:p>
        </p:txBody>
      </p:sp>
      <p:sp>
        <p:nvSpPr>
          <p:cNvPr id="41" name="why Q-learning"/>
          <p:cNvSpPr txBox="1"/>
          <p:nvPr/>
        </p:nvSpPr>
        <p:spPr>
          <a:xfrm>
            <a:off x="2212848" y="1865376"/>
            <a:ext cx="4617720" cy="5029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880">
                <a:solidFill>
                  <a:srgbClr val="334155"/>
                </a:solidFill>
              </a:rPr>
              <a:t>Works best for small discrete states/actions; continuous battery power would need coarse discretization.</a:t>
            </a:r>
            <a:endParaRPr lang="en-US" sz="880"/>
          </a:p>
        </p:txBody>
      </p:sp>
      <p:cxnSp>
        <p:nvCxnSpPr>
          <p:cNvPr id="60" name="row line 0"/>
          <p:cNvCxnSpPr/>
          <p:nvPr/>
        </p:nvCxnSpPr>
        <p:spPr>
          <a:xfrm>
            <a:off x="640080" y="2450592"/>
            <a:ext cx="6419088" cy="0"/>
          </a:xfrm>
          <a:prstGeom prst="line">
            <a:avLst/>
          </a:prstGeom>
          <a:ln w="6350">
            <a:solidFill>
              <a:srgbClr val="E2E8F0"/>
            </a:solidFill>
          </a:ln>
        </p:spPr>
      </p:cxnSp>
      <p:sp>
        <p:nvSpPr>
          <p:cNvPr id="31" name="row shade 1"/>
          <p:cNvSpPr/>
          <p:nvPr/>
        </p:nvSpPr>
        <p:spPr>
          <a:xfrm>
            <a:off x="621792" y="2514600"/>
            <a:ext cx="644652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42" name="alg DQN"/>
          <p:cNvSpPr txBox="1"/>
          <p:nvPr/>
        </p:nvSpPr>
        <p:spPr>
          <a:xfrm>
            <a:off x="713232" y="2587752"/>
            <a:ext cx="1261872" cy="411480"/>
          </a:xfrm>
          <a:prstGeom prst="rect">
            <a:avLst/>
          </a:prstGeom>
          <a:solidFill>
            <a:srgbClr val="F8FAFC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980">
                <a:b/>
                <a:solidFill>
                  <a:srgbClr val="1E3A8A"/>
                </a:solidFill>
              </a:rPr>
              <a:t>DQN</a:t>
            </a:r>
            <a:endParaRPr lang="en-US" sz="980"/>
          </a:p>
        </p:txBody>
      </p:sp>
      <p:sp>
        <p:nvSpPr>
          <p:cNvPr id="43" name="why DQN"/>
          <p:cNvSpPr txBox="1"/>
          <p:nvPr/>
        </p:nvSpPr>
        <p:spPr>
          <a:xfrm>
            <a:off x="2212848" y="2578608"/>
            <a:ext cx="4617720" cy="502920"/>
          </a:xfrm>
          <a:prstGeom prst="rect">
            <a:avLst/>
          </a:prstGeom>
          <a:solidFill>
            <a:srgbClr val="F8FAFC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880">
                <a:solidFill>
                  <a:srgbClr val="334155"/>
                </a:solidFill>
              </a:rPr>
              <a:t>Deep version of Q-learning, but still mainly discrete-action; loses precise setpoint control.</a:t>
            </a:r>
            <a:endParaRPr lang="en-US" sz="880"/>
          </a:p>
        </p:txBody>
      </p:sp>
      <p:cxnSp>
        <p:nvCxnSpPr>
          <p:cNvPr id="61" name="row line 1"/>
          <p:cNvCxnSpPr/>
          <p:nvPr/>
        </p:nvCxnSpPr>
        <p:spPr>
          <a:xfrm>
            <a:off x="640080" y="3163824"/>
            <a:ext cx="6419088" cy="0"/>
          </a:xfrm>
          <a:prstGeom prst="line">
            <a:avLst/>
          </a:prstGeom>
          <a:ln w="6350">
            <a:solidFill>
              <a:srgbClr val="E2E8F0"/>
            </a:solidFill>
          </a:ln>
        </p:spPr>
      </p:cxnSp>
      <p:sp>
        <p:nvSpPr>
          <p:cNvPr id="44" name="alg PPO"/>
          <p:cNvSpPr txBox="1"/>
          <p:nvPr/>
        </p:nvSpPr>
        <p:spPr>
          <a:xfrm>
            <a:off x="713232" y="3300984"/>
            <a:ext cx="1261872" cy="4114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980">
                <a:b/>
                <a:solidFill>
                  <a:srgbClr val="1E3A8A"/>
                </a:solidFill>
              </a:rPr>
              <a:t>PPO</a:t>
            </a:r>
            <a:endParaRPr lang="en-US" sz="980"/>
          </a:p>
        </p:txBody>
      </p:sp>
      <p:sp>
        <p:nvSpPr>
          <p:cNvPr id="45" name="why PPO"/>
          <p:cNvSpPr txBox="1"/>
          <p:nvPr/>
        </p:nvSpPr>
        <p:spPr>
          <a:xfrm>
            <a:off x="2212848" y="3291840"/>
            <a:ext cx="4617720" cy="5029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880">
                <a:solidFill>
                  <a:srgbClr val="334155"/>
                </a:solidFill>
              </a:rPr>
              <a:t>Can handle continuous actions and is stable, but on-policy learning usually needs more fresh simulation data.</a:t>
            </a:r>
            <a:endParaRPr lang="en-US" sz="880"/>
          </a:p>
        </p:txBody>
      </p:sp>
      <p:cxnSp>
        <p:nvCxnSpPr>
          <p:cNvPr id="62" name="row line 2"/>
          <p:cNvCxnSpPr/>
          <p:nvPr/>
        </p:nvCxnSpPr>
        <p:spPr>
          <a:xfrm>
            <a:off x="640080" y="3877056"/>
            <a:ext cx="6419088" cy="0"/>
          </a:xfrm>
          <a:prstGeom prst="line">
            <a:avLst/>
          </a:prstGeom>
          <a:ln w="6350">
            <a:solidFill>
              <a:srgbClr val="E2E8F0"/>
            </a:solidFill>
          </a:ln>
        </p:spPr>
      </p:cxnSp>
      <p:sp>
        <p:nvSpPr>
          <p:cNvPr id="33" name="row shade 3"/>
          <p:cNvSpPr/>
          <p:nvPr/>
        </p:nvSpPr>
        <p:spPr>
          <a:xfrm>
            <a:off x="621792" y="3941064"/>
            <a:ext cx="644652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46" name="alg DDPG"/>
          <p:cNvSpPr txBox="1"/>
          <p:nvPr/>
        </p:nvSpPr>
        <p:spPr>
          <a:xfrm>
            <a:off x="713232" y="4014216"/>
            <a:ext cx="1261872" cy="411480"/>
          </a:xfrm>
          <a:prstGeom prst="rect">
            <a:avLst/>
          </a:prstGeom>
          <a:solidFill>
            <a:srgbClr val="F8FAFC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980">
                <a:b/>
                <a:solidFill>
                  <a:srgbClr val="1E3A8A"/>
                </a:solidFill>
              </a:rPr>
              <a:t>DDPG</a:t>
            </a:r>
            <a:endParaRPr lang="en-US" sz="980"/>
          </a:p>
        </p:txBody>
      </p:sp>
      <p:sp>
        <p:nvSpPr>
          <p:cNvPr id="47" name="why DDPG"/>
          <p:cNvSpPr txBox="1"/>
          <p:nvPr/>
        </p:nvSpPr>
        <p:spPr>
          <a:xfrm>
            <a:off x="2212848" y="4005072"/>
            <a:ext cx="4617720" cy="502920"/>
          </a:xfrm>
          <a:prstGeom prst="rect">
            <a:avLst/>
          </a:prstGeom>
          <a:solidFill>
            <a:srgbClr val="F8FAFC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880">
                <a:solidFill>
                  <a:srgbClr val="334155"/>
                </a:solidFill>
              </a:rPr>
              <a:t>Continuous and off-policy, but deterministic exploration can be fragile for price-driven storage policies.</a:t>
            </a:r>
            <a:endParaRPr lang="en-US" sz="880"/>
          </a:p>
        </p:txBody>
      </p:sp>
      <p:cxnSp>
        <p:nvCxnSpPr>
          <p:cNvPr id="63" name="row line 3"/>
          <p:cNvCxnSpPr/>
          <p:nvPr/>
        </p:nvCxnSpPr>
        <p:spPr>
          <a:xfrm>
            <a:off x="640080" y="4590288"/>
            <a:ext cx="6419088" cy="0"/>
          </a:xfrm>
          <a:prstGeom prst="line">
            <a:avLst/>
          </a:prstGeom>
          <a:ln w="6350">
            <a:solidFill>
              <a:srgbClr val="E2E8F0"/>
            </a:solidFill>
          </a:ln>
        </p:spPr>
      </p:cxnSp>
      <p:sp>
        <p:nvSpPr>
          <p:cNvPr id="48" name="alg TD3"/>
          <p:cNvSpPr txBox="1"/>
          <p:nvPr/>
        </p:nvSpPr>
        <p:spPr>
          <a:xfrm>
            <a:off x="713232" y="4727448"/>
            <a:ext cx="1261872" cy="4114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980">
                <a:b/>
                <a:solidFill>
                  <a:srgbClr val="1E3A8A"/>
                </a:solidFill>
              </a:rPr>
              <a:t>TD3</a:t>
            </a:r>
            <a:endParaRPr lang="en-US" sz="980"/>
          </a:p>
        </p:txBody>
      </p:sp>
      <p:sp>
        <p:nvSpPr>
          <p:cNvPr id="49" name="why TD3"/>
          <p:cNvSpPr txBox="1"/>
          <p:nvPr/>
        </p:nvSpPr>
        <p:spPr>
          <a:xfrm>
            <a:off x="2212848" y="4718304"/>
            <a:ext cx="4617720" cy="5029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880">
                <a:solidFill>
                  <a:srgbClr val="334155"/>
                </a:solidFill>
              </a:rPr>
              <a:t>Strong deterministic baseline, but SAC gives more deliberate exploration through entropy regularization.</a:t>
            </a:r>
            <a:endParaRPr lang="en-US" sz="880"/>
          </a:p>
        </p:txBody>
      </p:sp>
      <p:cxnSp>
        <p:nvCxnSpPr>
          <p:cNvPr id="64" name="row line 4"/>
          <p:cNvCxnSpPr/>
          <p:nvPr/>
        </p:nvCxnSpPr>
        <p:spPr>
          <a:xfrm>
            <a:off x="640080" y="5303520"/>
            <a:ext cx="6419088" cy="0"/>
          </a:xfrm>
          <a:prstGeom prst="line">
            <a:avLst/>
          </a:prstGeom>
          <a:ln w="6350">
            <a:solidFill>
              <a:srgbClr val="E2E8F0"/>
            </a:solidFill>
          </a:ln>
        </p:spPr>
      </p:cxnSp>
      <p:sp>
        <p:nvSpPr>
          <p:cNvPr id="80" name="sac fit title"/>
          <p:cNvSpPr txBox="1"/>
          <p:nvPr/>
        </p:nvSpPr>
        <p:spPr>
          <a:xfrm>
            <a:off x="7754112" y="1389888"/>
            <a:ext cx="3794760" cy="320040"/>
          </a:xfrm>
          <a:prstGeom prst="rect">
            <a:avLst/>
          </a:prstGeom>
          <a:solidFill>
            <a:srgbClr val="EFF6FF"/>
          </a:solidFill>
          <a:ln w="0">
            <a:solidFill>
              <a:srgbClr val="EFF6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300">
                <a:b/>
                <a:solidFill>
                  <a:srgbClr val="1E3A8A"/>
                </a:solidFill>
              </a:rPr>
              <a:t>Why SAC fits this thesis</a:t>
            </a:r>
            <a:endParaRPr lang="en-US" sz="1300"/>
          </a:p>
        </p:txBody>
      </p:sp>
      <p:sp>
        <p:nvSpPr>
          <p:cNvPr id="81" name="sac bullets"/>
          <p:cNvSpPr txBox="1"/>
          <p:nvPr/>
        </p:nvSpPr>
        <p:spPr>
          <a:xfrm>
            <a:off x="7754112" y="1847088"/>
            <a:ext cx="3730752" cy="2697480"/>
          </a:xfrm>
          <a:prstGeom prst="rect">
            <a:avLst/>
          </a:prstGeom>
          <a:solidFill>
            <a:srgbClr val="EFF6FF"/>
          </a:solidFill>
          <a:ln w="0">
            <a:solidFill>
              <a:srgbClr val="EFF6FF"/>
            </a:solidFill>
          </a:ln>
        </p:spPr>
        <p:txBody>
          <a:bodyPr wrap="square" lIns="18288" tIns="18288" rIns="18288" bIns="18288" anchor="t"/>
          <a:lstStyle/>
          <a:p>
            <a:pPr marL="228600" indent="-171450">
              <a:buChar char="•"/>
            </a:pPr>
            <a:r>
              <a:rPr lang="en-US" sz="980">
                <a:solidFill>
                  <a:srgbClr val="334155"/>
                </a:solidFill>
              </a:rPr>
              <a:t>Continuous actor outputs the charge/discharge setpoint directly</a:t>
            </a:r>
            <a:endParaRPr lang="en-US" sz="980"/>
          </a:p>
          <a:p>
            <a:pPr marL="228600" indent="-171450">
              <a:buChar char="•"/>
            </a:pPr>
            <a:r>
              <a:rPr lang="en-US" sz="980">
                <a:solidFill>
                  <a:srgbClr val="334155"/>
                </a:solidFill>
              </a:rPr>
              <a:t>Off-policy replay reuses simulation data efficiently</a:t>
            </a:r>
            <a:endParaRPr lang="en-US" sz="980"/>
          </a:p>
          <a:p>
            <a:pPr marL="228600" indent="-171450">
              <a:buChar char="•"/>
            </a:pPr>
            <a:r>
              <a:rPr lang="en-US" sz="980">
                <a:solidFill>
                  <a:srgbClr val="334155"/>
                </a:solidFill>
              </a:rPr>
              <a:t>Entropy term keeps exploration alive during price spikes and SOC trade-offs</a:t>
            </a:r>
            <a:endParaRPr lang="en-US" sz="980"/>
          </a:p>
          <a:p>
            <a:pPr marL="228600" indent="-171450">
              <a:buChar char="•"/>
            </a:pPr>
            <a:r>
              <a:rPr lang="en-US" sz="980">
                <a:solidFill>
                  <a:srgbClr val="334155"/>
                </a:solidFill>
              </a:rPr>
              <a:t>After training, inference is a direct state-to-action mapping</a:t>
            </a:r>
            <a:endParaRPr lang="en-US" sz="980"/>
          </a:p>
          <a:p>
            <a:pPr marL="228600" indent="-171450">
              <a:buChar char="•"/>
            </a:pPr>
            <a:r>
              <a:rPr lang="en-US" sz="980">
                <a:solidFill>
                  <a:srgbClr val="334155"/>
                </a:solidFill>
              </a:rPr>
              <a:t>Same algorithm family can scale from battery power to cookie-factory continuous controls</a:t>
            </a:r>
            <a:endParaRPr lang="en-US" sz="980"/>
          </a:p>
        </p:txBody>
      </p:sp>
      <p:sp>
        <p:nvSpPr>
          <p:cNvPr id="82" name="takeaway box"/>
          <p:cNvSpPr/>
          <p:nvPr/>
        </p:nvSpPr>
        <p:spPr>
          <a:xfrm>
            <a:off x="7818120" y="5074920"/>
            <a:ext cx="3703320" cy="749808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</p:spPr>
        <p:txBody>
          <a:bodyPr/>
          <a:lstStyle/>
          <a:p/>
        </p:txBody>
      </p:sp>
      <p:sp>
        <p:nvSpPr>
          <p:cNvPr id="83" name="sac takeaway"/>
          <p:cNvSpPr txBox="1"/>
          <p:nvPr/>
        </p:nvSpPr>
        <p:spPr>
          <a:xfrm>
            <a:off x="7973568" y="5193792"/>
            <a:ext cx="3401568" cy="438912"/>
          </a:xfrm>
          <a:prstGeom prst="rect">
            <a:avLst/>
          </a:prstGeom>
          <a:solidFill>
            <a:srgbClr val="DBEAFE"/>
          </a:solidFill>
          <a:ln w="0">
            <a:solidFill>
              <a:srgbClr val="DBEAFE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930">
                <a:b/>
                <a:solidFill>
                  <a:srgbClr val="0F172A"/>
                </a:solidFill>
              </a:rPr>
              <a:t>SAC was chosen for fit, not because simpler RL is invalid: it matches continuous, constrained, time-coupled energy setpoints.</a:t>
            </a:r>
            <a:endParaRPr lang="en-US" sz="930"/>
          </a:p>
        </p:txBody>
      </p:sp>
      <p:sp>
        <p:nvSpPr>
          <p:cNvPr id="84" name="footer"/>
          <p:cNvSpPr txBox="1"/>
          <p:nvPr/>
        </p:nvSpPr>
        <p:spPr>
          <a:xfrm>
            <a:off x="566928" y="6382512"/>
            <a:ext cx="10972800" cy="201168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820">
                <a:solidFill>
                  <a:srgbClr val="64748B"/>
                </a:solidFill>
              </a:rPr>
              <a:t>Speaker note: mention that Q-learning is useful pedagogically, but discretizing power and SOC would make the policy less precise and harder to scale.</a:t>
            </a:r>
            <a:endParaRPr lang="en-US" sz="8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0" name="title"/>
          <p:cNvSpPr txBox="1"/>
          <p:nvPr/>
        </p:nvSpPr>
        <p:spPr>
          <a:xfrm>
            <a:off x="384048" y="164592"/>
            <a:ext cx="11155680" cy="50292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3000">
                <a:b/>
                <a:solidFill>
                  <a:srgbClr val="0F172A"/>
                </a:solidFill>
              </a:rPr>
              <a:t>Next Step: Compare Reward Signals</a:t>
            </a:r>
            <a:endParaRPr lang="en-US" sz="3000"/>
          </a:p>
        </p:txBody>
      </p:sp>
      <p:sp>
        <p:nvSpPr>
          <p:cNvPr id="11" name="subtitle"/>
          <p:cNvSpPr txBox="1"/>
          <p:nvPr/>
        </p:nvSpPr>
        <p:spPr>
          <a:xfrm>
            <a:off x="402336" y="658368"/>
            <a:ext cx="11064240" cy="301752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200">
                <a:solidFill>
                  <a:srgbClr val="475569"/>
                </a:solidFill>
              </a:rPr>
              <a:t>Goal: identify whether policy quality is limited by the SAC algorithm, reward design, or constraint handling</a:t>
            </a:r>
            <a:endParaRPr lang="en-US" sz="1200"/>
          </a:p>
        </p:txBody>
      </p:sp>
      <p:sp>
        <p:nvSpPr>
          <p:cNvPr id="20" name="experiment panel"/>
          <p:cNvSpPr/>
          <p:nvPr/>
        </p:nvSpPr>
        <p:spPr>
          <a:xfrm>
            <a:off x="438912" y="1143000"/>
            <a:ext cx="3401568" cy="4983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1" name="reward panel"/>
          <p:cNvSpPr/>
          <p:nvPr/>
        </p:nvSpPr>
        <p:spPr>
          <a:xfrm>
            <a:off x="4041648" y="1143000"/>
            <a:ext cx="3840480" cy="4983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2" name="metrics panel"/>
          <p:cNvSpPr/>
          <p:nvPr/>
        </p:nvSpPr>
        <p:spPr>
          <a:xfrm>
            <a:off x="8083296" y="1143000"/>
            <a:ext cx="3703320" cy="49834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/>
          <a:lstStyle/>
          <a:p/>
        </p:txBody>
      </p:sp>
      <p:sp>
        <p:nvSpPr>
          <p:cNvPr id="30" name="experiment title"/>
          <p:cNvSpPr txBox="1"/>
          <p:nvPr/>
        </p:nvSpPr>
        <p:spPr>
          <a:xfrm>
            <a:off x="658368" y="1353312"/>
            <a:ext cx="2971800" cy="2743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300">
                <a:b/>
                <a:solidFill>
                  <a:srgbClr val="0F172A"/>
                </a:solidFill>
              </a:rPr>
              <a:t>Experimental design</a:t>
            </a:r>
            <a:endParaRPr lang="en-US" sz="1300"/>
          </a:p>
        </p:txBody>
      </p:sp>
      <p:sp>
        <p:nvSpPr>
          <p:cNvPr id="31" name="experiment bullets"/>
          <p:cNvSpPr txBox="1"/>
          <p:nvPr/>
        </p:nvSpPr>
        <p:spPr>
          <a:xfrm>
            <a:off x="658368" y="1810512"/>
            <a:ext cx="2907792" cy="31546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18288" tIns="18288" rIns="18288" bIns="18288" anchor="t"/>
          <a:lstStyle/>
          <a:p>
            <a:pPr marL="228600" indent="-171450">
              <a:buChar char="•"/>
            </a:pPr>
            <a:r>
              <a:rPr lang="en-US" sz="950">
                <a:solidFill>
                  <a:srgbClr val="334155"/>
                </a:solidFill>
              </a:rPr>
              <a:t>Keep SAC, model architecture, training budget and price windows fixed</a:t>
            </a:r>
            <a:endParaRPr lang="en-US" sz="950"/>
          </a:p>
          <a:p>
            <a:pPr marL="228600" indent="-171450">
              <a:buChar char="•"/>
            </a:pPr>
            <a:r>
              <a:rPr lang="en-US" sz="950">
                <a:solidFill>
                  <a:srgbClr val="334155"/>
                </a:solidFill>
              </a:rPr>
              <a:t>Train each reward variant over multiple seeds</a:t>
            </a:r>
            <a:endParaRPr lang="en-US" sz="950"/>
          </a:p>
          <a:p>
            <a:pPr marL="228600" indent="-171450">
              <a:buChar char="•"/>
            </a:pPr>
            <a:r>
              <a:rPr lang="en-US" sz="950">
                <a:solidFill>
                  <a:srgbClr val="334155"/>
                </a:solidFill>
              </a:rPr>
              <a:t>Evaluate on unseen 24h windows</a:t>
            </a:r>
            <a:endParaRPr lang="en-US" sz="950"/>
          </a:p>
          <a:p>
            <a:pPr marL="228600" indent="-171450">
              <a:buChar char="•"/>
            </a:pPr>
            <a:r>
              <a:rPr lang="en-US" sz="950">
                <a:solidFill>
                  <a:srgbClr val="334155"/>
                </a:solidFill>
              </a:rPr>
              <a:t>Compare against Pyomo/IPOPT baseline</a:t>
            </a:r>
            <a:endParaRPr lang="en-US" sz="950"/>
          </a:p>
          <a:p>
            <a:pPr marL="228600" indent="-171450">
              <a:buChar char="•"/>
            </a:pPr>
            <a:r>
              <a:rPr lang="en-US" sz="950">
                <a:solidFill>
                  <a:srgbClr val="334155"/>
                </a:solidFill>
              </a:rPr>
              <a:t>Use the same metrics for battery and cookie-factory studies</a:t>
            </a:r>
            <a:endParaRPr lang="en-US" sz="950"/>
          </a:p>
        </p:txBody>
      </p:sp>
      <p:sp>
        <p:nvSpPr>
          <p:cNvPr id="32" name="control box"/>
          <p:cNvSpPr/>
          <p:nvPr/>
        </p:nvSpPr>
        <p:spPr>
          <a:xfrm>
            <a:off x="713232" y="5266944"/>
            <a:ext cx="2761488" cy="502920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3" name="control text"/>
          <p:cNvSpPr txBox="1"/>
          <p:nvPr/>
        </p:nvSpPr>
        <p:spPr>
          <a:xfrm>
            <a:off x="822960" y="5376672"/>
            <a:ext cx="2542032" cy="228600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850">
                <a:b/>
                <a:solidFill>
                  <a:srgbClr val="0F172A"/>
                </a:solidFill>
              </a:rPr>
              <a:t>Control variable: only reward changes</a:t>
            </a:r>
            <a:endParaRPr lang="en-US" sz="850"/>
          </a:p>
        </p:txBody>
      </p:sp>
      <p:sp>
        <p:nvSpPr>
          <p:cNvPr id="40" name="reward title"/>
          <p:cNvSpPr txBox="1"/>
          <p:nvPr/>
        </p:nvSpPr>
        <p:spPr>
          <a:xfrm>
            <a:off x="4261104" y="1353312"/>
            <a:ext cx="3401568" cy="2743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300">
                <a:b/>
                <a:solidFill>
                  <a:srgbClr val="0F172A"/>
                </a:solidFill>
              </a:rPr>
              <a:t>Reward variants to test</a:t>
            </a:r>
            <a:endParaRPr lang="en-US" sz="1300"/>
          </a:p>
        </p:txBody>
      </p:sp>
      <p:cxnSp>
        <p:nvCxnSpPr>
          <p:cNvPr id="41" name="reward separator"/>
          <p:cNvCxnSpPr/>
          <p:nvPr/>
        </p:nvCxnSpPr>
        <p:spPr>
          <a:xfrm>
            <a:off x="4315968" y="1737360"/>
            <a:ext cx="3291840" cy="0"/>
          </a:xfrm>
          <a:prstGeom prst="line">
            <a:avLst/>
          </a:prstGeom>
          <a:ln w="6350">
            <a:solidFill>
              <a:srgbClr val="E2E8F0"/>
            </a:solidFill>
          </a:ln>
        </p:spPr>
      </p:cxnSp>
      <p:sp>
        <p:nvSpPr>
          <p:cNvPr id="50" name="reward row 0"/>
          <p:cNvSpPr/>
          <p:nvPr/>
        </p:nvSpPr>
        <p:spPr>
          <a:xfrm>
            <a:off x="4279392" y="1847088"/>
            <a:ext cx="3364992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60" name="reward name 0"/>
          <p:cNvSpPr txBox="1"/>
          <p:nvPr/>
        </p:nvSpPr>
        <p:spPr>
          <a:xfrm>
            <a:off x="4407408" y="1920240"/>
            <a:ext cx="1508760" cy="219456"/>
          </a:xfrm>
          <a:prstGeom prst="rect">
            <a:avLst/>
          </a:prstGeom>
          <a:solidFill>
            <a:srgbClr val="F8FAFC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880">
                <a:b/>
                <a:solidFill>
                  <a:srgbClr val="1E3A8A"/>
                </a:solidFill>
              </a:rPr>
              <a:t>1. Cost only</a:t>
            </a:r>
            <a:endParaRPr lang="en-US" sz="880"/>
          </a:p>
        </p:txBody>
      </p:sp>
      <p:sp>
        <p:nvSpPr>
          <p:cNvPr id="61" name="reward detail 0"/>
          <p:cNvSpPr txBox="1"/>
          <p:nvPr/>
        </p:nvSpPr>
        <p:spPr>
          <a:xfrm>
            <a:off x="4407408" y="2148840"/>
            <a:ext cx="2999232" cy="201168"/>
          </a:xfrm>
          <a:prstGeom prst="rect">
            <a:avLst/>
          </a:prstGeom>
          <a:solidFill>
            <a:srgbClr val="F8FAFC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760">
                <a:solidFill>
                  <a:srgbClr val="475569"/>
                </a:solidFill>
              </a:rPr>
              <a:t>r = - grid cost</a:t>
            </a:r>
            <a:endParaRPr lang="en-US" sz="760"/>
          </a:p>
        </p:txBody>
      </p:sp>
      <p:sp>
        <p:nvSpPr>
          <p:cNvPr id="62" name="reward name 1"/>
          <p:cNvSpPr txBox="1"/>
          <p:nvPr/>
        </p:nvSpPr>
        <p:spPr>
          <a:xfrm>
            <a:off x="4407408" y="2578608"/>
            <a:ext cx="1508760" cy="219456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880">
                <a:b/>
                <a:solidFill>
                  <a:srgbClr val="1E3A8A"/>
                </a:solidFill>
              </a:rPr>
              <a:t>2. Cost + constraints</a:t>
            </a:r>
            <a:endParaRPr lang="en-US" sz="880"/>
          </a:p>
        </p:txBody>
      </p:sp>
      <p:sp>
        <p:nvSpPr>
          <p:cNvPr id="63" name="reward detail 1"/>
          <p:cNvSpPr txBox="1"/>
          <p:nvPr/>
        </p:nvSpPr>
        <p:spPr>
          <a:xfrm>
            <a:off x="4407408" y="2807208"/>
            <a:ext cx="2999232" cy="201168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760">
                <a:solidFill>
                  <a:srgbClr val="475569"/>
                </a:solidFill>
              </a:rPr>
              <a:t>penalize SOC/TES, mode and coupling violations</a:t>
            </a:r>
            <a:endParaRPr lang="en-US" sz="760"/>
          </a:p>
        </p:txBody>
      </p:sp>
      <p:sp>
        <p:nvSpPr>
          <p:cNvPr id="52" name="reward row 2"/>
          <p:cNvSpPr/>
          <p:nvPr/>
        </p:nvSpPr>
        <p:spPr>
          <a:xfrm>
            <a:off x="4279392" y="3163824"/>
            <a:ext cx="3364992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64" name="reward name 2"/>
          <p:cNvSpPr txBox="1"/>
          <p:nvPr/>
        </p:nvSpPr>
        <p:spPr>
          <a:xfrm>
            <a:off x="4407408" y="3236976"/>
            <a:ext cx="1508760" cy="219456"/>
          </a:xfrm>
          <a:prstGeom prst="rect">
            <a:avLst/>
          </a:prstGeom>
          <a:solidFill>
            <a:srgbClr val="F8FAFC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880">
                <a:b/>
                <a:solidFill>
                  <a:srgbClr val="1E3A8A"/>
                </a:solidFill>
              </a:rPr>
              <a:t>3. Terminal storage</a:t>
            </a:r>
            <a:endParaRPr lang="en-US" sz="880"/>
          </a:p>
        </p:txBody>
      </p:sp>
      <p:sp>
        <p:nvSpPr>
          <p:cNvPr id="65" name="reward detail 2"/>
          <p:cNvSpPr txBox="1"/>
          <p:nvPr/>
        </p:nvSpPr>
        <p:spPr>
          <a:xfrm>
            <a:off x="4407408" y="3465576"/>
            <a:ext cx="2999232" cy="201168"/>
          </a:xfrm>
          <a:prstGeom prst="rect">
            <a:avLst/>
          </a:prstGeom>
          <a:solidFill>
            <a:srgbClr val="F8FAFC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760">
                <a:solidFill>
                  <a:srgbClr val="475569"/>
                </a:solidFill>
              </a:rPr>
              <a:t>penalize |final state - initial state|</a:t>
            </a:r>
            <a:endParaRPr lang="en-US" sz="760"/>
          </a:p>
        </p:txBody>
      </p:sp>
      <p:sp>
        <p:nvSpPr>
          <p:cNvPr id="66" name="reward name 3"/>
          <p:cNvSpPr txBox="1"/>
          <p:nvPr/>
        </p:nvSpPr>
        <p:spPr>
          <a:xfrm>
            <a:off x="4407408" y="3895344"/>
            <a:ext cx="1508760" cy="219456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880">
                <a:b/>
                <a:solidFill>
                  <a:srgbClr val="1E3A8A"/>
                </a:solidFill>
              </a:rPr>
              <a:t>4. Normalized reward</a:t>
            </a:r>
            <a:endParaRPr lang="en-US" sz="880"/>
          </a:p>
        </p:txBody>
      </p:sp>
      <p:sp>
        <p:nvSpPr>
          <p:cNvPr id="67" name="reward detail 3"/>
          <p:cNvSpPr txBox="1"/>
          <p:nvPr/>
        </p:nvSpPr>
        <p:spPr>
          <a:xfrm>
            <a:off x="4407408" y="4123944"/>
            <a:ext cx="2999232" cy="201168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760">
                <a:solidFill>
                  <a:srgbClr val="475569"/>
                </a:solidFill>
              </a:rPr>
              <a:t>scale costs/penalties for steadier SAC updates</a:t>
            </a:r>
            <a:endParaRPr lang="en-US" sz="760"/>
          </a:p>
        </p:txBody>
      </p:sp>
      <p:sp>
        <p:nvSpPr>
          <p:cNvPr id="54" name="reward row 4"/>
          <p:cNvSpPr/>
          <p:nvPr/>
        </p:nvSpPr>
        <p:spPr>
          <a:xfrm>
            <a:off x="4279392" y="4480560"/>
            <a:ext cx="3364992" cy="566928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68" name="reward name 4"/>
          <p:cNvSpPr txBox="1"/>
          <p:nvPr/>
        </p:nvSpPr>
        <p:spPr>
          <a:xfrm>
            <a:off x="4407408" y="4553712"/>
            <a:ext cx="1508760" cy="219456"/>
          </a:xfrm>
          <a:prstGeom prst="rect">
            <a:avLst/>
          </a:prstGeom>
          <a:solidFill>
            <a:srgbClr val="F8FAFC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880">
                <a:b/>
                <a:solidFill>
                  <a:srgbClr val="1E3A8A"/>
                </a:solidFill>
              </a:rPr>
              <a:t>5. Shaped reward</a:t>
            </a:r>
            <a:endParaRPr lang="en-US" sz="880"/>
          </a:p>
        </p:txBody>
      </p:sp>
      <p:sp>
        <p:nvSpPr>
          <p:cNvPr id="69" name="reward detail 4"/>
          <p:cNvSpPr txBox="1"/>
          <p:nvPr/>
        </p:nvSpPr>
        <p:spPr>
          <a:xfrm>
            <a:off x="4407408" y="4782312"/>
            <a:ext cx="2999232" cy="201168"/>
          </a:xfrm>
          <a:prstGeom prst="rect">
            <a:avLst/>
          </a:prstGeom>
          <a:solidFill>
            <a:srgbClr val="F8FAFC"/>
          </a:solidFill>
          <a:ln w="0">
            <a:solidFill>
              <a:srgbClr val="FFFFFF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760">
                <a:solidFill>
                  <a:srgbClr val="475569"/>
                </a:solidFill>
              </a:rPr>
              <a:t>small step-wise guidance for feasible storage behavior</a:t>
            </a:r>
            <a:endParaRPr lang="en-US" sz="760"/>
          </a:p>
        </p:txBody>
      </p:sp>
      <p:sp>
        <p:nvSpPr>
          <p:cNvPr id="75" name="reward deliverable"/>
          <p:cNvSpPr/>
          <p:nvPr/>
        </p:nvSpPr>
        <p:spPr>
          <a:xfrm>
            <a:off x="4315968" y="5376672"/>
            <a:ext cx="3273552" cy="384048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</p:spPr>
        <p:txBody>
          <a:bodyPr/>
          <a:lstStyle/>
          <a:p/>
        </p:txBody>
      </p:sp>
      <p:sp>
        <p:nvSpPr>
          <p:cNvPr id="76" name="reward deliverable text"/>
          <p:cNvSpPr txBox="1"/>
          <p:nvPr/>
        </p:nvSpPr>
        <p:spPr>
          <a:xfrm>
            <a:off x="4425696" y="5468112"/>
            <a:ext cx="3054096" cy="164592"/>
          </a:xfrm>
          <a:prstGeom prst="rect">
            <a:avLst/>
          </a:prstGeom>
          <a:solidFill>
            <a:srgbClr val="DBEAFE"/>
          </a:solidFill>
          <a:ln w="0">
            <a:solidFill>
              <a:srgbClr val="DBEAFE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800">
                <a:b/>
                <a:solidFill>
                  <a:srgbClr val="0F172A"/>
                </a:solidFill>
              </a:rPr>
              <a:t>Deliverable: cost-feasibility trade-off plot</a:t>
            </a:r>
            <a:endParaRPr lang="en-US" sz="800"/>
          </a:p>
        </p:txBody>
      </p:sp>
      <p:sp>
        <p:nvSpPr>
          <p:cNvPr id="80" name="metrics title"/>
          <p:cNvSpPr txBox="1"/>
          <p:nvPr/>
        </p:nvSpPr>
        <p:spPr>
          <a:xfrm>
            <a:off x="8302752" y="1353312"/>
            <a:ext cx="3246120" cy="274320"/>
          </a:xfrm>
          <a:prstGeom prst="rect">
            <a:avLst/>
          </a:prstGeom>
          <a:solidFill>
            <a:srgbClr val="EFF6FF"/>
          </a:solidFill>
          <a:ln w="0">
            <a:solidFill>
              <a:srgbClr val="EFF6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300">
                <a:b/>
                <a:solidFill>
                  <a:srgbClr val="1E3A8A"/>
                </a:solidFill>
              </a:rPr>
              <a:t>What to measure</a:t>
            </a:r>
            <a:endParaRPr lang="en-US" sz="1300"/>
          </a:p>
        </p:txBody>
      </p:sp>
      <p:sp>
        <p:nvSpPr>
          <p:cNvPr id="81" name="metrics bullets"/>
          <p:cNvSpPr txBox="1"/>
          <p:nvPr/>
        </p:nvSpPr>
        <p:spPr>
          <a:xfrm>
            <a:off x="8302752" y="1810512"/>
            <a:ext cx="3182112" cy="2514600"/>
          </a:xfrm>
          <a:prstGeom prst="rect">
            <a:avLst/>
          </a:prstGeom>
          <a:solidFill>
            <a:srgbClr val="EFF6FF"/>
          </a:solidFill>
          <a:ln w="0">
            <a:solidFill>
              <a:srgbClr val="EFF6FF"/>
            </a:solidFill>
          </a:ln>
        </p:spPr>
        <p:txBody>
          <a:bodyPr wrap="square" lIns="18288" tIns="18288" rIns="18288" bIns="18288" anchor="t"/>
          <a:lstStyle/>
          <a:p>
            <a:pPr marL="228600" indent="-171450">
              <a:buChar char="•"/>
            </a:pPr>
            <a:r>
              <a:rPr lang="en-US" sz="950">
                <a:solidFill>
                  <a:srgbClr val="334155"/>
                </a:solidFill>
              </a:rPr>
              <a:t>Total operating cost</a:t>
            </a:r>
            <a:endParaRPr lang="en-US" sz="950"/>
          </a:p>
          <a:p>
            <a:pPr marL="228600" indent="-171450">
              <a:buChar char="•"/>
            </a:pPr>
            <a:r>
              <a:rPr lang="en-US" sz="950">
                <a:solidFill>
                  <a:srgbClr val="334155"/>
                </a:solidFill>
              </a:rPr>
              <a:t>Constraint violation frequency and magnitude</a:t>
            </a:r>
            <a:endParaRPr lang="en-US" sz="950"/>
          </a:p>
          <a:p>
            <a:pPr marL="228600" indent="-171450">
              <a:buChar char="•"/>
            </a:pPr>
            <a:r>
              <a:rPr lang="en-US" sz="950">
                <a:solidFill>
                  <a:srgbClr val="334155"/>
                </a:solidFill>
              </a:rPr>
              <a:t>Terminal SOC / TES error</a:t>
            </a:r>
            <a:endParaRPr lang="en-US" sz="950"/>
          </a:p>
          <a:p>
            <a:pPr marL="228600" indent="-171450">
              <a:buChar char="•"/>
            </a:pPr>
            <a:r>
              <a:rPr lang="en-US" sz="950">
                <a:solidFill>
                  <a:srgbClr val="334155"/>
                </a:solidFill>
              </a:rPr>
              <a:t>Training stability across seeds</a:t>
            </a:r>
            <a:endParaRPr lang="en-US" sz="950"/>
          </a:p>
          <a:p>
            <a:pPr marL="228600" indent="-171450">
              <a:buChar char="•"/>
            </a:pPr>
            <a:r>
              <a:rPr lang="en-US" sz="950">
                <a:solidFill>
                  <a:srgbClr val="334155"/>
                </a:solidFill>
              </a:rPr>
              <a:t>Inference time and qualitative policy behavior</a:t>
            </a:r>
            <a:endParaRPr lang="en-US" sz="950"/>
          </a:p>
        </p:txBody>
      </p:sp>
      <p:sp>
        <p:nvSpPr>
          <p:cNvPr id="82" name="contribution box"/>
          <p:cNvSpPr/>
          <p:nvPr/>
        </p:nvSpPr>
        <p:spPr>
          <a:xfrm>
            <a:off x="8321040" y="4709160"/>
            <a:ext cx="3182112" cy="86868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</p:spPr>
        <p:txBody>
          <a:bodyPr/>
          <a:lstStyle/>
          <a:p/>
        </p:txBody>
      </p:sp>
      <p:sp>
        <p:nvSpPr>
          <p:cNvPr id="83" name="contribution text"/>
          <p:cNvSpPr txBox="1"/>
          <p:nvPr/>
        </p:nvSpPr>
        <p:spPr>
          <a:xfrm>
            <a:off x="8458200" y="4846320"/>
            <a:ext cx="2907792" cy="502920"/>
          </a:xfrm>
          <a:prstGeom prst="rect">
            <a:avLst/>
          </a:prstGeom>
          <a:solidFill>
            <a:srgbClr val="DBEAFE"/>
          </a:solidFill>
          <a:ln w="0">
            <a:solidFill>
              <a:srgbClr val="DBEAFE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900">
                <a:b/>
                <a:solidFill>
                  <a:srgbClr val="0F172A"/>
                </a:solidFill>
              </a:rPr>
              <a:t>Contribution: choose a reward that balances low cost, feasibility, and stable learning before final cookie-factory comparison.</a:t>
            </a:r>
            <a:endParaRPr lang="en-US" sz="900"/>
          </a:p>
        </p:txBody>
      </p:sp>
      <p:sp>
        <p:nvSpPr>
          <p:cNvPr id="90" name="footer"/>
          <p:cNvSpPr txBox="1"/>
          <p:nvPr/>
        </p:nvSpPr>
        <p:spPr>
          <a:xfrm>
            <a:off x="566928" y="6382512"/>
            <a:ext cx="10972800" cy="201168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820">
                <a:solidFill>
                  <a:srgbClr val="64748B"/>
                </a:solidFill>
              </a:rPr>
              <a:t>Speaker note: this turns reward design into an experiment instead of a tuning detail.</a:t>
            </a:r>
            <a:endParaRPr lang="en-US" sz="8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0" name="title"/>
          <p:cNvSpPr txBox="1"/>
          <p:nvPr/>
        </p:nvSpPr>
        <p:spPr>
          <a:xfrm>
            <a:off x="384048" y="164592"/>
            <a:ext cx="11201400" cy="50292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2850">
                <a:b/>
                <a:solidFill>
                  <a:srgbClr val="0F172A"/>
                </a:solidFill>
              </a:rPr>
              <a:t>Second Use Case: RL vs Mathematical Optimization</a:t>
            </a:r>
            <a:endParaRPr lang="en-US" sz="2850"/>
          </a:p>
        </p:txBody>
      </p:sp>
      <p:sp>
        <p:nvSpPr>
          <p:cNvPr id="11" name="subtitle"/>
          <p:cNvSpPr txBox="1"/>
          <p:nvPr/>
        </p:nvSpPr>
        <p:spPr>
          <a:xfrm>
            <a:off x="402336" y="658368"/>
            <a:ext cx="11064240" cy="301752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180">
                <a:solidFill>
                  <a:srgbClr val="475569"/>
                </a:solidFill>
              </a:rPr>
              <a:t>Same time period comparison for the cookie-factory energy system; prioritize decision time for real-time operation</a:t>
            </a:r>
            <a:endParaRPr lang="en-US" sz="1180"/>
          </a:p>
        </p:txBody>
      </p:sp>
      <p:sp>
        <p:nvSpPr>
          <p:cNvPr id="20" name="speed panel"/>
          <p:cNvSpPr/>
          <p:nvPr/>
        </p:nvSpPr>
        <p:spPr>
          <a:xfrm>
            <a:off x="502920" y="1143000"/>
            <a:ext cx="5715000" cy="34290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/>
          <a:lstStyle/>
          <a:p/>
        </p:txBody>
      </p:sp>
      <p:sp>
        <p:nvSpPr>
          <p:cNvPr id="21" name="speed label"/>
          <p:cNvSpPr txBox="1"/>
          <p:nvPr/>
        </p:nvSpPr>
        <p:spPr>
          <a:xfrm>
            <a:off x="804672" y="1417320"/>
            <a:ext cx="5102352" cy="292608"/>
          </a:xfrm>
          <a:prstGeom prst="rect">
            <a:avLst/>
          </a:prstGeom>
          <a:solidFill>
            <a:srgbClr val="EFF6FF"/>
          </a:solidFill>
          <a:ln w="0">
            <a:solidFill>
              <a:srgbClr val="EFF6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320">
                <a:b/>
                <a:solidFill>
                  <a:srgbClr val="1E3A8A"/>
                </a:solidFill>
              </a:rPr>
              <a:t>Primary result: computation time</a:t>
            </a:r>
            <a:endParaRPr lang="en-US" sz="1320"/>
          </a:p>
        </p:txBody>
      </p:sp>
      <p:sp>
        <p:nvSpPr>
          <p:cNvPr id="22" name="speedup"/>
          <p:cNvSpPr txBox="1"/>
          <p:nvPr/>
        </p:nvSpPr>
        <p:spPr>
          <a:xfrm>
            <a:off x="786384" y="1810512"/>
            <a:ext cx="5166360" cy="731520"/>
          </a:xfrm>
          <a:prstGeom prst="rect">
            <a:avLst/>
          </a:prstGeom>
          <a:solidFill>
            <a:srgbClr val="EFF6FF"/>
          </a:solidFill>
          <a:ln w="0">
            <a:solidFill>
              <a:srgbClr val="EFF6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3600">
                <a:b/>
                <a:solidFill>
                  <a:srgbClr val="16A34A"/>
                </a:solidFill>
              </a:rPr>
              <a:t>922.5x faster</a:t>
            </a:r>
            <a:endParaRPr lang="en-US" sz="3600"/>
          </a:p>
        </p:txBody>
      </p:sp>
      <p:sp>
        <p:nvSpPr>
          <p:cNvPr id="23" name="time numbers"/>
          <p:cNvSpPr txBox="1"/>
          <p:nvPr/>
        </p:nvSpPr>
        <p:spPr>
          <a:xfrm>
            <a:off x="822960" y="2697480"/>
            <a:ext cx="5074920" cy="530352"/>
          </a:xfrm>
          <a:prstGeom prst="rect">
            <a:avLst/>
          </a:prstGeom>
          <a:solidFill>
            <a:srgbClr val="EFF6FF"/>
          </a:solidFill>
          <a:ln w="0">
            <a:solidFill>
              <a:srgbClr val="EFF6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600">
                <a:b/>
                <a:solidFill>
                  <a:srgbClr val="0F172A"/>
                </a:solidFill>
              </a:rPr>
              <a:t>RL: 0.02 s    |    Optimization: 18.45 s</a:t>
            </a:r>
            <a:endParaRPr lang="en-US" sz="1600"/>
          </a:p>
        </p:txBody>
      </p:sp>
      <p:sp>
        <p:nvSpPr>
          <p:cNvPr id="24" name="speed interpretation"/>
          <p:cNvSpPr txBox="1"/>
          <p:nvPr/>
        </p:nvSpPr>
        <p:spPr>
          <a:xfrm>
            <a:off x="822960" y="3410712"/>
            <a:ext cx="5074920" cy="685800"/>
          </a:xfrm>
          <a:prstGeom prst="rect">
            <a:avLst/>
          </a:prstGeom>
          <a:solidFill>
            <a:srgbClr val="EFF6FF"/>
          </a:solidFill>
          <a:ln w="0">
            <a:solidFill>
              <a:srgbClr val="EFF6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020">
                <a:solidFill>
                  <a:srgbClr val="334155"/>
                </a:solidFill>
              </a:rPr>
              <a:t>This is the strongest argument for RL in the second use case: once trained, the policy gives a near-instant setpoint decision while the mathematical optimizer must solve the nonlinear problem again.</a:t>
            </a:r>
            <a:endParaRPr lang="en-US" sz="1020"/>
          </a:p>
        </p:txBody>
      </p:sp>
      <p:sp>
        <p:nvSpPr>
          <p:cNvPr id="30" name="objective panel"/>
          <p:cNvSpPr/>
          <p:nvPr/>
        </p:nvSpPr>
        <p:spPr>
          <a:xfrm>
            <a:off x="6446520" y="1143000"/>
            <a:ext cx="5285232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1" name="objective label"/>
          <p:cNvSpPr txBox="1"/>
          <p:nvPr/>
        </p:nvSpPr>
        <p:spPr>
          <a:xfrm>
            <a:off x="6729984" y="1417320"/>
            <a:ext cx="4754880" cy="292608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320">
                <a:b/>
                <a:solidFill>
                  <a:srgbClr val="0F172A"/>
                </a:solidFill>
              </a:rPr>
              <a:t>Objective value</a:t>
            </a:r>
            <a:endParaRPr lang="en-US" sz="1320"/>
          </a:p>
        </p:txBody>
      </p:sp>
      <p:cxnSp>
        <p:nvCxnSpPr>
          <p:cNvPr id="32" name="objective line"/>
          <p:cNvCxnSpPr/>
          <p:nvPr/>
        </p:nvCxnSpPr>
        <p:spPr>
          <a:xfrm>
            <a:off x="6729984" y="1773936"/>
            <a:ext cx="4681728" cy="0"/>
          </a:xfrm>
          <a:prstGeom prst="line">
            <a:avLst/>
          </a:prstGeom>
          <a:ln w="6350">
            <a:solidFill>
              <a:srgbClr val="E2E8F0"/>
            </a:solidFill>
          </a:ln>
        </p:spPr>
      </p:cxnSp>
      <p:sp>
        <p:nvSpPr>
          <p:cNvPr id="33" name="rl objective"/>
          <p:cNvSpPr txBox="1"/>
          <p:nvPr/>
        </p:nvSpPr>
        <p:spPr>
          <a:xfrm>
            <a:off x="6784848" y="1965960"/>
            <a:ext cx="2148840" cy="804672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050">
                <a:b/>
                <a:solidFill>
                  <a:srgbClr val="475569"/>
                </a:solidFill>
              </a:rPr>
              <a:t>RL</a:t>
            </a:r>
            <a:endParaRPr lang="en-US" sz="1050"/>
          </a:p>
          <a:p>
            <a:pPr/>
            <a:r>
              <a:rPr lang="en-US" sz="2500">
                <a:b/>
                <a:solidFill>
                  <a:srgbClr val="DC2626"/>
                </a:solidFill>
              </a:rPr>
              <a:t>2669.56</a:t>
            </a:r>
            <a:endParaRPr lang="en-US" sz="2500"/>
          </a:p>
        </p:txBody>
      </p:sp>
      <p:sp>
        <p:nvSpPr>
          <p:cNvPr id="34" name="opt objective"/>
          <p:cNvSpPr txBox="1"/>
          <p:nvPr/>
        </p:nvSpPr>
        <p:spPr>
          <a:xfrm>
            <a:off x="9162288" y="1965960"/>
            <a:ext cx="2148840" cy="804672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050">
                <a:b/>
                <a:solidFill>
                  <a:srgbClr val="475569"/>
                </a:solidFill>
              </a:rPr>
              <a:t>Optimization</a:t>
            </a:r>
            <a:endParaRPr lang="en-US" sz="1050"/>
          </a:p>
          <a:p>
            <a:pPr/>
            <a:r>
              <a:rPr lang="en-US" sz="2500">
                <a:b/>
                <a:solidFill>
                  <a:srgbClr val="16A34A"/>
                </a:solidFill>
              </a:rPr>
              <a:t>2418.92</a:t>
            </a:r>
            <a:endParaRPr lang="en-US" sz="2500"/>
          </a:p>
        </p:txBody>
      </p:sp>
      <p:sp>
        <p:nvSpPr>
          <p:cNvPr id="35" name="objective gap"/>
          <p:cNvSpPr txBox="1"/>
          <p:nvPr/>
        </p:nvSpPr>
        <p:spPr>
          <a:xfrm>
            <a:off x="6784848" y="2999232"/>
            <a:ext cx="4526280" cy="5029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1280">
                <a:b/>
                <a:solidFill>
                  <a:srgbClr val="0F172A"/>
                </a:solidFill>
              </a:rPr>
              <a:t>Objective gap: +250.64 (10.4% higher for RL)</a:t>
            </a:r>
            <a:endParaRPr lang="en-US" sz="1280"/>
          </a:p>
        </p:txBody>
      </p:sp>
      <p:sp>
        <p:nvSpPr>
          <p:cNvPr id="36" name="objective interpretation"/>
          <p:cNvSpPr txBox="1"/>
          <p:nvPr/>
        </p:nvSpPr>
        <p:spPr>
          <a:xfrm>
            <a:off x="6784848" y="3657600"/>
            <a:ext cx="4526280" cy="438912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wrap="square" lIns="18288" tIns="18288" rIns="18288" bIns="18288" anchor="t"/>
          <a:lstStyle/>
          <a:p>
            <a:pPr/>
            <a:r>
              <a:rPr lang="en-US" sz="980">
                <a:solidFill>
                  <a:srgbClr val="334155"/>
                </a:solidFill>
              </a:rPr>
              <a:t>The mathematical optimizer still gives the better objective value; the current RL value is a speed-quality trade-off, not an optimality claim.</a:t>
            </a:r>
            <a:endParaRPr lang="en-US" sz="980"/>
          </a:p>
        </p:txBody>
      </p:sp>
      <p:sp>
        <p:nvSpPr>
          <p:cNvPr id="40" name="discussion panel"/>
          <p:cNvSpPr/>
          <p:nvPr/>
        </p:nvSpPr>
        <p:spPr>
          <a:xfrm>
            <a:off x="502920" y="4800600"/>
            <a:ext cx="11228832" cy="1143000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1" name="discussion title"/>
          <p:cNvSpPr txBox="1"/>
          <p:nvPr/>
        </p:nvSpPr>
        <p:spPr>
          <a:xfrm>
            <a:off x="777240" y="4965192"/>
            <a:ext cx="10716768" cy="237744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1150">
                <a:b/>
                <a:solidFill>
                  <a:srgbClr val="0F172A"/>
                </a:solidFill>
              </a:rPr>
              <a:t>How to present this result</a:t>
            </a:r>
            <a:endParaRPr lang="en-US" sz="1150"/>
          </a:p>
        </p:txBody>
      </p:sp>
      <p:sp>
        <p:nvSpPr>
          <p:cNvPr id="42" name="discussion bullets"/>
          <p:cNvSpPr txBox="1"/>
          <p:nvPr/>
        </p:nvSpPr>
        <p:spPr>
          <a:xfrm>
            <a:off x="777240" y="5285232"/>
            <a:ext cx="10716768" cy="457200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</a:ln>
        </p:spPr>
        <p:txBody>
          <a:bodyPr wrap="square" lIns="9144" tIns="9144" rIns="9144" bIns="9144" anchor="t"/>
          <a:lstStyle/>
          <a:p>
            <a:pPr marL="228600" indent="-171450">
              <a:buChar char="•"/>
            </a:pPr>
            <a:r>
              <a:rPr lang="en-US" sz="910">
                <a:solidFill>
                  <a:srgbClr val="334155"/>
                </a:solidFill>
              </a:rPr>
              <a:t>Message: RL provides real-time feasible scheduling potential; optimization remains the quality benchmark.</a:t>
            </a:r>
            <a:endParaRPr lang="en-US" sz="910"/>
          </a:p>
          <a:p>
            <a:pPr marL="228600" indent="-171450">
              <a:buChar char="•"/>
            </a:pPr>
            <a:r>
              <a:rPr lang="en-US" sz="910">
                <a:solidFill>
                  <a:srgbClr val="334155"/>
                </a:solidFill>
              </a:rPr>
              <a:t>Next work: compare reward signals to close the objective gap while keeping the 0.02 s inference advantage.</a:t>
            </a:r>
            <a:endParaRPr lang="en-US" sz="910"/>
          </a:p>
        </p:txBody>
      </p:sp>
      <p:sp>
        <p:nvSpPr>
          <p:cNvPr id="50" name="footer"/>
          <p:cNvSpPr txBox="1"/>
          <p:nvPr/>
        </p:nvSpPr>
        <p:spPr>
          <a:xfrm>
            <a:off x="566928" y="6382512"/>
            <a:ext cx="10972800" cy="201168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</a:ln>
        </p:spPr>
        <p:txBody>
          <a:bodyPr wrap="square" lIns="9144" tIns="9144" rIns="9144" bIns="9144" anchor="t"/>
          <a:lstStyle/>
          <a:p>
            <a:pPr/>
            <a:r>
              <a:rPr lang="en-US" sz="820">
                <a:solidFill>
                  <a:srgbClr val="64748B"/>
                </a:solidFill>
              </a:rPr>
              <a:t>Speaker note: lead with time, then acknowledge the objective gap transparently.</a:t>
            </a:r>
            <a:endParaRPr lang="en-US" sz="8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ttery Summary">
  <a:themeElements>
    <a:clrScheme name="Battery Summary">
      <a:dk1>
        <a:srgbClr val="0F172A"/>
      </a:dk1>
      <a:lt1>
        <a:srgbClr val="F8FAFC"/>
      </a:lt1>
      <a:dk2>
        <a:srgbClr val="334155"/>
      </a:dk2>
      <a:lt2>
        <a:srgbClr val="E2E8F0"/>
      </a:lt2>
      <a:accent1>
        <a:srgbClr val="2563EB"/>
      </a:accent1>
      <a:accent2>
        <a:srgbClr val="16A34A"/>
      </a:accent2>
      <a:accent3>
        <a:srgbClr val="DC2626"/>
      </a:accent3>
      <a:accent4>
        <a:srgbClr val="64748B"/>
      </a:accent4>
      <a:accent5>
        <a:srgbClr val="1E3A8A"/>
      </a:accent5>
      <a:accent6>
        <a:srgbClr val="BFDBFE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Battery Summary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On-screen Show (16:9)</PresentationFormat>
  <Slides>4</Slides>
  <Notes>0</Notes>
  <HiddenSlides>0</Hidden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Model Summary Slides</dc:title>
  <dc:creator>Codex</dc:creator>
  <cp:lastModifiedBy>Codex</cp:lastModifiedBy>
  <dcterms:created xsi:type="dcterms:W3CDTF">2026-06-01T08:46:17Z</dcterms:created>
  <dcterms:modified xsi:type="dcterms:W3CDTF">2026-06-01T08:46:17Z</dcterms:modified>
</cp:coreProperties>
</file>