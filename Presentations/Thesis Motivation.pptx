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1895-1F9D-40C9-A605-57E3F2361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44FF9-712A-445B-A36C-298452A6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8F08-D5A6-44C9-A185-4E7DD9C7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09DE-2F9C-4743-A6E3-DD042D07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B44B-DFDB-427D-B3B0-45DFA57F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0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CF0D-7740-4F78-A1B5-6BD24394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37A1-15D9-430B-A3AF-4B798DE8B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FE18-1AAD-4696-B794-27C41246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F9C7-41E9-4093-B3BF-C858FE67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1923-8FEF-42E6-95A1-4F3E4915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6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E76E-D5CB-4969-B26D-1DD74EFF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35105-4AB8-4A6D-8ACD-091E72AF5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DCD8-C1FA-4DB9-B59A-C259F4D5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29F4-3E55-4E1E-A329-5DFA2770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3B634-AD9E-41A8-BA66-D8D33093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3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08A4-5149-4146-A1EC-C2EC9AE0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5EDE-247C-43C7-8B62-DC29A9195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2E26-F9B5-41E8-B3F3-6A7CC3D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A535-00C3-4AFA-BF1A-679AB811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8C2B0-D99F-4F03-8A54-9EA62492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63684-25BC-4CE5-B6F2-5D805696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4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EFDA-91C7-4708-9141-971ADA5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EC926-6B02-4A11-8657-3B6BE73A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E1E55-72FF-4438-B17A-A13D5EA48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197B7-02E0-4A3B-91C0-A026C8F89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C0B4C-73B9-4CE0-9DDB-72DFB5D1E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4D1B4-03FC-429B-902E-131AD5AE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9090A-75F1-49AC-9B26-89B0256C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408AC-B948-459F-86E2-0F4F5E2A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75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64BF-FF2C-44E3-AAB3-9B015171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C6E2D-96A2-4D6A-A9CB-27E71ADF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70844-A469-4066-9187-CB5E9349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5953F-61C3-4B04-A140-09675F73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93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ACC2A-F292-4441-ACDF-6418CD78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A973-28B2-454A-BE3A-240D0AD7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734D-528E-48B5-80DE-77B27AD0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26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237C-4889-481D-B585-A2EE140D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14238-6C60-42AB-BC7E-31590019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48B87-DCA9-4BBB-B7AF-AFE600482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18D22-77D0-44A6-9CFD-B95745E8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6697B-DF06-4261-8861-C6BF6938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D5D72-576D-4046-8EA7-3D09BCAF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5A0D-270E-4F42-8562-52C276EA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11A2B-01F6-41EC-8E75-1AB04B01E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3B73A-691C-4CC4-8BFB-E6EE828B6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A974-848B-46C3-B8E2-A735D3A9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48989-7A3C-4119-9CBA-D6192B1F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1DBB-8CFA-4C09-B8C3-55E8C80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7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D05B-1A73-4CDB-9D7B-D683FCD3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CC671-384B-429A-9873-120BFF9B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B577-4832-4FE9-8EE9-DAAA68E3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4B54E-8F48-40FE-ACAC-637CC563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997F3-CC6D-4794-B0D1-D437FF7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7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8C3A8-6A5D-45A1-9854-15DF8B39A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8E44B-3245-4D36-BABC-4D4503114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D382-6761-4886-B4F9-5E6596A1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6E5E-2977-41D4-B1E4-4C262D8F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316B-1261-49B9-84B2-E3B3292E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7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0D3E5-B0B2-4107-835F-A8538707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AC8A5-0055-4264-A7BC-8BCF6788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717A-46DA-4387-802E-9A8932FDE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65039-3823-4E49-B555-660A6214BD7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807-50F0-4FA9-83DC-32D454BD4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52BF-54E3-4415-A497-8279EF803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A4E83-7422-4E78-9CBC-BD5495D4D3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5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3201201A-48E5-4A80-84B2-D508A7D5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985" y="1228802"/>
            <a:ext cx="4885015" cy="4885015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194EF969-8394-4BC7-87FE-C4EFF61D29AF}"/>
              </a:ext>
            </a:extLst>
          </p:cNvPr>
          <p:cNvSpPr/>
          <p:nvPr/>
        </p:nvSpPr>
        <p:spPr>
          <a:xfrm>
            <a:off x="761705" y="1552348"/>
            <a:ext cx="6545280" cy="309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Modern dynamic systems frequently operate with multiple input parameters that significantly impact operational costs. Finding optimal configurations is crucial for: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852A851-7656-4793-890D-85E80E982F7D}"/>
              </a:ext>
            </a:extLst>
          </p:cNvPr>
          <p:cNvSpPr/>
          <p:nvPr/>
        </p:nvSpPr>
        <p:spPr>
          <a:xfrm>
            <a:off x="761705" y="27893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Minimizing resource consumption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D277FC3-8840-41D2-A690-42BB04B91C88}"/>
              </a:ext>
            </a:extLst>
          </p:cNvPr>
          <p:cNvSpPr/>
          <p:nvPr/>
        </p:nvSpPr>
        <p:spPr>
          <a:xfrm>
            <a:off x="761705" y="323150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Improving system performance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0D9C2FF-2E49-4B98-AF8E-6F6390FCE1E4}"/>
              </a:ext>
            </a:extLst>
          </p:cNvPr>
          <p:cNvSpPr/>
          <p:nvPr/>
        </p:nvSpPr>
        <p:spPr>
          <a:xfrm>
            <a:off x="761705" y="367370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Enabling adaptive real-time decision-making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F6E3227-0567-4275-AC06-C5606FAE2788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Motivation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67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>
            <a:extLst>
              <a:ext uri="{FF2B5EF4-FFF2-40B4-BE49-F238E27FC236}">
                <a16:creationId xmlns:a16="http://schemas.microsoft.com/office/drawing/2014/main" id="{DA032072-3F3A-48E4-84F2-87797BE329C6}"/>
              </a:ext>
            </a:extLst>
          </p:cNvPr>
          <p:cNvSpPr/>
          <p:nvPr/>
        </p:nvSpPr>
        <p:spPr>
          <a:xfrm>
            <a:off x="2892028" y="1337192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F43DB22C-1CC4-4B21-9411-3D3DA33D81BE}"/>
              </a:ext>
            </a:extLst>
          </p:cNvPr>
          <p:cNvSpPr/>
          <p:nvPr/>
        </p:nvSpPr>
        <p:spPr>
          <a:xfrm>
            <a:off x="3240762" y="1594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Primary Question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6542AE2-A575-4EA6-BAB0-5050F4756FF8}"/>
              </a:ext>
            </a:extLst>
          </p:cNvPr>
          <p:cNvSpPr/>
          <p:nvPr/>
        </p:nvSpPr>
        <p:spPr>
          <a:xfrm>
            <a:off x="3240762" y="2084904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Can reinforcement learning accurately learn optimal input configurations that minimize operational cost in dynamic, multi-variable systems, and how does its performance compare to other optimization algorithms?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7C9617F9-9050-488F-9733-7414D4CE9C45}"/>
              </a:ext>
            </a:extLst>
          </p:cNvPr>
          <p:cNvSpPr/>
          <p:nvPr/>
        </p:nvSpPr>
        <p:spPr>
          <a:xfrm>
            <a:off x="2892028" y="4090870"/>
            <a:ext cx="6408063" cy="2133480"/>
          </a:xfrm>
          <a:prstGeom prst="roundRect">
            <a:avLst>
              <a:gd name="adj" fmla="val 595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C52CD2A-7D2A-46D7-9A87-74F3E4915383}"/>
              </a:ext>
            </a:extLst>
          </p:cNvPr>
          <p:cNvSpPr/>
          <p:nvPr/>
        </p:nvSpPr>
        <p:spPr>
          <a:xfrm>
            <a:off x="3240762" y="43481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Secondary Question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5C3493E0-E7FE-4785-BEE3-1E08279BD24E}"/>
              </a:ext>
            </a:extLst>
          </p:cNvPr>
          <p:cNvSpPr/>
          <p:nvPr/>
        </p:nvSpPr>
        <p:spPr>
          <a:xfrm>
            <a:off x="3240762" y="483858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What types of reinforcement learning algorithms are most suitable for this optimization task across different system characteristics?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4A77B4E7-CA3B-4EF3-867D-98121B49464B}"/>
              </a:ext>
            </a:extLst>
          </p:cNvPr>
          <p:cNvSpPr/>
          <p:nvPr/>
        </p:nvSpPr>
        <p:spPr>
          <a:xfrm>
            <a:off x="2883515" y="13556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67130DEF-76D2-4F90-93C2-4FBD1FB71C8B}"/>
              </a:ext>
            </a:extLst>
          </p:cNvPr>
          <p:cNvSpPr/>
          <p:nvPr/>
        </p:nvSpPr>
        <p:spPr>
          <a:xfrm>
            <a:off x="2883515" y="4090871"/>
            <a:ext cx="121920" cy="2133478"/>
          </a:xfrm>
          <a:prstGeom prst="roundRect">
            <a:avLst>
              <a:gd name="adj" fmla="val 50000"/>
            </a:avLst>
          </a:prstGeom>
          <a:solidFill>
            <a:srgbClr val="5A6ED8"/>
          </a:solidFill>
          <a:ln/>
        </p:spPr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E9F1B730-2A40-4847-9F55-8200D068EE39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12943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B438CDD-BDEB-4DEB-81C7-3CA57C21BD8F}"/>
              </a:ext>
            </a:extLst>
          </p:cNvPr>
          <p:cNvSpPr/>
          <p:nvPr/>
        </p:nvSpPr>
        <p:spPr>
          <a:xfrm>
            <a:off x="0" y="307062"/>
            <a:ext cx="82224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EAD7FDF-6536-4B3B-84B3-1F98945E8009}"/>
              </a:ext>
            </a:extLst>
          </p:cNvPr>
          <p:cNvSpPr/>
          <p:nvPr/>
        </p:nvSpPr>
        <p:spPr>
          <a:xfrm>
            <a:off x="271581" y="1604737"/>
            <a:ext cx="3522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Theoretical Contributions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97C2AD9-1896-483F-9D82-973CB1BAC6E6}"/>
              </a:ext>
            </a:extLst>
          </p:cNvPr>
          <p:cNvSpPr/>
          <p:nvPr/>
        </p:nvSpPr>
        <p:spPr>
          <a:xfrm>
            <a:off x="271582" y="2038363"/>
            <a:ext cx="6096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Comparative analysis framework for RL vs. classical optimization in operational parameter tuning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94CC7B-04A2-4964-ABC5-5C7756587C28}"/>
              </a:ext>
            </a:extLst>
          </p:cNvPr>
          <p:cNvSpPr/>
          <p:nvPr/>
        </p:nvSpPr>
        <p:spPr>
          <a:xfrm>
            <a:off x="271582" y="2843464"/>
            <a:ext cx="6096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Identification of system characteristics that favor specific RL approaches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80697EB-E223-40E4-BA79-0506460F6F59}"/>
              </a:ext>
            </a:extLst>
          </p:cNvPr>
          <p:cNvSpPr/>
          <p:nvPr/>
        </p:nvSpPr>
        <p:spPr>
          <a:xfrm>
            <a:off x="271582" y="3648564"/>
            <a:ext cx="6096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Novel reward function formulations for operational cost minimization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E426997-F851-4C6A-B1F1-192D98ECC785}"/>
              </a:ext>
            </a:extLst>
          </p:cNvPr>
          <p:cNvSpPr/>
          <p:nvPr/>
        </p:nvSpPr>
        <p:spPr>
          <a:xfrm>
            <a:off x="6366113" y="1632836"/>
            <a:ext cx="27677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Practical Outcomes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F339990-5DF6-4901-B8A7-B3AB5C4E036C}"/>
              </a:ext>
            </a:extLst>
          </p:cNvPr>
          <p:cNvSpPr/>
          <p:nvPr/>
        </p:nvSpPr>
        <p:spPr>
          <a:xfrm>
            <a:off x="6367582" y="2065985"/>
            <a:ext cx="56529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Implementation guidelines for applying RL to parameter optimization problems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6837AE1-FE40-4E12-872E-B41D41AF8F33}"/>
              </a:ext>
            </a:extLst>
          </p:cNvPr>
          <p:cNvSpPr/>
          <p:nvPr/>
        </p:nvSpPr>
        <p:spPr>
          <a:xfrm>
            <a:off x="6367582" y="2922759"/>
            <a:ext cx="56529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Library of optimized RL algorithms for operational variable prediction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EEBD6B3-930D-43AB-9762-02DC7965713F}"/>
              </a:ext>
            </a:extLst>
          </p:cNvPr>
          <p:cNvSpPr/>
          <p:nvPr/>
        </p:nvSpPr>
        <p:spPr>
          <a:xfrm>
            <a:off x="271581" y="4706077"/>
            <a:ext cx="117489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This research aims to bridge the gap between theoretical RL advances and practical optimization challenges in real-world dynamic systems, providing both foundational insights and actionable engineering solutions.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A3CA8F32-ED33-4D1D-92DE-0B844EBA65EF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Expected Research Outcome</a:t>
            </a:r>
          </a:p>
        </p:txBody>
      </p:sp>
    </p:spTree>
    <p:extLst>
      <p:ext uri="{BB962C8B-B14F-4D97-AF65-F5344CB8AC3E}">
        <p14:creationId xmlns:p14="http://schemas.microsoft.com/office/powerpoint/2010/main" val="66260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AA54013-D89E-4555-BEFA-19DE43C3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1586"/>
            <a:ext cx="3833668" cy="383366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E5AF3D4-96B3-470A-A34D-3FAD180E3081}"/>
              </a:ext>
            </a:extLst>
          </p:cNvPr>
          <p:cNvSpPr/>
          <p:nvPr/>
        </p:nvSpPr>
        <p:spPr>
          <a:xfrm>
            <a:off x="4182428" y="2079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Key Components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ECA7501-A90D-407B-A063-A4103A641FAC}"/>
              </a:ext>
            </a:extLst>
          </p:cNvPr>
          <p:cNvSpPr/>
          <p:nvPr/>
        </p:nvSpPr>
        <p:spPr>
          <a:xfrm>
            <a:off x="4182428" y="266112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State space: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Current system parameters and operational conditions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96BDC7B-38A4-4080-857B-D8AB41A6A266}"/>
              </a:ext>
            </a:extLst>
          </p:cNvPr>
          <p:cNvSpPr/>
          <p:nvPr/>
        </p:nvSpPr>
        <p:spPr>
          <a:xfrm>
            <a:off x="4182428" y="310331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Action space: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Possible parameter adjustments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F7C37F7-9B33-4AD1-A0F5-5D24C79D4517}"/>
              </a:ext>
            </a:extLst>
          </p:cNvPr>
          <p:cNvSpPr/>
          <p:nvPr/>
        </p:nvSpPr>
        <p:spPr>
          <a:xfrm>
            <a:off x="4182428" y="354551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Reward function: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Negative operational cost (higher reward = lower cost)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87AE179-2180-44C4-BC18-4FBBC532AD10}"/>
              </a:ext>
            </a:extLst>
          </p:cNvPr>
          <p:cNvSpPr/>
          <p:nvPr/>
        </p:nvSpPr>
        <p:spPr>
          <a:xfrm>
            <a:off x="4182428" y="398771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Policy: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Strategy for selecting optimal parameter configurations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0B6B318-B806-4C0E-97D4-723E680F8670}"/>
              </a:ext>
            </a:extLst>
          </p:cNvPr>
          <p:cNvSpPr/>
          <p:nvPr/>
        </p:nvSpPr>
        <p:spPr>
          <a:xfrm>
            <a:off x="4182428" y="455469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RL agents learn through interaction with the system, gradually discovering parameter combinations that minimize operational costs without requiring explicit system models.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3FDE1B23-DF32-4BB7-82C0-843E532B5478}"/>
              </a:ext>
            </a:extLst>
          </p:cNvPr>
          <p:cNvSpPr/>
          <p:nvPr/>
        </p:nvSpPr>
        <p:spPr>
          <a:xfrm>
            <a:off x="761705" y="3953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2FB8BA0-0802-4780-8D77-50CE35E4EF33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Reinforcement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86850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26</Paragraphs>
  <Slides>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Thapa</dc:creator>
  <cp:lastModifiedBy>Ashish Thapa</cp:lastModifiedBy>
  <cp:revision>15</cp:revision>
  <dcterms:created xsi:type="dcterms:W3CDTF">2025-08-02T11:34:13Z</dcterms:created>
  <dcterms:modified xsi:type="dcterms:W3CDTF">2025-08-03T15:18:00Z</dcterms:modified>
</cp:coreProperties>
</file>