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1" r:id="rId2"/>
    <p:sldId id="266" r:id="rId3"/>
    <p:sldId id="268" r:id="rId4"/>
    <p:sldId id="269" r:id="rId5"/>
    <p:sldId id="270" r:id="rId6"/>
    <p:sldId id="264" r:id="rId7"/>
    <p:sldId id="265" r:id="rId8"/>
    <p:sldId id="274" r:id="rId9"/>
    <p:sldId id="277" r:id="rId10"/>
    <p:sldId id="276" r:id="rId11"/>
    <p:sldId id="275" r:id="rId12"/>
    <p:sldId id="267" r:id="rId13"/>
  </p:sldIdLst>
  <p:sldSz cx="14630400" cy="8229600"/>
  <p:notesSz cx="8229600" cy="14630400"/>
  <p:embeddedFontLst>
    <p:embeddedFont>
      <p:font typeface="Cambria Math" panose="02040503050406030204" pitchFamily="18" charset="0"/>
      <p:regular r:id="rId16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27C7B9-39F1-17D2-204E-5B17F80E66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1C23F-4000-6F28-7568-EE485BC154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A94B5-C042-41C2-9501-1FF964BA33BC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EF70C-DF9A-4FB4-0618-E1BB49253A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E7C29-8E76-A977-2D5D-88A37DF380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CC1DE-DE9A-4B9D-9D53-679767C4B5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2392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0036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A46BDB-F9D7-52F0-DD97-DA8CF88C62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C9A9E8-A33E-7E36-2D14-012806BAE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413" y="7633495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D9A9C-251E-4686-914B-47E3F39F30D8}" type="slidenum">
              <a:rPr lang="de-DE" smtClean="0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334E38-ECDC-2251-1C9E-5E2E58818BC3}"/>
              </a:ext>
            </a:extLst>
          </p:cNvPr>
          <p:cNvSpPr/>
          <p:nvPr/>
        </p:nvSpPr>
        <p:spPr>
          <a:xfrm>
            <a:off x="994906" y="578615"/>
            <a:ext cx="9858256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8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Battery Model Mathematical Formulation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2005AAC9-6078-3B0F-B66D-D712A272CEB8}"/>
              </a:ext>
            </a:extLst>
          </p:cNvPr>
          <p:cNvSpPr/>
          <p:nvPr/>
        </p:nvSpPr>
        <p:spPr>
          <a:xfrm>
            <a:off x="1047483" y="1469277"/>
            <a:ext cx="2080736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Objective Function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F545353-267D-447F-F1E0-4F1AAEE6949F}"/>
              </a:ext>
            </a:extLst>
          </p:cNvPr>
          <p:cNvSpPr/>
          <p:nvPr/>
        </p:nvSpPr>
        <p:spPr>
          <a:xfrm>
            <a:off x="1047483" y="1856587"/>
            <a:ext cx="9571434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55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Image 0">
            <a:extLst>
              <a:ext uri="{FF2B5EF4-FFF2-40B4-BE49-F238E27FC236}">
                <a16:creationId xmlns:a16="http://schemas.microsoft.com/office/drawing/2014/main" id="{8FF3F173-ECEF-79D6-7C4A-BB89DCEE2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83" y="1856587"/>
            <a:ext cx="9571434" cy="447794"/>
          </a:xfrm>
          <a:prstGeom prst="rect">
            <a:avLst/>
          </a:prstGeom>
        </p:spPr>
      </p:pic>
      <p:sp>
        <p:nvSpPr>
          <p:cNvPr id="33" name="Text 6">
            <a:extLst>
              <a:ext uri="{FF2B5EF4-FFF2-40B4-BE49-F238E27FC236}">
                <a16:creationId xmlns:a16="http://schemas.microsoft.com/office/drawing/2014/main" id="{6A3DF424-C0D6-AEEB-4F77-C602D4B29BF8}"/>
              </a:ext>
            </a:extLst>
          </p:cNvPr>
          <p:cNvSpPr/>
          <p:nvPr/>
        </p:nvSpPr>
        <p:spPr>
          <a:xfrm>
            <a:off x="1047483" y="2431540"/>
            <a:ext cx="25297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Power Gating Constraint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D762A5D-DCE1-A9B1-B8D1-45735992C8B2}"/>
              </a:ext>
            </a:extLst>
          </p:cNvPr>
          <p:cNvSpPr/>
          <p:nvPr/>
        </p:nvSpPr>
        <p:spPr>
          <a:xfrm>
            <a:off x="1047483" y="2818850"/>
            <a:ext cx="9571434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55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 1">
            <a:extLst>
              <a:ext uri="{FF2B5EF4-FFF2-40B4-BE49-F238E27FC236}">
                <a16:creationId xmlns:a16="http://schemas.microsoft.com/office/drawing/2014/main" id="{5B55AACB-99C1-2EA5-0BC9-688368D2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83" y="2818850"/>
            <a:ext cx="9571434" cy="234196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342AB95E-D50E-50CD-1349-3FE1FEB93087}"/>
              </a:ext>
            </a:extLst>
          </p:cNvPr>
          <p:cNvSpPr/>
          <p:nvPr/>
        </p:nvSpPr>
        <p:spPr>
          <a:xfrm>
            <a:off x="1047483" y="3160322"/>
            <a:ext cx="9571434" cy="17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Where the smoothing terms are defined as: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CAC430F2-7283-343B-42F7-539E278EB2C3}"/>
              </a:ext>
            </a:extLst>
          </p:cNvPr>
          <p:cNvSpPr/>
          <p:nvPr/>
        </p:nvSpPr>
        <p:spPr>
          <a:xfrm>
            <a:off x="1047483" y="3446310"/>
            <a:ext cx="9571434" cy="113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55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Image 2">
            <a:extLst>
              <a:ext uri="{FF2B5EF4-FFF2-40B4-BE49-F238E27FC236}">
                <a16:creationId xmlns:a16="http://schemas.microsoft.com/office/drawing/2014/main" id="{FFE99AD7-8D5A-2687-A65B-4C19FC28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483" y="3446310"/>
            <a:ext cx="9571434" cy="1132880"/>
          </a:xfrm>
          <a:prstGeom prst="rect">
            <a:avLst/>
          </a:prstGeom>
        </p:spPr>
      </p:pic>
      <p:sp>
        <p:nvSpPr>
          <p:cNvPr id="39" name="Text 10">
            <a:extLst>
              <a:ext uri="{FF2B5EF4-FFF2-40B4-BE49-F238E27FC236}">
                <a16:creationId xmlns:a16="http://schemas.microsoft.com/office/drawing/2014/main" id="{474BD66A-6697-A5AA-DC94-C08F1CC59C3F}"/>
              </a:ext>
            </a:extLst>
          </p:cNvPr>
          <p:cNvSpPr/>
          <p:nvPr/>
        </p:nvSpPr>
        <p:spPr>
          <a:xfrm>
            <a:off x="1047483" y="4706348"/>
            <a:ext cx="3406735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Actual Power and SOC Dynamics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7D5E3D45-8C97-A9D4-7A3E-48AA47E1B843}"/>
              </a:ext>
            </a:extLst>
          </p:cNvPr>
          <p:cNvSpPr/>
          <p:nvPr/>
        </p:nvSpPr>
        <p:spPr>
          <a:xfrm>
            <a:off x="1047483" y="5093659"/>
            <a:ext cx="9571434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55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Image 3">
            <a:extLst>
              <a:ext uri="{FF2B5EF4-FFF2-40B4-BE49-F238E27FC236}">
                <a16:creationId xmlns:a16="http://schemas.microsoft.com/office/drawing/2014/main" id="{09B9ADA8-A5D7-58DB-163D-1248078F4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483" y="5093659"/>
            <a:ext cx="9571434" cy="234196"/>
          </a:xfrm>
          <a:prstGeom prst="rect">
            <a:avLst/>
          </a:prstGeom>
        </p:spPr>
      </p:pic>
      <p:sp>
        <p:nvSpPr>
          <p:cNvPr id="42" name="Text 12">
            <a:extLst>
              <a:ext uri="{FF2B5EF4-FFF2-40B4-BE49-F238E27FC236}">
                <a16:creationId xmlns:a16="http://schemas.microsoft.com/office/drawing/2014/main" id="{F078D753-4678-41EA-C1BC-C03301891336}"/>
              </a:ext>
            </a:extLst>
          </p:cNvPr>
          <p:cNvSpPr/>
          <p:nvPr/>
        </p:nvSpPr>
        <p:spPr>
          <a:xfrm>
            <a:off x="1047483" y="5435130"/>
            <a:ext cx="9571434" cy="41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55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Image 4">
            <a:extLst>
              <a:ext uri="{FF2B5EF4-FFF2-40B4-BE49-F238E27FC236}">
                <a16:creationId xmlns:a16="http://schemas.microsoft.com/office/drawing/2014/main" id="{7C04B5A2-1FCF-0CDF-37A6-692FFDF08E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483" y="5435130"/>
            <a:ext cx="9571434" cy="414695"/>
          </a:xfrm>
          <a:prstGeom prst="rect">
            <a:avLst/>
          </a:prstGeom>
        </p:spPr>
      </p:pic>
      <p:sp>
        <p:nvSpPr>
          <p:cNvPr id="44" name="Text 13">
            <a:extLst>
              <a:ext uri="{FF2B5EF4-FFF2-40B4-BE49-F238E27FC236}">
                <a16:creationId xmlns:a16="http://schemas.microsoft.com/office/drawing/2014/main" id="{08CEE8D0-6860-35CD-D119-87E2194A8918}"/>
              </a:ext>
            </a:extLst>
          </p:cNvPr>
          <p:cNvSpPr/>
          <p:nvPr/>
        </p:nvSpPr>
        <p:spPr>
          <a:xfrm>
            <a:off x="1047483" y="5957100"/>
            <a:ext cx="9571434" cy="41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55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Image 5">
            <a:extLst>
              <a:ext uri="{FF2B5EF4-FFF2-40B4-BE49-F238E27FC236}">
                <a16:creationId xmlns:a16="http://schemas.microsoft.com/office/drawing/2014/main" id="{E5A3B9B8-7814-A3B6-5960-E6BE2C573E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483" y="5957100"/>
            <a:ext cx="9571434" cy="414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66E4F7-43D7-4300-7D2B-A4F06BAE4F61}"/>
              </a:ext>
            </a:extLst>
          </p:cNvPr>
          <p:cNvSpPr txBox="1"/>
          <p:nvPr/>
        </p:nvSpPr>
        <p:spPr>
          <a:xfrm>
            <a:off x="6559200" y="1856587"/>
            <a:ext cx="3728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………………………………………………………………………(1)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EFE75-7533-4DF3-CD77-75B224E7424B}"/>
              </a:ext>
            </a:extLst>
          </p:cNvPr>
          <p:cNvSpPr txBox="1"/>
          <p:nvPr/>
        </p:nvSpPr>
        <p:spPr>
          <a:xfrm>
            <a:off x="7460400" y="2788094"/>
            <a:ext cx="2898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……………………………………………………(2)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F9E12-9A71-31F3-C762-E49DAEC65220}"/>
              </a:ext>
            </a:extLst>
          </p:cNvPr>
          <p:cNvSpPr txBox="1"/>
          <p:nvPr/>
        </p:nvSpPr>
        <p:spPr>
          <a:xfrm>
            <a:off x="6487200" y="5073715"/>
            <a:ext cx="3818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……………………………………..…………………………...……(3)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BABEB-7065-7DD0-1419-1934C6590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3161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54781FE-9661-EA17-666F-6079B8BCA77C}"/>
              </a:ext>
            </a:extLst>
          </p:cNvPr>
          <p:cNvSpPr/>
          <p:nvPr/>
        </p:nvSpPr>
        <p:spPr>
          <a:xfrm>
            <a:off x="833914" y="783431"/>
            <a:ext cx="6598206" cy="58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6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Decision Variables &amp; Bounds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B5FC06B-559E-ECD6-7D7A-28B9EA4CF8E7}"/>
              </a:ext>
            </a:extLst>
          </p:cNvPr>
          <p:cNvSpPr/>
          <p:nvPr/>
        </p:nvSpPr>
        <p:spPr>
          <a:xfrm>
            <a:off x="833914" y="1681639"/>
            <a:ext cx="1296257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Four variables are defined at each time step 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 = 0, …, T−1</a:t>
            </a: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, each with explicit physical bounds: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860628E-10D6-4C43-26E8-C5B9E6F711C1}"/>
              </a:ext>
            </a:extLst>
          </p:cNvPr>
          <p:cNvSpPr/>
          <p:nvPr/>
        </p:nvSpPr>
        <p:spPr>
          <a:xfrm>
            <a:off x="833914" y="2131338"/>
            <a:ext cx="6403538" cy="2132886"/>
          </a:xfrm>
          <a:prstGeom prst="roundRect">
            <a:avLst>
              <a:gd name="adj" fmla="val 3699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0550DB1-D5A1-C1F6-F72B-9CC68C3CE88A}"/>
              </a:ext>
            </a:extLst>
          </p:cNvPr>
          <p:cNvSpPr/>
          <p:nvPr/>
        </p:nvSpPr>
        <p:spPr>
          <a:xfrm>
            <a:off x="856774" y="2154198"/>
            <a:ext cx="6357818" cy="563523"/>
          </a:xfrm>
          <a:prstGeom prst="roundRect">
            <a:avLst>
              <a:gd name="adj" fmla="val 9134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6B0CE4C-CCFE-044B-4C61-EFD94758B673}"/>
              </a:ext>
            </a:extLst>
          </p:cNvPr>
          <p:cNvSpPr/>
          <p:nvPr/>
        </p:nvSpPr>
        <p:spPr>
          <a:xfrm>
            <a:off x="3894773" y="2255996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1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82EA659-4318-5D0C-27FC-185FE9B2111E}"/>
              </a:ext>
            </a:extLst>
          </p:cNvPr>
          <p:cNvSpPr/>
          <p:nvPr/>
        </p:nvSpPr>
        <p:spPr>
          <a:xfrm>
            <a:off x="1044535" y="2873216"/>
            <a:ext cx="234827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Control Input </a:t>
            </a:r>
            <a:r>
              <a:rPr lang="en-US" sz="1800" i="1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u</a:t>
            </a:r>
            <a:r>
              <a:rPr lang="en-US" sz="1800" i="1" baseline="-250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t</a:t>
            </a:r>
            <a:endParaRPr lang="en-US" sz="1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86CB3F3-E065-65A4-1429-97C882070411}"/>
              </a:ext>
            </a:extLst>
          </p:cNvPr>
          <p:cNvSpPr/>
          <p:nvPr/>
        </p:nvSpPr>
        <p:spPr>
          <a:xfrm>
            <a:off x="1044535" y="3260050"/>
            <a:ext cx="598229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Normalized charge/discharge command.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6AA1356-05FB-D87B-077A-AF49F5AEC3B5}"/>
              </a:ext>
            </a:extLst>
          </p:cNvPr>
          <p:cNvSpPr/>
          <p:nvPr/>
        </p:nvSpPr>
        <p:spPr>
          <a:xfrm>
            <a:off x="1044535" y="3731538"/>
            <a:ext cx="5982295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0">
            <a:extLst>
              <a:ext uri="{FF2B5EF4-FFF2-40B4-BE49-F238E27FC236}">
                <a16:creationId xmlns:a16="http://schemas.microsoft.com/office/drawing/2014/main" id="{E83BCCFD-0326-2C53-7966-7D3773D63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35" y="3731538"/>
            <a:ext cx="5982295" cy="322064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2387CE0C-7807-F8E1-BF23-595685B98FF0}"/>
              </a:ext>
            </a:extLst>
          </p:cNvPr>
          <p:cNvSpPr/>
          <p:nvPr/>
        </p:nvSpPr>
        <p:spPr>
          <a:xfrm>
            <a:off x="7392948" y="2131338"/>
            <a:ext cx="6403538" cy="2132886"/>
          </a:xfrm>
          <a:prstGeom prst="roundRect">
            <a:avLst>
              <a:gd name="adj" fmla="val 3699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3758B01-47CF-1551-DD9E-BECEB04FD31B}"/>
              </a:ext>
            </a:extLst>
          </p:cNvPr>
          <p:cNvSpPr/>
          <p:nvPr/>
        </p:nvSpPr>
        <p:spPr>
          <a:xfrm>
            <a:off x="7415808" y="2154198"/>
            <a:ext cx="6357818" cy="563523"/>
          </a:xfrm>
          <a:prstGeom prst="roundRect">
            <a:avLst>
              <a:gd name="adj" fmla="val 9134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AE95FD6-E636-AEDF-A363-C95BEBF7A0FF}"/>
              </a:ext>
            </a:extLst>
          </p:cNvPr>
          <p:cNvSpPr/>
          <p:nvPr/>
        </p:nvSpPr>
        <p:spPr>
          <a:xfrm>
            <a:off x="10453807" y="2255996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2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9DF8F68-33BC-1D0F-AF48-735AA34E7115}"/>
              </a:ext>
            </a:extLst>
          </p:cNvPr>
          <p:cNvSpPr/>
          <p:nvPr/>
        </p:nvSpPr>
        <p:spPr>
          <a:xfrm>
            <a:off x="7603569" y="2873216"/>
            <a:ext cx="245745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State of Charge </a:t>
            </a:r>
            <a:r>
              <a:rPr lang="en-US" sz="1800" i="1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SOC</a:t>
            </a:r>
            <a:r>
              <a:rPr lang="en-US" sz="1800" i="1" baseline="-250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t</a:t>
            </a:r>
            <a:endParaRPr lang="en-US" sz="1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138FE9B-8E59-471D-7696-6BBA8D8E5993}"/>
              </a:ext>
            </a:extLst>
          </p:cNvPr>
          <p:cNvSpPr/>
          <p:nvPr/>
        </p:nvSpPr>
        <p:spPr>
          <a:xfrm>
            <a:off x="7603569" y="3260050"/>
            <a:ext cx="598229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Fractional energy level of the battery.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4F6AFBE-A951-7639-6A7A-03F07AFC5954}"/>
              </a:ext>
            </a:extLst>
          </p:cNvPr>
          <p:cNvSpPr/>
          <p:nvPr/>
        </p:nvSpPr>
        <p:spPr>
          <a:xfrm>
            <a:off x="7603569" y="3731538"/>
            <a:ext cx="598229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1">
            <a:extLst>
              <a:ext uri="{FF2B5EF4-FFF2-40B4-BE49-F238E27FC236}">
                <a16:creationId xmlns:a16="http://schemas.microsoft.com/office/drawing/2014/main" id="{53B6F62F-BE8F-3E44-11CC-0ECA7234A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569" y="3731538"/>
            <a:ext cx="5982295" cy="306824"/>
          </a:xfrm>
          <a:prstGeom prst="rect">
            <a:avLst/>
          </a:prstGeom>
        </p:spPr>
      </p:pic>
      <p:sp>
        <p:nvSpPr>
          <p:cNvPr id="20" name="Shape 14">
            <a:extLst>
              <a:ext uri="{FF2B5EF4-FFF2-40B4-BE49-F238E27FC236}">
                <a16:creationId xmlns:a16="http://schemas.microsoft.com/office/drawing/2014/main" id="{3C75CDDD-6A0A-54EF-95D9-D17E45015021}"/>
              </a:ext>
            </a:extLst>
          </p:cNvPr>
          <p:cNvSpPr/>
          <p:nvPr/>
        </p:nvSpPr>
        <p:spPr>
          <a:xfrm>
            <a:off x="833914" y="4419719"/>
            <a:ext cx="6403538" cy="2132886"/>
          </a:xfrm>
          <a:prstGeom prst="roundRect">
            <a:avLst>
              <a:gd name="adj" fmla="val 3699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B406EE32-AF5D-3FC7-69D5-795A27757B11}"/>
              </a:ext>
            </a:extLst>
          </p:cNvPr>
          <p:cNvSpPr/>
          <p:nvPr/>
        </p:nvSpPr>
        <p:spPr>
          <a:xfrm>
            <a:off x="856774" y="4442579"/>
            <a:ext cx="6357818" cy="563523"/>
          </a:xfrm>
          <a:prstGeom prst="roundRect">
            <a:avLst>
              <a:gd name="adj" fmla="val 9134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138BD636-B0CE-FB4A-29B5-3560D7FCB104}"/>
              </a:ext>
            </a:extLst>
          </p:cNvPr>
          <p:cNvSpPr/>
          <p:nvPr/>
        </p:nvSpPr>
        <p:spPr>
          <a:xfrm>
            <a:off x="3894773" y="4544378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3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68F55618-8342-36AB-878E-DFF41253073B}"/>
              </a:ext>
            </a:extLst>
          </p:cNvPr>
          <p:cNvSpPr/>
          <p:nvPr/>
        </p:nvSpPr>
        <p:spPr>
          <a:xfrm>
            <a:off x="1044535" y="5161598"/>
            <a:ext cx="234827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Grid Power </a:t>
            </a:r>
            <a:r>
              <a:rPr lang="en-US" sz="1800" i="1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P</a:t>
            </a:r>
            <a:r>
              <a:rPr lang="en-US" sz="1800" i="1" baseline="-250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t</a:t>
            </a:r>
            <a:endParaRPr lang="en-US" sz="1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2C4D0F0-5881-6C20-3D4A-D95854C8E267}"/>
              </a:ext>
            </a:extLst>
          </p:cNvPr>
          <p:cNvSpPr/>
          <p:nvPr/>
        </p:nvSpPr>
        <p:spPr>
          <a:xfrm>
            <a:off x="1044535" y="5548432"/>
            <a:ext cx="598229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Scheduled power exchange with the grid.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F951E0D-8CB3-9D0F-FE14-0C9945087C22}"/>
              </a:ext>
            </a:extLst>
          </p:cNvPr>
          <p:cNvSpPr/>
          <p:nvPr/>
        </p:nvSpPr>
        <p:spPr>
          <a:xfrm>
            <a:off x="1044535" y="6019919"/>
            <a:ext cx="5982295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2">
            <a:extLst>
              <a:ext uri="{FF2B5EF4-FFF2-40B4-BE49-F238E27FC236}">
                <a16:creationId xmlns:a16="http://schemas.microsoft.com/office/drawing/2014/main" id="{7E611C0D-A21A-29F0-8035-D9D523991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535" y="6019919"/>
            <a:ext cx="5982295" cy="322064"/>
          </a:xfrm>
          <a:prstGeom prst="rect">
            <a:avLst/>
          </a:prstGeom>
        </p:spPr>
      </p:pic>
      <p:sp>
        <p:nvSpPr>
          <p:cNvPr id="27" name="Shape 20">
            <a:extLst>
              <a:ext uri="{FF2B5EF4-FFF2-40B4-BE49-F238E27FC236}">
                <a16:creationId xmlns:a16="http://schemas.microsoft.com/office/drawing/2014/main" id="{3ED12896-2791-292A-D528-DD5404064476}"/>
              </a:ext>
            </a:extLst>
          </p:cNvPr>
          <p:cNvSpPr/>
          <p:nvPr/>
        </p:nvSpPr>
        <p:spPr>
          <a:xfrm>
            <a:off x="7392948" y="4419719"/>
            <a:ext cx="6403538" cy="2132886"/>
          </a:xfrm>
          <a:prstGeom prst="roundRect">
            <a:avLst>
              <a:gd name="adj" fmla="val 3699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707B9363-2F81-636A-1B86-C77F4E2360AF}"/>
              </a:ext>
            </a:extLst>
          </p:cNvPr>
          <p:cNvSpPr/>
          <p:nvPr/>
        </p:nvSpPr>
        <p:spPr>
          <a:xfrm>
            <a:off x="7415808" y="4442579"/>
            <a:ext cx="6357818" cy="563523"/>
          </a:xfrm>
          <a:prstGeom prst="roundRect">
            <a:avLst>
              <a:gd name="adj" fmla="val 9134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9D16C923-7DE6-113B-11D6-34A9E3CC64DE}"/>
              </a:ext>
            </a:extLst>
          </p:cNvPr>
          <p:cNvSpPr/>
          <p:nvPr/>
        </p:nvSpPr>
        <p:spPr>
          <a:xfrm>
            <a:off x="10453807" y="4544378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4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32CE3B3C-EACD-E1AF-0117-BE77A5B79E2B}"/>
              </a:ext>
            </a:extLst>
          </p:cNvPr>
          <p:cNvSpPr/>
          <p:nvPr/>
        </p:nvSpPr>
        <p:spPr>
          <a:xfrm>
            <a:off x="7603569" y="5161598"/>
            <a:ext cx="248947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Effective Power </a:t>
            </a:r>
            <a:r>
              <a:rPr lang="en-US" sz="1800" i="1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P</a:t>
            </a:r>
            <a:r>
              <a:rPr lang="en-US" sz="1800" i="1" baseline="-250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t</a:t>
            </a:r>
            <a:r>
              <a:rPr lang="en-US" sz="1800" i="1" baseline="30000" dirty="0">
                <a:solidFill>
                  <a:srgbClr val="404155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act</a:t>
            </a:r>
            <a:endParaRPr lang="en-US" sz="1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F89FBA28-3698-DDA8-CE3C-D5B3A35F725D}"/>
              </a:ext>
            </a:extLst>
          </p:cNvPr>
          <p:cNvSpPr/>
          <p:nvPr/>
        </p:nvSpPr>
        <p:spPr>
          <a:xfrm>
            <a:off x="7603569" y="5548432"/>
            <a:ext cx="598229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Battery power after efficiency losses.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E6E5B26F-5D8F-1456-3F4A-9921289D882A}"/>
              </a:ext>
            </a:extLst>
          </p:cNvPr>
          <p:cNvSpPr/>
          <p:nvPr/>
        </p:nvSpPr>
        <p:spPr>
          <a:xfrm>
            <a:off x="7603569" y="6019919"/>
            <a:ext cx="5982295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765D8B53-8421-26DD-FEFF-2E1224EA7B86}"/>
              </a:ext>
            </a:extLst>
          </p:cNvPr>
          <p:cNvSpPr/>
          <p:nvPr/>
        </p:nvSpPr>
        <p:spPr>
          <a:xfrm>
            <a:off x="833914" y="6727627"/>
            <a:ext cx="12962573" cy="718542"/>
          </a:xfrm>
          <a:prstGeom prst="roundRect">
            <a:avLst>
              <a:gd name="adj" fmla="val 10981"/>
            </a:avLst>
          </a:prstGeom>
          <a:solidFill>
            <a:srgbClr val="BBCDF7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 4">
            <a:extLst>
              <a:ext uri="{FF2B5EF4-FFF2-40B4-BE49-F238E27FC236}">
                <a16:creationId xmlns:a16="http://schemas.microsoft.com/office/drawing/2014/main" id="{782AB7C3-D2D1-C2A8-3051-DF0CEB874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75" y="6988493"/>
            <a:ext cx="234791" cy="187762"/>
          </a:xfrm>
          <a:prstGeom prst="rect">
            <a:avLst/>
          </a:prstGeom>
        </p:spPr>
      </p:pic>
      <p:sp>
        <p:nvSpPr>
          <p:cNvPr id="36" name="Text 27">
            <a:extLst>
              <a:ext uri="{FF2B5EF4-FFF2-40B4-BE49-F238E27FC236}">
                <a16:creationId xmlns:a16="http://schemas.microsoft.com/office/drawing/2014/main" id="{DB215992-83FD-390C-1828-3B607994BF57}"/>
              </a:ext>
            </a:extLst>
          </p:cNvPr>
          <p:cNvSpPr/>
          <p:nvPr/>
        </p:nvSpPr>
        <p:spPr>
          <a:xfrm>
            <a:off x="1444228" y="6930033"/>
            <a:ext cx="12164497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Sign convention: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P</a:t>
            </a:r>
            <a:r>
              <a:rPr lang="en-US" sz="1600" i="1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&gt; 0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→ grid import (cost); 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P</a:t>
            </a:r>
            <a:r>
              <a:rPr lang="en-US" sz="1600" i="1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&lt; 0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→ grid export (revenue).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Image 3">
            <a:extLst>
              <a:ext uri="{FF2B5EF4-FFF2-40B4-BE49-F238E27FC236}">
                <a16:creationId xmlns:a16="http://schemas.microsoft.com/office/drawing/2014/main" id="{DCFFA32C-1499-8A0C-2938-F0A697850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569" y="6019919"/>
            <a:ext cx="5982295" cy="3220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FE21F-1F87-5F29-441B-6DA393652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67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CD3A75-B0E3-8B71-E5B6-D5296BA5293B}"/>
              </a:ext>
            </a:extLst>
          </p:cNvPr>
          <p:cNvSpPr/>
          <p:nvPr/>
        </p:nvSpPr>
        <p:spPr>
          <a:xfrm>
            <a:off x="708303" y="763263"/>
            <a:ext cx="99243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Objective: Minimize Electricity Cost (1)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FF67DE-7451-1D43-5746-9616D540B144}"/>
              </a:ext>
            </a:extLst>
          </p:cNvPr>
          <p:cNvSpPr/>
          <p:nvPr/>
        </p:nvSpPr>
        <p:spPr>
          <a:xfrm>
            <a:off x="708303" y="2016276"/>
            <a:ext cx="624470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Minimize total energy procurement cost over the horizon 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AC71A2-0946-3150-FE61-18677FB6E150}"/>
              </a:ext>
            </a:extLst>
          </p:cNvPr>
          <p:cNvSpPr/>
          <p:nvPr/>
        </p:nvSpPr>
        <p:spPr>
          <a:xfrm>
            <a:off x="708303" y="3036761"/>
            <a:ext cx="6244709" cy="955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063DBD4C-4E18-00D3-E74B-B0AEA078A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03" y="3036761"/>
            <a:ext cx="6244709" cy="95571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0519FDC-2649-0222-FC60-96B2A6F45F00}"/>
              </a:ext>
            </a:extLst>
          </p:cNvPr>
          <p:cNvSpPr/>
          <p:nvPr/>
        </p:nvSpPr>
        <p:spPr>
          <a:xfrm>
            <a:off x="708303" y="4279536"/>
            <a:ext cx="6244709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where </a:t>
            </a:r>
            <a:r>
              <a:rPr lang="el-GR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π</a:t>
            </a:r>
            <a:r>
              <a:rPr lang="de-DE" sz="1600" i="1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is the electricity spot price at step 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. The optimizer exploits low-price periods to charge and high-price periods to discharge, reducing net grid cost.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376E915-8D3A-9E52-0D72-1E656EA39E40}"/>
              </a:ext>
            </a:extLst>
          </p:cNvPr>
          <p:cNvSpPr/>
          <p:nvPr/>
        </p:nvSpPr>
        <p:spPr>
          <a:xfrm>
            <a:off x="7350681" y="1812203"/>
            <a:ext cx="6571417" cy="3767733"/>
          </a:xfrm>
          <a:prstGeom prst="roundRect">
            <a:avLst>
              <a:gd name="adj" fmla="val 4335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3C41AC-2FF8-06FB-005D-36208E181D4B}"/>
              </a:ext>
            </a:extLst>
          </p:cNvPr>
          <p:cNvSpPr/>
          <p:nvPr/>
        </p:nvSpPr>
        <p:spPr>
          <a:xfrm>
            <a:off x="7577495" y="2039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Variable Legend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4E3D43B-8B98-E1B1-8FB5-F51E6E262E02}"/>
              </a:ext>
            </a:extLst>
          </p:cNvPr>
          <p:cNvSpPr/>
          <p:nvPr/>
        </p:nvSpPr>
        <p:spPr>
          <a:xfrm>
            <a:off x="7577495" y="2620162"/>
            <a:ext cx="6117788" cy="171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l-GR" sz="1600" b="1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π</a:t>
            </a:r>
            <a:r>
              <a:rPr lang="de-DE" sz="1600" b="1" i="1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b="1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— electricity price at time 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b="1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P</a:t>
            </a:r>
            <a:r>
              <a:rPr lang="en-US" sz="1600" b="1" i="1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b="1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&gt; 0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— import; pay </a:t>
            </a:r>
            <a:r>
              <a:rPr lang="el-GR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π</a:t>
            </a:r>
            <a:r>
              <a:rPr lang="de-DE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.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Pt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b="1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P</a:t>
            </a:r>
            <a:r>
              <a:rPr lang="en-US" sz="1600" b="1" i="1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b="1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&lt; 0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— export; earn |</a:t>
            </a:r>
            <a:r>
              <a:rPr lang="el-GR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π</a:t>
            </a:r>
            <a:r>
              <a:rPr lang="de-DE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.Pt|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b="1" i="1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— optimization horizon length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C8C4D1-AF58-9B30-31E0-093030009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87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7AC6FC-E533-9527-4EA9-27D68D839484}"/>
              </a:ext>
            </a:extLst>
          </p:cNvPr>
          <p:cNvSpPr/>
          <p:nvPr/>
        </p:nvSpPr>
        <p:spPr>
          <a:xfrm>
            <a:off x="707350" y="727650"/>
            <a:ext cx="9705142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Constraints: Smooth power mapping (2)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84B920-B719-76D5-AB0A-E42369EFFB58}"/>
              </a:ext>
            </a:extLst>
          </p:cNvPr>
          <p:cNvSpPr/>
          <p:nvPr/>
        </p:nvSpPr>
        <p:spPr>
          <a:xfrm>
            <a:off x="707350" y="1719441"/>
            <a:ext cx="13215699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Non-differentiable switching at SOC limits is approximated by smooth tanh-based gates, enabling gradient-based solvers.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B5678C-3C6A-0B89-904D-BC41D4FCE9AF}"/>
              </a:ext>
            </a:extLst>
          </p:cNvPr>
          <p:cNvSpPr/>
          <p:nvPr/>
        </p:nvSpPr>
        <p:spPr>
          <a:xfrm>
            <a:off x="707350" y="2558831"/>
            <a:ext cx="13215699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BFAF1AB-223F-6747-E151-444EF1A3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50" y="2558831"/>
            <a:ext cx="13215699" cy="3530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F99ECA0-5CD8-78BE-293D-114375FEB736}"/>
              </a:ext>
            </a:extLst>
          </p:cNvPr>
          <p:cNvSpPr/>
          <p:nvPr/>
        </p:nvSpPr>
        <p:spPr>
          <a:xfrm>
            <a:off x="707350" y="3139737"/>
            <a:ext cx="1321569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The gated power map becomes: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8C663EA-808E-D4B4-778A-27B6115B8359}"/>
              </a:ext>
            </a:extLst>
          </p:cNvPr>
          <p:cNvSpPr/>
          <p:nvPr/>
        </p:nvSpPr>
        <p:spPr>
          <a:xfrm>
            <a:off x="707350" y="3673375"/>
            <a:ext cx="1321569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90651D83-5F2B-719A-962B-4C10CAC7F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50" y="3673375"/>
            <a:ext cx="13215699" cy="789622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22E8B4CA-04E1-6AEA-D0B8-08D933C49394}"/>
              </a:ext>
            </a:extLst>
          </p:cNvPr>
          <p:cNvSpPr/>
          <p:nvPr/>
        </p:nvSpPr>
        <p:spPr>
          <a:xfrm>
            <a:off x="707350" y="4690883"/>
            <a:ext cx="3168848" cy="1488281"/>
          </a:xfrm>
          <a:prstGeom prst="roundRect">
            <a:avLst>
              <a:gd name="adj" fmla="val 570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C558C392-A9CD-C482-4A4B-F8686B03660C}"/>
                  </a:ext>
                </a:extLst>
              </p:cNvPr>
              <p:cNvSpPr/>
              <p:nvPr/>
            </p:nvSpPr>
            <p:spPr>
              <a:xfrm>
                <a:off x="917019" y="4900552"/>
                <a:ext cx="2526506" cy="3342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245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r>
                  <a:rPr lang="en-US" i="1" baseline="-25000" dirty="0">
                    <a:solidFill>
                      <a:srgbClr val="404155"/>
                    </a:solidFill>
                    <a:latin typeface="Arial" panose="020B0604020202020204" pitchFamily="34" charset="0"/>
                    <a:ea typeface="Alexandria" pitchFamily="34" charset="-122"/>
                    <a:cs typeface="Arial" panose="020B0604020202020204" pitchFamily="34" charset="0"/>
                  </a:rPr>
                  <a:t>k</a:t>
                </a:r>
                <a:r>
                  <a:rPr lang="en-US" i="1" dirty="0">
                    <a:solidFill>
                      <a:srgbClr val="404155"/>
                    </a:solidFill>
                    <a:latin typeface="Arial" panose="020B0604020202020204" pitchFamily="34" charset="0"/>
                    <a:ea typeface="Alexandria" pitchFamily="34" charset="-122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de-DE" b="0" i="1" baseline="-25000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de-DE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de-DE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𝜀</m:t>
                    </m:r>
                    <m:r>
                      <a:rPr lang="de-DE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C558C392-A9CD-C482-4A4B-F8686B036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19" y="4900552"/>
                <a:ext cx="2526506" cy="334208"/>
              </a:xfrm>
              <a:prstGeom prst="rect">
                <a:avLst/>
              </a:prstGeom>
              <a:blipFill>
                <a:blip r:embed="rId4"/>
                <a:stretch>
                  <a:fillRect l="-2410" t="-18182" b="-2909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7">
                <a:extLst>
                  <a:ext uri="{FF2B5EF4-FFF2-40B4-BE49-F238E27FC236}">
                    <a16:creationId xmlns:a16="http://schemas.microsoft.com/office/drawing/2014/main" id="{838B5F6C-C474-9603-1188-3D60994DAAC3}"/>
                  </a:ext>
                </a:extLst>
              </p:cNvPr>
              <p:cNvSpPr/>
              <p:nvPr/>
            </p:nvSpPr>
            <p:spPr>
              <a:xfrm>
                <a:off x="917019" y="5342751"/>
                <a:ext cx="2749510" cy="626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2400"/>
                  </a:lnSpc>
                </a:pPr>
                <a:r>
                  <a:rPr lang="en-US" sz="1600" dirty="0">
                    <a:solidFill>
                      <a:srgbClr val="404155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Activates charging branch when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de-DE" sz="1600" b="0" i="1" baseline="-25000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de-DE" sz="1600" b="0" i="1" baseline="-25000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600" i="1" dirty="0">
                    <a:solidFill>
                      <a:srgbClr val="404155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&gt; 0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 7">
                <a:extLst>
                  <a:ext uri="{FF2B5EF4-FFF2-40B4-BE49-F238E27FC236}">
                    <a16:creationId xmlns:a16="http://schemas.microsoft.com/office/drawing/2014/main" id="{838B5F6C-C474-9603-1188-3D60994DA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19" y="5342751"/>
                <a:ext cx="2749510" cy="626745"/>
              </a:xfrm>
              <a:prstGeom prst="rect">
                <a:avLst/>
              </a:prstGeom>
              <a:blipFill>
                <a:blip r:embed="rId5"/>
                <a:stretch>
                  <a:fillRect l="-4435" t="-3883" b="-13592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8">
            <a:extLst>
              <a:ext uri="{FF2B5EF4-FFF2-40B4-BE49-F238E27FC236}">
                <a16:creationId xmlns:a16="http://schemas.microsoft.com/office/drawing/2014/main" id="{4F013EC2-43EF-8F6F-6DE5-E866B799E29F}"/>
              </a:ext>
            </a:extLst>
          </p:cNvPr>
          <p:cNvSpPr/>
          <p:nvPr/>
        </p:nvSpPr>
        <p:spPr>
          <a:xfrm>
            <a:off x="4056221" y="4690883"/>
            <a:ext cx="3168968" cy="1488281"/>
          </a:xfrm>
          <a:prstGeom prst="roundRect">
            <a:avLst>
              <a:gd name="adj" fmla="val 570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9">
                <a:extLst>
                  <a:ext uri="{FF2B5EF4-FFF2-40B4-BE49-F238E27FC236}">
                    <a16:creationId xmlns:a16="http://schemas.microsoft.com/office/drawing/2014/main" id="{E0EC8211-6C28-5B6D-8EA9-4350CADEBB36}"/>
                  </a:ext>
                </a:extLst>
              </p:cNvPr>
              <p:cNvSpPr/>
              <p:nvPr/>
            </p:nvSpPr>
            <p:spPr>
              <a:xfrm>
                <a:off x="4265890" y="4900552"/>
                <a:ext cx="2526506" cy="3342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245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r>
                  <a:rPr lang="en-US" i="1" baseline="-25000" dirty="0">
                    <a:solidFill>
                      <a:srgbClr val="404155"/>
                    </a:solidFill>
                    <a:latin typeface="Arial" panose="020B0604020202020204" pitchFamily="34" charset="0"/>
                    <a:ea typeface="Alexandria" pitchFamily="34" charset="-122"/>
                    <a:cs typeface="Arial" panose="020B0604020202020204" pitchFamily="34" charset="0"/>
                  </a:rPr>
                  <a:t>k</a:t>
                </a:r>
                <a:r>
                  <a:rPr lang="en-US" i="1" dirty="0">
                    <a:solidFill>
                      <a:srgbClr val="404155"/>
                    </a:solidFill>
                    <a:latin typeface="Arial" panose="020B0604020202020204" pitchFamily="34" charset="0"/>
                    <a:ea typeface="Alexandria" pitchFamily="34" charset="-122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i="1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de-DE" b="0" i="1" baseline="-25000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de-DE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de-DE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𝜀</m:t>
                    </m:r>
                    <m:r>
                      <a:rPr lang="de-DE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 9">
                <a:extLst>
                  <a:ext uri="{FF2B5EF4-FFF2-40B4-BE49-F238E27FC236}">
                    <a16:creationId xmlns:a16="http://schemas.microsoft.com/office/drawing/2014/main" id="{E0EC8211-6C28-5B6D-8EA9-4350CADEB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890" y="4900552"/>
                <a:ext cx="2526506" cy="334208"/>
              </a:xfrm>
              <a:prstGeom prst="rect">
                <a:avLst/>
              </a:prstGeom>
              <a:blipFill>
                <a:blip r:embed="rId6"/>
                <a:stretch>
                  <a:fillRect l="-2415" t="-18182" b="-2909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0">
                <a:extLst>
                  <a:ext uri="{FF2B5EF4-FFF2-40B4-BE49-F238E27FC236}">
                    <a16:creationId xmlns:a16="http://schemas.microsoft.com/office/drawing/2014/main" id="{122D99D7-D316-B577-F8F8-8552BCB1D6DF}"/>
                  </a:ext>
                </a:extLst>
              </p:cNvPr>
              <p:cNvSpPr/>
              <p:nvPr/>
            </p:nvSpPr>
            <p:spPr>
              <a:xfrm>
                <a:off x="4265890" y="5342751"/>
                <a:ext cx="2749629" cy="626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2400"/>
                  </a:lnSpc>
                </a:pPr>
                <a:r>
                  <a:rPr lang="en-US" sz="1600" dirty="0">
                    <a:solidFill>
                      <a:srgbClr val="404155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Activates discharging branch when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de-DE" sz="1600" b="0" i="1" baseline="-25000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de-DE" sz="1600" b="0" i="1" baseline="-25000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600" i="1" dirty="0">
                    <a:solidFill>
                      <a:srgbClr val="404155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&lt; 0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 10">
                <a:extLst>
                  <a:ext uri="{FF2B5EF4-FFF2-40B4-BE49-F238E27FC236}">
                    <a16:creationId xmlns:a16="http://schemas.microsoft.com/office/drawing/2014/main" id="{122D99D7-D316-B577-F8F8-8552BCB1D6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890" y="5342751"/>
                <a:ext cx="2749629" cy="626745"/>
              </a:xfrm>
              <a:prstGeom prst="rect">
                <a:avLst/>
              </a:prstGeom>
              <a:blipFill>
                <a:blip r:embed="rId7"/>
                <a:stretch>
                  <a:fillRect l="-4656" t="-3883" r="-887" b="-13592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1">
            <a:extLst>
              <a:ext uri="{FF2B5EF4-FFF2-40B4-BE49-F238E27FC236}">
                <a16:creationId xmlns:a16="http://schemas.microsoft.com/office/drawing/2014/main" id="{9B4DB584-7A73-B3F2-4F5C-B59049940855}"/>
              </a:ext>
            </a:extLst>
          </p:cNvPr>
          <p:cNvSpPr/>
          <p:nvPr/>
        </p:nvSpPr>
        <p:spPr>
          <a:xfrm>
            <a:off x="7405211" y="4690883"/>
            <a:ext cx="3168848" cy="1488281"/>
          </a:xfrm>
          <a:prstGeom prst="roundRect">
            <a:avLst>
              <a:gd name="adj" fmla="val 570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2">
                <a:extLst>
                  <a:ext uri="{FF2B5EF4-FFF2-40B4-BE49-F238E27FC236}">
                    <a16:creationId xmlns:a16="http://schemas.microsoft.com/office/drawing/2014/main" id="{0BB3F0FC-A678-7B97-B37C-8D0B169BE764}"/>
                  </a:ext>
                </a:extLst>
              </p:cNvPr>
              <p:cNvSpPr/>
              <p:nvPr/>
            </p:nvSpPr>
            <p:spPr>
              <a:xfrm>
                <a:off x="7614880" y="4900552"/>
                <a:ext cx="2526506" cy="3342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24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4041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i="1" baseline="-25000" dirty="0">
                          <a:solidFill>
                            <a:srgbClr val="404155"/>
                          </a:solidFill>
                          <a:latin typeface="Arial" panose="020B0604020202020204" pitchFamily="34" charset="0"/>
                          <a:ea typeface="Alexandria" pitchFamily="34" charset="-122"/>
                          <a:cs typeface="Arial" panose="020B0604020202020204" pitchFamily="34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rgbClr val="404155"/>
                          </a:solidFill>
                          <a:latin typeface="Arial" panose="020B0604020202020204" pitchFamily="34" charset="0"/>
                          <a:ea typeface="Alexandria" pitchFamily="34" charset="-122"/>
                          <a:cs typeface="Arial" panose="020B0604020202020204" pitchFamily="34" charset="0"/>
                        </a:rPr>
                        <m:t>(</m:t>
                      </m:r>
                      <m:r>
                        <a:rPr lang="de-DE" b="0" i="1" dirty="0" smtClean="0">
                          <a:solidFill>
                            <a:srgbClr val="404155"/>
                          </a:solidFill>
                          <a:latin typeface="Cambria Math" panose="02040503050406030204" pitchFamily="18" charset="0"/>
                          <a:ea typeface="Alexandria" pitchFamily="34" charset="-122"/>
                          <a:cs typeface="Arial" panose="020B0604020202020204" pitchFamily="34" charset="0"/>
                        </a:rPr>
                        <m:t>0.995</m:t>
                      </m:r>
                      <m:r>
                        <a:rPr lang="de-DE" i="1">
                          <a:solidFill>
                            <a:srgbClr val="4041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de-DE" b="0" i="1" smtClean="0">
                          <a:solidFill>
                            <a:srgbClr val="4041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𝑆𝑂𝐶</m:t>
                      </m:r>
                      <m:r>
                        <a:rPr lang="de-DE" b="0" i="1" baseline="-25000" smtClean="0">
                          <a:solidFill>
                            <a:srgbClr val="4041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de-DE" i="1">
                          <a:solidFill>
                            <a:srgbClr val="40415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 12">
                <a:extLst>
                  <a:ext uri="{FF2B5EF4-FFF2-40B4-BE49-F238E27FC236}">
                    <a16:creationId xmlns:a16="http://schemas.microsoft.com/office/drawing/2014/main" id="{0BB3F0FC-A678-7B97-B37C-8D0B169BE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880" y="4900552"/>
                <a:ext cx="2526506" cy="334208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3">
            <a:extLst>
              <a:ext uri="{FF2B5EF4-FFF2-40B4-BE49-F238E27FC236}">
                <a16:creationId xmlns:a16="http://schemas.microsoft.com/office/drawing/2014/main" id="{9BE3485A-E4A7-61A9-77C6-4EFC842F086F}"/>
              </a:ext>
            </a:extLst>
          </p:cNvPr>
          <p:cNvSpPr/>
          <p:nvPr/>
        </p:nvSpPr>
        <p:spPr>
          <a:xfrm>
            <a:off x="7614880" y="5342751"/>
            <a:ext cx="2749510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Suppresses charging near full (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SOC</a:t>
            </a:r>
            <a:r>
              <a:rPr lang="el-GR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≈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1</a:t>
            </a: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4A1738B-3AB3-9CCA-4B39-AF62AAE24B5E}"/>
              </a:ext>
            </a:extLst>
          </p:cNvPr>
          <p:cNvSpPr/>
          <p:nvPr/>
        </p:nvSpPr>
        <p:spPr>
          <a:xfrm>
            <a:off x="10754082" y="4690883"/>
            <a:ext cx="3168968" cy="1488281"/>
          </a:xfrm>
          <a:prstGeom prst="roundRect">
            <a:avLst>
              <a:gd name="adj" fmla="val 570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5">
                <a:extLst>
                  <a:ext uri="{FF2B5EF4-FFF2-40B4-BE49-F238E27FC236}">
                    <a16:creationId xmlns:a16="http://schemas.microsoft.com/office/drawing/2014/main" id="{875840DB-81A9-B780-A69A-E8B8C9112246}"/>
                  </a:ext>
                </a:extLst>
              </p:cNvPr>
              <p:cNvSpPr/>
              <p:nvPr/>
            </p:nvSpPr>
            <p:spPr>
              <a:xfrm>
                <a:off x="10963751" y="4900552"/>
                <a:ext cx="2526506" cy="3342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ts val="245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r>
                  <a:rPr lang="en-US" i="1" baseline="-25000" dirty="0">
                    <a:solidFill>
                      <a:srgbClr val="404155"/>
                    </a:solidFill>
                    <a:latin typeface="Arial" panose="020B0604020202020204" pitchFamily="34" charset="0"/>
                    <a:ea typeface="Alexandria" pitchFamily="34" charset="-122"/>
                    <a:cs typeface="Arial" panose="020B0604020202020204" pitchFamily="34" charset="0"/>
                  </a:rPr>
                  <a:t>k</a:t>
                </a:r>
                <a:r>
                  <a:rPr lang="en-US" i="1" dirty="0">
                    <a:solidFill>
                      <a:srgbClr val="404155"/>
                    </a:solidFill>
                    <a:latin typeface="Arial" panose="020B0604020202020204" pitchFamily="34" charset="0"/>
                    <a:ea typeface="Alexandria" pitchFamily="34" charset="-122"/>
                    <a:cs typeface="Arial" panose="020B0604020202020204" pitchFamily="34" charset="0"/>
                  </a:rPr>
                  <a:t>(SOC</a:t>
                </a:r>
                <a:r>
                  <a:rPr lang="en-US" i="1" baseline="-25000" dirty="0">
                    <a:solidFill>
                      <a:srgbClr val="404155"/>
                    </a:solidFill>
                    <a:latin typeface="Arial" panose="020B0604020202020204" pitchFamily="34" charset="0"/>
                    <a:ea typeface="Alexandria" pitchFamily="34" charset="-122"/>
                    <a:cs typeface="Arial" panose="020B0604020202020204" pitchFamily="34" charset="0"/>
                  </a:rPr>
                  <a:t>t</a:t>
                </a:r>
                <a14:m>
                  <m:oMath xmlns:m="http://schemas.openxmlformats.org/officeDocument/2006/math">
                    <m:r>
                      <a:rPr lang="de-DE" b="0" i="1" baseline="-25000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e-DE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−0.005)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 15">
                <a:extLst>
                  <a:ext uri="{FF2B5EF4-FFF2-40B4-BE49-F238E27FC236}">
                    <a16:creationId xmlns:a16="http://schemas.microsoft.com/office/drawing/2014/main" id="{875840DB-81A9-B780-A69A-E8B8C9112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3751" y="4900552"/>
                <a:ext cx="2526506" cy="334208"/>
              </a:xfrm>
              <a:prstGeom prst="rect">
                <a:avLst/>
              </a:prstGeom>
              <a:blipFill>
                <a:blip r:embed="rId9"/>
                <a:stretch>
                  <a:fillRect l="-2415" t="-18182" b="-2909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6">
            <a:extLst>
              <a:ext uri="{FF2B5EF4-FFF2-40B4-BE49-F238E27FC236}">
                <a16:creationId xmlns:a16="http://schemas.microsoft.com/office/drawing/2014/main" id="{7FF2C070-ECE8-29B6-6EF4-974C90FEFADC}"/>
              </a:ext>
            </a:extLst>
          </p:cNvPr>
          <p:cNvSpPr/>
          <p:nvPr/>
        </p:nvSpPr>
        <p:spPr>
          <a:xfrm>
            <a:off x="10963751" y="5342751"/>
            <a:ext cx="2749629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Suppresses discharging near empty (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SOC</a:t>
            </a:r>
            <a:r>
              <a:rPr lang="el-GR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≈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0</a:t>
            </a: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192CCE8-125C-572F-55F6-9418A0D69F85}"/>
              </a:ext>
            </a:extLst>
          </p:cNvPr>
          <p:cNvSpPr/>
          <p:nvPr/>
        </p:nvSpPr>
        <p:spPr>
          <a:xfrm>
            <a:off x="707350" y="6381690"/>
            <a:ext cx="13215699" cy="1120259"/>
          </a:xfrm>
          <a:prstGeom prst="roundRect">
            <a:avLst>
              <a:gd name="adj" fmla="val 7578"/>
            </a:avLst>
          </a:prstGeom>
          <a:solidFill>
            <a:srgbClr val="BBCDF7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A04BBEF4-BFAE-C57D-864B-4E7C76B4FE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399" y="6663154"/>
            <a:ext cx="252651" cy="202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18">
                <a:extLst>
                  <a:ext uri="{FF2B5EF4-FFF2-40B4-BE49-F238E27FC236}">
                    <a16:creationId xmlns:a16="http://schemas.microsoft.com/office/drawing/2014/main" id="{D7C88280-6432-B705-1E12-574E33783BAD}"/>
                  </a:ext>
                </a:extLst>
              </p:cNvPr>
              <p:cNvSpPr/>
              <p:nvPr/>
            </p:nvSpPr>
            <p:spPr>
              <a:xfrm>
                <a:off x="1364099" y="6612195"/>
                <a:ext cx="12356902" cy="626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ts val="2400"/>
                  </a:lnSpc>
                  <a:buNone/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Parameters: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 dead-band offset</a:t>
                </a:r>
                <a:r>
                  <a:rPr lang="de-DE" sz="1600" b="0" dirty="0">
                    <a:solidFill>
                      <a:srgbClr val="404155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600" b="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= 0.0025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; steepness </a:t>
                </a:r>
                <a:r>
                  <a:rPr lang="en-US" sz="1600" i="1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k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 controls sharpness of the gate transition. Larger </a:t>
                </a:r>
                <a:r>
                  <a:rPr lang="en-US" sz="1600" i="1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k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 approaches a hard switch.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 18">
                <a:extLst>
                  <a:ext uri="{FF2B5EF4-FFF2-40B4-BE49-F238E27FC236}">
                    <a16:creationId xmlns:a16="http://schemas.microsoft.com/office/drawing/2014/main" id="{D7C88280-6432-B705-1E12-574E33783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099" y="6612195"/>
                <a:ext cx="12356902" cy="626745"/>
              </a:xfrm>
              <a:prstGeom prst="rect">
                <a:avLst/>
              </a:prstGeom>
              <a:blipFill>
                <a:blip r:embed="rId11"/>
                <a:stretch>
                  <a:fillRect l="-1036" t="-4902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CBCEF0D-68CA-A31C-8AD9-594B25104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22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4">
            <a:extLst>
              <a:ext uri="{FF2B5EF4-FFF2-40B4-BE49-F238E27FC236}">
                <a16:creationId xmlns:a16="http://schemas.microsoft.com/office/drawing/2014/main" id="{4FEB6104-1CBA-2210-B1E6-3EF011411F23}"/>
              </a:ext>
            </a:extLst>
          </p:cNvPr>
          <p:cNvSpPr/>
          <p:nvPr/>
        </p:nvSpPr>
        <p:spPr>
          <a:xfrm>
            <a:off x="7432356" y="2337850"/>
            <a:ext cx="6766044" cy="4797349"/>
          </a:xfrm>
          <a:prstGeom prst="roundRect">
            <a:avLst>
              <a:gd name="adj" fmla="val 4335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E93710BE-7035-78F2-20C1-E123C766B612}"/>
              </a:ext>
            </a:extLst>
          </p:cNvPr>
          <p:cNvSpPr/>
          <p:nvPr/>
        </p:nvSpPr>
        <p:spPr>
          <a:xfrm>
            <a:off x="339506" y="2337851"/>
            <a:ext cx="6766044" cy="4797349"/>
          </a:xfrm>
          <a:prstGeom prst="roundRect">
            <a:avLst>
              <a:gd name="adj" fmla="val 4335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669845E-DD44-BE5E-0CCF-7158C5DF971F}"/>
              </a:ext>
            </a:extLst>
          </p:cNvPr>
          <p:cNvSpPr/>
          <p:nvPr/>
        </p:nvSpPr>
        <p:spPr>
          <a:xfrm>
            <a:off x="789980" y="1344334"/>
            <a:ext cx="94911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Constraints: Efficiency Model &amp; SOC Dynamics (3)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D66967-E49B-1715-C8E2-B6FE43B58480}"/>
              </a:ext>
            </a:extLst>
          </p:cNvPr>
          <p:cNvSpPr/>
          <p:nvPr/>
        </p:nvSpPr>
        <p:spPr>
          <a:xfrm>
            <a:off x="789980" y="26200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Efficiency Map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4496DFF3-54FF-5290-59F4-B2624099FAE5}"/>
                  </a:ext>
                </a:extLst>
              </p:cNvPr>
              <p:cNvSpPr/>
              <p:nvPr/>
            </p:nvSpPr>
            <p:spPr>
              <a:xfrm>
                <a:off x="789980" y="3201233"/>
                <a:ext cx="6244709" cy="7334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600" dirty="0">
                    <a:solidFill>
                      <a:srgbClr val="404155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Nobile" pitchFamily="34" charset="-122"/>
                        <a:cs typeface="Nobile" pitchFamily="34" charset="-120"/>
                      </a:rPr>
                      <m:t>η</m:t>
                    </m:r>
                  </m:oMath>
                </a14:m>
                <a:r>
                  <a:rPr lang="en-US" sz="1600" dirty="0">
                    <a:solidFill>
                      <a:srgbClr val="404155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 is applied to both charge and discharge: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4496DFF3-54FF-5290-59F4-B2624099FA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80" y="3201233"/>
                <a:ext cx="6244709" cy="733425"/>
              </a:xfrm>
              <a:prstGeom prst="rect">
                <a:avLst/>
              </a:prstGeom>
              <a:blipFill>
                <a:blip r:embed="rId2"/>
                <a:stretch>
                  <a:fillRect l="-205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>
            <a:extLst>
              <a:ext uri="{FF2B5EF4-FFF2-40B4-BE49-F238E27FC236}">
                <a16:creationId xmlns:a16="http://schemas.microsoft.com/office/drawing/2014/main" id="{1D37B948-B506-3275-A4AC-2DA87D7FA8E0}"/>
              </a:ext>
            </a:extLst>
          </p:cNvPr>
          <p:cNvSpPr/>
          <p:nvPr/>
        </p:nvSpPr>
        <p:spPr>
          <a:xfrm>
            <a:off x="789980" y="4221718"/>
            <a:ext cx="6244709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10BE310A-DACE-787A-46D2-DB0D3FC27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80" y="4221718"/>
            <a:ext cx="6244709" cy="3932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A860901A-E4EA-782B-EFAB-03471B3D8C95}"/>
                  </a:ext>
                </a:extLst>
              </p:cNvPr>
              <p:cNvSpPr/>
              <p:nvPr/>
            </p:nvSpPr>
            <p:spPr>
              <a:xfrm>
                <a:off x="789980" y="4902041"/>
                <a:ext cx="6244709" cy="11039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2850"/>
                  </a:lnSpc>
                </a:pPr>
                <a:r>
                  <a:rPr lang="en-US" sz="1600" dirty="0">
                    <a:solidFill>
                      <a:srgbClr val="404155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Implementation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solidFill>
                          <a:srgbClr val="404155"/>
                        </a:solidFill>
                        <a:latin typeface="Cambria Math" panose="02040503050406030204" pitchFamily="18" charset="0"/>
                        <a:ea typeface="Nobile" pitchFamily="34" charset="-122"/>
                        <a:cs typeface="Nobile" pitchFamily="34" charset="-120"/>
                      </a:rPr>
                      <m:t>η</m:t>
                    </m:r>
                  </m:oMath>
                </a14:m>
                <a:r>
                  <a:rPr lang="en-US" sz="1600" i="1" dirty="0">
                    <a:solidFill>
                      <a:srgbClr val="404155"/>
                    </a:solidFill>
                    <a:latin typeface="Arial" panose="020B0604020202020204" pitchFamily="34" charset="0"/>
                    <a:ea typeface="Nobile" pitchFamily="34" charset="-122"/>
                    <a:cs typeface="Arial" panose="020B0604020202020204" pitchFamily="34" charset="0"/>
                  </a:rPr>
                  <a:t> = 0.9.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A860901A-E4EA-782B-EFAB-03471B3D8C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80" y="4902041"/>
                <a:ext cx="6244709" cy="1103948"/>
              </a:xfrm>
              <a:prstGeom prst="rect">
                <a:avLst/>
              </a:prstGeom>
              <a:blipFill>
                <a:blip r:embed="rId4"/>
                <a:stretch>
                  <a:fillRect l="-205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5">
            <a:extLst>
              <a:ext uri="{FF2B5EF4-FFF2-40B4-BE49-F238E27FC236}">
                <a16:creationId xmlns:a16="http://schemas.microsoft.com/office/drawing/2014/main" id="{D15F01C1-CED2-4482-E86B-22BBC54EBE70}"/>
              </a:ext>
            </a:extLst>
          </p:cNvPr>
          <p:cNvSpPr/>
          <p:nvPr/>
        </p:nvSpPr>
        <p:spPr>
          <a:xfrm>
            <a:off x="7595711" y="2620089"/>
            <a:ext cx="37186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Arial" panose="020B0604020202020204" pitchFamily="34" charset="0"/>
                <a:ea typeface="Alexandria" pitchFamily="34" charset="-122"/>
                <a:cs typeface="Arial" panose="020B0604020202020204" pitchFamily="34" charset="0"/>
              </a:rPr>
              <a:t>State-of-Charge Recursion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9161238-D7E1-6485-19A5-2565436E340C}"/>
              </a:ext>
            </a:extLst>
          </p:cNvPr>
          <p:cNvSpPr/>
          <p:nvPr/>
        </p:nvSpPr>
        <p:spPr>
          <a:xfrm>
            <a:off x="7595711" y="3201233"/>
            <a:ext cx="62447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With </a:t>
            </a:r>
            <a:r>
              <a:rPr lang="en-US" sz="1600" i="1" dirty="0" err="1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Δt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= </a:t>
            </a: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3600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s</a:t>
            </a: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and capacity 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</a:t>
            </a:r>
            <a:r>
              <a:rPr lang="en-US" sz="1600" i="1" baseline="-250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max</a:t>
            </a:r>
            <a:r>
              <a:rPr lang="en-US" sz="1600" i="1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966BCB7-202F-B67A-2D09-14599B53A054}"/>
              </a:ext>
            </a:extLst>
          </p:cNvPr>
          <p:cNvSpPr/>
          <p:nvPr/>
        </p:nvSpPr>
        <p:spPr>
          <a:xfrm>
            <a:off x="7595711" y="3858815"/>
            <a:ext cx="6244709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9C55863C-670C-9FD8-DB41-1E05A6FF5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711" y="3858815"/>
            <a:ext cx="6244709" cy="678061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7C3B19E0-409D-6E0A-04A3-6E6189A8962E}"/>
              </a:ext>
            </a:extLst>
          </p:cNvPr>
          <p:cNvSpPr/>
          <p:nvPr/>
        </p:nvSpPr>
        <p:spPr>
          <a:xfrm>
            <a:off x="7595711" y="4823936"/>
            <a:ext cx="6244709" cy="104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2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B9AEE8A-5831-AC6D-2A2E-8D18D4D9C08C}"/>
              </a:ext>
            </a:extLst>
          </p:cNvPr>
          <p:cNvSpPr/>
          <p:nvPr/>
        </p:nvSpPr>
        <p:spPr>
          <a:xfrm>
            <a:off x="7595711" y="615946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Each step integrates effective battery power into the energy state, enforcing causality across the horizon.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2">
            <a:extLst>
              <a:ext uri="{FF2B5EF4-FFF2-40B4-BE49-F238E27FC236}">
                <a16:creationId xmlns:a16="http://schemas.microsoft.com/office/drawing/2014/main" id="{DC4E9856-A129-0E54-64F9-767D24E6B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5711" y="5114984"/>
            <a:ext cx="6516529" cy="678061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8D55A8E-4D2D-AC64-10C8-D899B48F6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883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4E0541-4C20-369B-A2DC-C7A49F11D4EB}"/>
              </a:ext>
            </a:extLst>
          </p:cNvPr>
          <p:cNvSpPr txBox="1"/>
          <p:nvPr/>
        </p:nvSpPr>
        <p:spPr>
          <a:xfrm>
            <a:off x="1252800" y="634032"/>
            <a:ext cx="85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 of RL Battery Optimization Box Plot (32 Runs)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DAD08-B60C-704E-5A81-EB6F890CE8F3}"/>
              </a:ext>
            </a:extLst>
          </p:cNvPr>
          <p:cNvSpPr txBox="1"/>
          <p:nvPr/>
        </p:nvSpPr>
        <p:spPr>
          <a:xfrm>
            <a:off x="5162400" y="6889200"/>
            <a:ext cx="479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Fig.: Distribution of total cost from 32 RL models trained with identical hyperparameters and evaluated over the same time horizon.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508730-589C-B759-C491-7E80F65C4E93}"/>
              </a:ext>
            </a:extLst>
          </p:cNvPr>
          <p:cNvSpPr txBox="1"/>
          <p:nvPr/>
        </p:nvSpPr>
        <p:spPr>
          <a:xfrm>
            <a:off x="10749600" y="7365976"/>
            <a:ext cx="3910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* </a:t>
            </a:r>
            <a:r>
              <a:rPr lang="de-DE" sz="1600" dirty="0" err="1"/>
              <a:t>Mathematical</a:t>
            </a:r>
            <a:r>
              <a:rPr lang="de-DE" sz="1600" dirty="0"/>
              <a:t> </a:t>
            </a:r>
            <a:r>
              <a:rPr lang="de-DE" sz="1600" dirty="0" err="1"/>
              <a:t>Optimization</a:t>
            </a:r>
            <a:r>
              <a:rPr lang="de-DE" sz="1600" dirty="0"/>
              <a:t> </a:t>
            </a:r>
            <a:r>
              <a:rPr lang="de-DE" sz="1600" dirty="0" err="1"/>
              <a:t>Cost</a:t>
            </a:r>
            <a:r>
              <a:rPr lang="de-DE" sz="1600" dirty="0"/>
              <a:t>:  -10.12 €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79400A-F841-24FE-6153-DB33CCB19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6</a:t>
            </a:fld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5EC1E4-49CC-0CCB-76AF-2C2FE37C2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080" y="1419685"/>
            <a:ext cx="7546320" cy="539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64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01E4604A-A2F2-75F3-0A53-CA6CEEF5588D}"/>
              </a:ext>
            </a:extLst>
          </p:cNvPr>
          <p:cNvSpPr/>
          <p:nvPr/>
        </p:nvSpPr>
        <p:spPr>
          <a:xfrm>
            <a:off x="1252800" y="2697493"/>
            <a:ext cx="6608494" cy="3522054"/>
          </a:xfrm>
          <a:prstGeom prst="roundRect">
            <a:avLst>
              <a:gd name="adj" fmla="val 4335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62DF92F-1163-B150-A05D-661A035DACD9}"/>
              </a:ext>
            </a:extLst>
          </p:cNvPr>
          <p:cNvSpPr/>
          <p:nvPr/>
        </p:nvSpPr>
        <p:spPr>
          <a:xfrm>
            <a:off x="1483201" y="2600711"/>
            <a:ext cx="6127200" cy="371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rial" panose="020B0604020202020204" pitchFamily="34" charset="0"/>
              <a:ea typeface="Heebo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Strengths: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31/32 runs (96%) achieved near-optimal performance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Stable and consistent learning behavior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Model is robust to random initialization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rial" panose="020B0604020202020204" pitchFamily="34" charset="0"/>
              <a:ea typeface="Heebo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Weaknesses: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4% chance of suboptimal convergence (1 outliers)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Optimality of the learned policy cannot be guaranteed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0DBB0-400F-6963-5E18-A67AA7D3E61D}"/>
              </a:ext>
            </a:extLst>
          </p:cNvPr>
          <p:cNvSpPr txBox="1"/>
          <p:nvPr/>
        </p:nvSpPr>
        <p:spPr>
          <a:xfrm>
            <a:off x="1252800" y="634032"/>
            <a:ext cx="85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 of RL Battery Optimization Box Plot (32 Runs)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3ECBD-FB5C-26D7-0EBE-F0CD0278B8AA}"/>
              </a:ext>
            </a:extLst>
          </p:cNvPr>
          <p:cNvSpPr txBox="1"/>
          <p:nvPr/>
        </p:nvSpPr>
        <p:spPr>
          <a:xfrm>
            <a:off x="1252800" y="1304257"/>
            <a:ext cx="10021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linear learning rate schedule performs best because it achieves the lowest median cost and maintains a tight distribution across runs, indicating stable and reliable convergence. The linear decay allows large updates during early exploration and smaller updates for fine policy refinement later in training.</a:t>
            </a:r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7F05D-BF83-0E4E-252C-F73DCCA68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864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72380-5DF0-D67E-173E-3C446309B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" t="2158" r="606" b="1248"/>
          <a:stretch/>
        </p:blipFill>
        <p:spPr>
          <a:xfrm>
            <a:off x="1152000" y="2342304"/>
            <a:ext cx="12326400" cy="35449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B785F4-E247-BA39-4A4D-8D2C841D2BCB}"/>
              </a:ext>
            </a:extLst>
          </p:cNvPr>
          <p:cNvSpPr txBox="1"/>
          <p:nvPr/>
        </p:nvSpPr>
        <p:spPr>
          <a:xfrm>
            <a:off x="1252800" y="634032"/>
            <a:ext cx="922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Hyperparameter Tuning: Training Performance Comparison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A4DB6-10C0-3314-0EEE-EABDD99CE04E}"/>
              </a:ext>
            </a:extLst>
          </p:cNvPr>
          <p:cNvSpPr txBox="1"/>
          <p:nvPr/>
        </p:nvSpPr>
        <p:spPr>
          <a:xfrm>
            <a:off x="2413153" y="6029414"/>
            <a:ext cx="9804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Fig: Comparison of episode rewards across multiple SAC training runs with different hyperparameter configurations.</a:t>
            </a:r>
            <a:endParaRPr lang="de-DE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54541-8172-F8AB-3ABD-29361CB9F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3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487D02-6950-31EE-9075-CE462E1545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9</a:t>
            </a:fld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CFE9B8-CD85-6E70-E03E-89C473102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0"/>
            <a:ext cx="82296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02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EC3C7384-AEAE-4348-9968-E247A8458E81}"/>
              </a:ext>
            </a:extLst>
          </p:cNvPr>
          <p:cNvSpPr/>
          <p:nvPr/>
        </p:nvSpPr>
        <p:spPr>
          <a:xfrm>
            <a:off x="2256799" y="4354688"/>
            <a:ext cx="7165179" cy="1483360"/>
          </a:xfrm>
          <a:prstGeom prst="roundRect">
            <a:avLst>
              <a:gd name="adj" fmla="val 4335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ADA77-20A8-090C-EB57-F115E2CF8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10</a:t>
            </a:fld>
            <a:endParaRPr lang="de-D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BF3F32-6BE2-D05C-79ED-8530DF65C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113244"/>
              </p:ext>
            </p:extLst>
          </p:nvPr>
        </p:nvGraphicFramePr>
        <p:xfrm>
          <a:off x="2256800" y="2123520"/>
          <a:ext cx="716517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589">
                  <a:extLst>
                    <a:ext uri="{9D8B030D-6E8A-4147-A177-3AD203B41FA5}">
                      <a16:colId xmlns:a16="http://schemas.microsoft.com/office/drawing/2014/main" val="4264151599"/>
                    </a:ext>
                  </a:extLst>
                </a:gridCol>
                <a:gridCol w="3582589">
                  <a:extLst>
                    <a:ext uri="{9D8B030D-6E8A-4147-A177-3AD203B41FA5}">
                      <a16:colId xmlns:a16="http://schemas.microsoft.com/office/drawing/2014/main" val="2744044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821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≈ 16 </a:t>
                      </a:r>
                      <a:r>
                        <a:rPr lang="de-DE" dirty="0" err="1"/>
                        <a:t>minutes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316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RL Policy </a:t>
                      </a:r>
                      <a:r>
                        <a:rPr lang="de-DE" dirty="0" err="1"/>
                        <a:t>Execution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0.02 </a:t>
                      </a:r>
                      <a:r>
                        <a:rPr lang="de-DE" dirty="0" err="1"/>
                        <a:t>seconds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97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Optimization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0.16 </a:t>
                      </a:r>
                      <a:r>
                        <a:rPr lang="de-DE" dirty="0" err="1"/>
                        <a:t>seconds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5724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B7F202-C223-8731-249A-39A01B066187}"/>
              </a:ext>
            </a:extLst>
          </p:cNvPr>
          <p:cNvSpPr txBox="1"/>
          <p:nvPr/>
        </p:nvSpPr>
        <p:spPr>
          <a:xfrm>
            <a:off x="1252800" y="634032"/>
            <a:ext cx="85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Computational Time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F9FDA-A2C1-5593-6CE2-8FBAD88A8E50}"/>
              </a:ext>
            </a:extLst>
          </p:cNvPr>
          <p:cNvSpPr txBox="1"/>
          <p:nvPr/>
        </p:nvSpPr>
        <p:spPr>
          <a:xfrm>
            <a:off x="2256800" y="4634703"/>
            <a:ext cx="7165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Although RL requires higher upfront training time, the decision-making during operation is significantly faster than classical optimization, making RL suitable for real-time control applications.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9951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9BDF97-2CEC-5516-F91C-C69A562E04EA}"/>
              </a:ext>
            </a:extLst>
          </p:cNvPr>
          <p:cNvSpPr/>
          <p:nvPr/>
        </p:nvSpPr>
        <p:spPr>
          <a:xfrm>
            <a:off x="793790" y="2643307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latin typeface="Arial" panose="020B0604020202020204" pitchFamily="34" charset="0"/>
                <a:ea typeface="Crimson Pro Semi Bold" pitchFamily="34" charset="-122"/>
                <a:cs typeface="Arial" panose="020B0604020202020204" pitchFamily="34" charset="0"/>
              </a:rPr>
              <a:t>Thank You!</a:t>
            </a:r>
            <a:endParaRPr lang="en-US" sz="13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2051C1-87FA-AC88-FEC3-B65825AC80B1}"/>
              </a:ext>
            </a:extLst>
          </p:cNvPr>
          <p:cNvSpPr/>
          <p:nvPr/>
        </p:nvSpPr>
        <p:spPr>
          <a:xfrm>
            <a:off x="793790" y="52233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I appreciate your time and attention.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A9E87-DD33-F803-A787-B1528EFB8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203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72C488-41F5-371F-F46A-1CF4B990359C}"/>
              </a:ext>
            </a:extLst>
          </p:cNvPr>
          <p:cNvSpPr txBox="1"/>
          <p:nvPr/>
        </p:nvSpPr>
        <p:spPr>
          <a:xfrm>
            <a:off x="3657600" y="2960638"/>
            <a:ext cx="7315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slides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RL(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FF0000"/>
                </a:solidFill>
              </a:rPr>
              <a:t>Plot </a:t>
            </a:r>
            <a:r>
              <a:rPr lang="de-DE" dirty="0" err="1">
                <a:solidFill>
                  <a:srgbClr val="FF0000"/>
                </a:solidFill>
              </a:rPr>
              <a:t>for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hyperparameter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tuning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comparision</a:t>
            </a:r>
            <a:endParaRPr lang="de-DE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Create a </a:t>
            </a:r>
            <a:r>
              <a:rPr lang="de-DE" dirty="0" err="1"/>
              <a:t>table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pages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write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Template (</a:t>
            </a:r>
            <a:r>
              <a:rPr lang="de-DE" dirty="0" err="1"/>
              <a:t>description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American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british</a:t>
            </a:r>
            <a:r>
              <a:rPr lang="de-DE" dirty="0"/>
              <a:t> </a:t>
            </a:r>
            <a:r>
              <a:rPr lang="de-DE" dirty="0" err="1"/>
              <a:t>english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Email </a:t>
            </a:r>
            <a:r>
              <a:rPr lang="de-DE" dirty="0" err="1"/>
              <a:t>subject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FF0000"/>
                </a:solidFill>
              </a:rPr>
              <a:t>Time </a:t>
            </a:r>
            <a:r>
              <a:rPr lang="de-DE" dirty="0" err="1">
                <a:solidFill>
                  <a:srgbClr val="FF0000"/>
                </a:solidFill>
              </a:rPr>
              <a:t>for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each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model</a:t>
            </a:r>
            <a:r>
              <a:rPr lang="de-DE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BE691-78FE-9E64-AACF-4C018A1ED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2D9A9C-251E-4686-914B-47E3F39F30D8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948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Custom</PresentationFormat>
  <Paragraphs>98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Cambria Math</vt:lpstr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Thapa, Ashish</cp:lastModifiedBy>
  <cp:revision>90</cp:revision>
  <dcterms:created xsi:type="dcterms:W3CDTF">2025-12-08T13:37:53Z</dcterms:created>
  <dcterms:modified xsi:type="dcterms:W3CDTF">2026-06-01T07:28:43Z</dcterms:modified>
</cp:coreProperties>
</file>